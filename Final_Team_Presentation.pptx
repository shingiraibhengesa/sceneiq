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Lst>
  <p:sldSz cy="5143500" cx="9144000"/>
  <p:notesSz cx="51435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Welcome, we're Prachi and Shingirai presenting SceneIQ — our AI-powered visual accessibility assistant. This is a web platform that helps visually impaired users understand their surroundings through image analysis, scene descriptions, and audio output.</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 name="Shape 25"/>
        <p:cNvGrpSpPr/>
        <p:nvPr/>
      </p:nvGrpSpPr>
      <p:grpSpPr>
        <a:xfrm>
          <a:off x="0" y="0"/>
          <a:ext cx="0" cy="0"/>
          <a:chOff x="0" y="0"/>
          <a:chExt cx="0" cy="0"/>
        </a:xfrm>
      </p:grpSpPr>
      <p:sp>
        <p:nvSpPr>
          <p:cNvPr id="26" name="Google Shape;26;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 name="Google Shape;27;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285 million people worldwide have visual impairments. They face three key challenges: limited environmental awareness, no way to ask contextual questions about their surroundings, and most tools are visual-only without audio output. SceneIQ addresses all three.</a:t>
            </a:r>
            <a:endParaRPr/>
          </a:p>
        </p:txBody>
      </p:sp>
      <p:sp>
        <p:nvSpPr>
          <p:cNvPr id="28" name="Google Shape;28;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 name="Shape 49"/>
        <p:cNvGrpSpPr/>
        <p:nvPr/>
      </p:nvGrpSpPr>
      <p:grpSpPr>
        <a:xfrm>
          <a:off x="0" y="0"/>
          <a:ext cx="0" cy="0"/>
          <a:chOff x="0" y="0"/>
          <a:chExt cx="0" cy="0"/>
        </a:xfrm>
      </p:grpSpPr>
      <p:sp>
        <p:nvSpPr>
          <p:cNvPr id="50" name="Google Shape;50;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 name="Google Shape;51;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Our target users are blind and visually impaired individuals, low-vision users, caregivers, and educators. Our goals: real-time scene description, object detection, visual Q&amp;A, text-to-speech, and full WCAG 2.1 AA accessibility.</a:t>
            </a:r>
            <a:endParaRPr/>
          </a:p>
        </p:txBody>
      </p:sp>
      <p:sp>
        <p:nvSpPr>
          <p:cNvPr id="52" name="Google Shape;52;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0" name="Google Shape;80;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Four things make SceneIQ unique: AI-powered natural language understanding not just object lists, interactive Q&amp;A, audio-first design with customizable TTS, and built accessible from the ground up.</a:t>
            </a:r>
            <a:endParaRPr/>
          </a:p>
        </p:txBody>
      </p:sp>
      <p:sp>
        <p:nvSpPr>
          <p:cNvPr id="81" name="Google Shape;81;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7" name="Google Shape;107;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Our tech stack: React with Tailwind CSS frontend, Python FastAPI backend with SQLAlchemy and Alembic. For AI we pivoted from local YOLOv8 plus BLIP models to the Groq Cloud API with Llama 4 Scout — a 17 billion parameter vision-language model. This was necessary because the YoloV8 were too large to deploy on Render's free tier. Infrastructure is PostgreSQL, Redis, Docker Compose, deployed on Render.</a:t>
            </a:r>
            <a:endParaRPr/>
          </a:p>
        </p:txBody>
      </p:sp>
      <p:sp>
        <p:nvSpPr>
          <p:cNvPr id="108" name="Google Shape;108;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2" name="Google Shape;142;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Our architecture flows left to right. The React frontend communicates with a FastAPI backend over REST. The backend calls the Groq Cloud API for all AI features — scene captioning, object detection, and visual Q&amp;A — using the Llama 4 Scout vision-language model. Results are stored in PostgreSQL. Everything is deployed on Render with Docker.</a:t>
            </a:r>
            <a:endParaRPr/>
          </a:p>
        </p:txBody>
      </p:sp>
      <p:sp>
        <p:nvSpPr>
          <p:cNvPr id="143" name="Google Shape;143;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9" name="Google Shape;179;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317500" lvl="0" marL="457200" rtl="0" algn="l">
              <a:spcBef>
                <a:spcPts val="0"/>
              </a:spcBef>
              <a:spcAft>
                <a:spcPts val="0"/>
              </a:spcAft>
              <a:buSzPts val="1400"/>
              <a:buChar char="●"/>
            </a:pPr>
            <a:r>
              <a:rPr lang="en-US"/>
              <a:t>We pivoted from local YOLOv8 plus BLIP to Groq Cloud API with Llama 4 Scout because the local models required 2.5GB RAM which exceeded Render's free tier. </a:t>
            </a:r>
            <a:endParaRPr/>
          </a:p>
          <a:p>
            <a:pPr indent="-317500" lvl="0" marL="457200" rtl="0" algn="l">
              <a:spcBef>
                <a:spcPts val="0"/>
              </a:spcBef>
              <a:spcAft>
                <a:spcPts val="0"/>
              </a:spcAft>
              <a:buSzPts val="1400"/>
              <a:buChar char="●"/>
            </a:pPr>
            <a:r>
              <a:rPr lang="en-US"/>
              <a:t>Llama 4 Scout is a single vision-language model that handles all three tasks via different prompts: object detection returns JSON with labels and confidence, captioning generates a natural language sentence, and Q&amp;A answers user questions.</a:t>
            </a:r>
            <a:endParaRPr/>
          </a:p>
          <a:p>
            <a:pPr indent="-317500" lvl="0" marL="457200" rtl="0" algn="l">
              <a:spcBef>
                <a:spcPts val="0"/>
              </a:spcBef>
              <a:spcAft>
                <a:spcPts val="0"/>
              </a:spcAft>
              <a:buSzPts val="1400"/>
              <a:buChar char="●"/>
            </a:pPr>
            <a:r>
              <a:rPr lang="en-US"/>
              <a:t> This eliminated the need for local GPU and reduced our deployment footprint to near zero.</a:t>
            </a:r>
            <a:endParaRPr/>
          </a:p>
        </p:txBody>
      </p:sp>
      <p:sp>
        <p:nvSpPr>
          <p:cNvPr id="180" name="Google Shape;180;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3" name="Google Shape;213;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317500" lvl="0" marL="457200" rtl="0" algn="l">
              <a:spcBef>
                <a:spcPts val="0"/>
              </a:spcBef>
              <a:spcAft>
                <a:spcPts val="0"/>
              </a:spcAft>
              <a:buSzPts val="1400"/>
              <a:buChar char="●"/>
            </a:pPr>
            <a:r>
              <a:rPr lang="en-US"/>
              <a:t>Two tables: users stores account info plus accessibility preferences like speech rate and high contrast. analysis_history stores each image analysis with the caption as text and detected objects as JSONB. </a:t>
            </a:r>
            <a:endParaRPr/>
          </a:p>
          <a:p>
            <a:pPr indent="-317500" lvl="0" marL="457200" rtl="0" algn="l">
              <a:spcBef>
                <a:spcPts val="0"/>
              </a:spcBef>
              <a:spcAft>
                <a:spcPts val="0"/>
              </a:spcAft>
              <a:buSzPts val="1400"/>
              <a:buChar char="●"/>
            </a:pPr>
            <a:r>
              <a:rPr lang="en-US"/>
              <a:t>They have a one-to-many relationship via user_id foreign key with CASCADE delete. Both tables use UUID primary keys and timezone-aware timestamps.</a:t>
            </a:r>
            <a:endParaRPr/>
          </a:p>
        </p:txBody>
      </p:sp>
      <p:sp>
        <p:nvSpPr>
          <p:cNvPr id="214" name="Google Shape;214;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7" name="Google Shape;287;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317500" lvl="0" marL="457200" rtl="0" algn="l">
              <a:spcBef>
                <a:spcPts val="0"/>
              </a:spcBef>
              <a:spcAft>
                <a:spcPts val="0"/>
              </a:spcAft>
              <a:buSzPts val="1400"/>
              <a:buChar char="●"/>
            </a:pPr>
            <a:r>
              <a:rPr lang="en-US"/>
              <a:t>The frontend has 9 pages routed through React Router. Shared components include Navbar, Footer, and ProtectedRoute for auth guards. </a:t>
            </a:r>
            <a:endParaRPr/>
          </a:p>
          <a:p>
            <a:pPr indent="-317500" lvl="0" marL="457200" rtl="0" algn="l">
              <a:spcBef>
                <a:spcPts val="0"/>
              </a:spcBef>
              <a:spcAft>
                <a:spcPts val="0"/>
              </a:spcAft>
              <a:buSzPts val="1400"/>
              <a:buChar char="●"/>
            </a:pPr>
            <a:r>
              <a:rPr lang="en-US"/>
              <a:t>Services include api.js with real fetch calls to the backend, and AuthContext for JWT token state management. </a:t>
            </a:r>
            <a:endParaRPr/>
          </a:p>
          <a:p>
            <a:pPr indent="-317500" lvl="0" marL="457200" rtl="0" algn="l">
              <a:spcBef>
                <a:spcPts val="0"/>
              </a:spcBef>
              <a:spcAft>
                <a:spcPts val="0"/>
              </a:spcAft>
              <a:buSzPts val="1400"/>
              <a:buChar char="●"/>
            </a:pPr>
            <a:r>
              <a:rPr lang="en-US"/>
              <a:t>Pages include the main 6 plus Privacy Policy, Terms of Service, and Accessibility Statement pages added in Sprint 3.</a:t>
            </a:r>
            <a:endParaRPr/>
          </a:p>
        </p:txBody>
      </p:sp>
      <p:sp>
        <p:nvSpPr>
          <p:cNvPr id="288" name="Google Shape;288;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6" name="Google Shape;336;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Here are four key screenshots. Top left: the landing page. Top right: object detection and scene captioning with real AI results. Bottom left: the How It Works section. Bottom right: the Visual Q&amp;A interface. Let me do a live demo now...</a:t>
            </a:r>
            <a:endParaRPr/>
          </a:p>
        </p:txBody>
      </p:sp>
      <p:sp>
        <p:nvSpPr>
          <p:cNvPr id="337" name="Google Shape;337;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7" name="Google Shape;347;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317500" lvl="0" marL="457200" rtl="0" algn="l">
              <a:spcBef>
                <a:spcPts val="0"/>
              </a:spcBef>
              <a:spcAft>
                <a:spcPts val="0"/>
              </a:spcAft>
              <a:buSzPts val="1400"/>
              <a:buChar char="●"/>
            </a:pPr>
            <a:r>
              <a:rPr lang="en-US"/>
              <a:t>On the backend: groq for the API client, Pillow for image processing, python-jose and bcrypt for auth, pydantic for validation.</a:t>
            </a:r>
            <a:endParaRPr/>
          </a:p>
          <a:p>
            <a:pPr indent="-317500" lvl="0" marL="457200" rtl="0" algn="l">
              <a:spcBef>
                <a:spcPts val="0"/>
              </a:spcBef>
              <a:spcAft>
                <a:spcPts val="0"/>
              </a:spcAft>
              <a:buSzPts val="1400"/>
              <a:buChar char="●"/>
            </a:pPr>
            <a:r>
              <a:rPr lang="en-US"/>
              <a:t> On the frontend: React Router, Tailwind, and the built-in Web Speech API for text-to-speech. </a:t>
            </a:r>
            <a:endParaRPr/>
          </a:p>
          <a:p>
            <a:pPr indent="-317500" lvl="0" marL="457200" rtl="0" algn="l">
              <a:spcBef>
                <a:spcPts val="0"/>
              </a:spcBef>
              <a:spcAft>
                <a:spcPts val="0"/>
              </a:spcAft>
              <a:buSzPts val="1400"/>
              <a:buChar char="●"/>
            </a:pPr>
            <a:r>
              <a:rPr lang="en-US"/>
              <a:t>External services: Groq Cloud for AI inference, Render for deployment, PostgreSQL as a managed database, Docker for containerization, and Alembic for database migrations.</a:t>
            </a:r>
            <a:endParaRPr/>
          </a:p>
        </p:txBody>
      </p:sp>
      <p:sp>
        <p:nvSpPr>
          <p:cNvPr id="348" name="Google Shape;348;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0" name="Google Shape;390;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317500" lvl="0" marL="457200" rtl="0" algn="l">
              <a:spcBef>
                <a:spcPts val="0"/>
              </a:spcBef>
              <a:spcAft>
                <a:spcPts val="0"/>
              </a:spcAft>
              <a:buSzPts val="1400"/>
              <a:buChar char="●"/>
            </a:pPr>
            <a:r>
              <a:rPr lang="en-US"/>
              <a:t>This slide shows where SceneIQ can go next.</a:t>
            </a:r>
            <a:endParaRPr/>
          </a:p>
          <a:p>
            <a:pPr indent="-317500" lvl="0" marL="457200" rtl="0" algn="l">
              <a:spcBef>
                <a:spcPts val="0"/>
              </a:spcBef>
              <a:spcAft>
                <a:spcPts val="0"/>
              </a:spcAft>
              <a:buSzPts val="1400"/>
              <a:buChar char="●"/>
            </a:pPr>
            <a:r>
              <a:rPr lang="en-US"/>
              <a:t>First, live video captioning — instead of uploading a single photo, we stream webcam frames continuously and narrate the surroundings in real-time, alerting users when the scene changes or hazards appear. This could use WebSockets for low-latency updates.</a:t>
            </a:r>
            <a:endParaRPr/>
          </a:p>
          <a:p>
            <a:pPr indent="-317500" lvl="0" marL="457200" rtl="0" algn="l">
              <a:spcBef>
                <a:spcPts val="0"/>
              </a:spcBef>
              <a:spcAft>
                <a:spcPts val="0"/>
              </a:spcAft>
              <a:buSzPts val="1400"/>
              <a:buChar char="●"/>
            </a:pPr>
            <a:r>
              <a:rPr lang="en-US"/>
              <a:t>Second, smart walking sticks — we embed a small camera and speaker into a walking cane with a Raspberry Pi or ESP32 microcontroller. It connects to the SceneIQ API over Wi-Fi or cellular data and provides spoken descriptions plus haptic vibration feedback for obstacles. </a:t>
            </a:r>
            <a:endParaRPr/>
          </a:p>
          <a:p>
            <a:pPr indent="-317500" lvl="0" marL="457200" rtl="0" algn="l">
              <a:spcBef>
                <a:spcPts val="0"/>
              </a:spcBef>
              <a:spcAft>
                <a:spcPts val="0"/>
              </a:spcAft>
              <a:buSzPts val="1400"/>
              <a:buChar char="●"/>
            </a:pPr>
            <a:r>
              <a:rPr lang="en-US"/>
              <a:t>Third, wearable devices — smart glasses with bone conduction audio, clip-on cameras, smartwatch companion apps, or simple Bluetooth earpieces. Our API-first design means any device with a camera and internet connection can use SceneIQ. </a:t>
            </a:r>
            <a:endParaRPr/>
          </a:p>
          <a:p>
            <a:pPr indent="-317500" lvl="0" marL="457200" rtl="0" algn="l">
              <a:spcBef>
                <a:spcPts val="0"/>
              </a:spcBef>
              <a:spcAft>
                <a:spcPts val="0"/>
              </a:spcAft>
              <a:buSzPts val="1400"/>
              <a:buChar char="●"/>
            </a:pPr>
            <a:r>
              <a:rPr lang="en-US"/>
              <a:t>Fourth, advanced AI features for future development — OCR for reading signs and text, face recognition to identify known people, navigation and wayfinding assistance, and multi-language support for scene descriptions. </a:t>
            </a:r>
            <a:endParaRPr/>
          </a:p>
          <a:p>
            <a:pPr indent="-317500" lvl="0" marL="457200" rtl="0" algn="l">
              <a:spcBef>
                <a:spcPts val="0"/>
              </a:spcBef>
              <a:spcAft>
                <a:spcPts val="0"/>
              </a:spcAft>
              <a:buSzPts val="1400"/>
              <a:buChar char="●"/>
            </a:pPr>
            <a:r>
              <a:rPr lang="en-US"/>
              <a:t>The key point is that because SceneIQ uses a cloud API for AI inference, all these devices just need to send an image and receive text back — the intelligence lives in the cloud, not on the device.</a:t>
            </a:r>
            <a:endParaRPr/>
          </a:p>
        </p:txBody>
      </p:sp>
      <p:sp>
        <p:nvSpPr>
          <p:cNvPr id="391" name="Google Shape;391;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0" name="Google Shape;430;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That wraps up our technical overview of SceneIQ. We've shown the problem, our solution, the complete tech stack including our pivot from local models to Groq Cloud API, the system architecture, database schema, frontend structure, and all external libraries. </a:t>
            </a:r>
            <a:endParaRPr/>
          </a:p>
          <a:p>
            <a:pPr indent="0" lvl="0" marL="0" rtl="0" algn="l">
              <a:spcBef>
                <a:spcPts val="0"/>
              </a:spcBef>
              <a:spcAft>
                <a:spcPts val="0"/>
              </a:spcAft>
              <a:buNone/>
            </a:pPr>
            <a:r>
              <a:rPr lang="en-US"/>
              <a:t>Happy to do a live demo and take questions. Thank you!</a:t>
            </a:r>
            <a:endParaRPr/>
          </a:p>
        </p:txBody>
      </p:sp>
      <p:sp>
        <p:nvSpPr>
          <p:cNvPr id="431" name="Google Shape;431;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8.png"/><Relationship Id="rId4" Type="http://schemas.openxmlformats.org/officeDocument/2006/relationships/image" Target="../media/image5.png"/><Relationship Id="rId5"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5.png"/><Relationship Id="rId5" Type="http://schemas.openxmlformats.org/officeDocument/2006/relationships/image" Target="../media/image7.png"/><Relationship Id="rId6" Type="http://schemas.openxmlformats.org/officeDocument/2006/relationships/image" Target="../media/image3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6.png"/><Relationship Id="rId4" Type="http://schemas.openxmlformats.org/officeDocument/2006/relationships/image" Target="../media/image9.png"/><Relationship Id="rId5" Type="http://schemas.openxmlformats.org/officeDocument/2006/relationships/image" Target="../media/image3.png"/><Relationship Id="rId6" Type="http://schemas.openxmlformats.org/officeDocument/2006/relationships/image" Target="../media/image29.png"/><Relationship Id="rId7" Type="http://schemas.openxmlformats.org/officeDocument/2006/relationships/image" Target="../media/image33.png"/><Relationship Id="rId8"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5.png"/><Relationship Id="rId4" Type="http://schemas.openxmlformats.org/officeDocument/2006/relationships/image" Target="../media/image29.png"/><Relationship Id="rId5" Type="http://schemas.openxmlformats.org/officeDocument/2006/relationships/image" Target="../media/image3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2.png"/><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36.jpg"/><Relationship Id="rId4" Type="http://schemas.openxmlformats.org/officeDocument/2006/relationships/image" Target="../media/image35.jpg"/><Relationship Id="rId5" Type="http://schemas.openxmlformats.org/officeDocument/2006/relationships/image" Target="../media/image37.jpg"/><Relationship Id="rId6" Type="http://schemas.openxmlformats.org/officeDocument/2006/relationships/image" Target="../media/image32.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8.png"/><Relationship Id="rId4" Type="http://schemas.openxmlformats.org/officeDocument/2006/relationships/image" Target="../media/image6.png"/><Relationship Id="rId5" Type="http://schemas.openxmlformats.org/officeDocument/2006/relationships/image" Target="../media/image10.png"/><Relationship Id="rId6"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2A4A"/>
        </a:solidFill>
      </p:bgPr>
    </p:bg>
    <p:spTree>
      <p:nvGrpSpPr>
        <p:cNvPr id="15" name="Shape 15"/>
        <p:cNvGrpSpPr/>
        <p:nvPr/>
      </p:nvGrpSpPr>
      <p:grpSpPr>
        <a:xfrm>
          <a:off x="0" y="0"/>
          <a:ext cx="0" cy="0"/>
          <a:chOff x="0" y="0"/>
          <a:chExt cx="0" cy="0"/>
        </a:xfrm>
      </p:grpSpPr>
      <p:sp>
        <p:nvSpPr>
          <p:cNvPr id="16" name="Google Shape;16;p3"/>
          <p:cNvSpPr/>
          <p:nvPr/>
        </p:nvSpPr>
        <p:spPr>
          <a:xfrm>
            <a:off x="0" y="0"/>
            <a:ext cx="9144000" cy="73152"/>
          </a:xfrm>
          <a:prstGeom prst="rect">
            <a:avLst/>
          </a:prstGeom>
          <a:solidFill>
            <a:srgbClr val="3B82F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3"/>
          <p:cNvSpPr/>
          <p:nvPr/>
        </p:nvSpPr>
        <p:spPr>
          <a:xfrm>
            <a:off x="0" y="5070348"/>
            <a:ext cx="9144000" cy="73152"/>
          </a:xfrm>
          <a:prstGeom prst="rect">
            <a:avLst/>
          </a:prstGeom>
          <a:solidFill>
            <a:srgbClr val="3B82F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3"/>
          <p:cNvSpPr/>
          <p:nvPr/>
        </p:nvSpPr>
        <p:spPr>
          <a:xfrm>
            <a:off x="731520" y="914400"/>
            <a:ext cx="768096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5200"/>
              <a:buFont typeface="Georgia"/>
              <a:buNone/>
            </a:pPr>
            <a:r>
              <a:rPr b="1" i="0" lang="en-US" sz="5200" u="none" cap="none" strike="noStrike">
                <a:solidFill>
                  <a:srgbClr val="FFFFFF"/>
                </a:solidFill>
                <a:latin typeface="Georgia"/>
                <a:ea typeface="Georgia"/>
                <a:cs typeface="Georgia"/>
                <a:sym typeface="Georgia"/>
              </a:rPr>
              <a:t>SceneIQ</a:t>
            </a:r>
            <a:endParaRPr b="0" i="0" sz="5200" u="none" cap="none" strike="noStrike">
              <a:solidFill>
                <a:schemeClr val="dk1"/>
              </a:solidFill>
              <a:latin typeface="Calibri"/>
              <a:ea typeface="Calibri"/>
              <a:cs typeface="Calibri"/>
              <a:sym typeface="Calibri"/>
            </a:endParaRPr>
          </a:p>
        </p:txBody>
      </p:sp>
      <p:sp>
        <p:nvSpPr>
          <p:cNvPr id="19" name="Google Shape;19;p3"/>
          <p:cNvSpPr/>
          <p:nvPr/>
        </p:nvSpPr>
        <p:spPr>
          <a:xfrm>
            <a:off x="731520" y="1828800"/>
            <a:ext cx="768096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B82F6"/>
              </a:buClr>
              <a:buSzPts val="2200"/>
              <a:buFont typeface="Calibri"/>
              <a:buNone/>
            </a:pPr>
            <a:r>
              <a:rPr b="0" i="0" lang="en-US" sz="2200" u="none" cap="none" strike="noStrike">
                <a:solidFill>
                  <a:srgbClr val="3B82F6"/>
                </a:solidFill>
                <a:latin typeface="Calibri"/>
                <a:ea typeface="Calibri"/>
                <a:cs typeface="Calibri"/>
                <a:sym typeface="Calibri"/>
              </a:rPr>
              <a:t>AI-Powered Visual Accessibility Assistant</a:t>
            </a:r>
            <a:endParaRPr b="0" i="0" sz="2200" u="none" cap="none" strike="noStrike">
              <a:solidFill>
                <a:schemeClr val="dk1"/>
              </a:solidFill>
              <a:latin typeface="Calibri"/>
              <a:ea typeface="Calibri"/>
              <a:cs typeface="Calibri"/>
              <a:sym typeface="Calibri"/>
            </a:endParaRPr>
          </a:p>
        </p:txBody>
      </p:sp>
      <p:sp>
        <p:nvSpPr>
          <p:cNvPr id="20" name="Google Shape;20;p3"/>
          <p:cNvSpPr/>
          <p:nvPr/>
        </p:nvSpPr>
        <p:spPr>
          <a:xfrm>
            <a:off x="731520" y="2560320"/>
            <a:ext cx="1371600" cy="36576"/>
          </a:xfrm>
          <a:prstGeom prst="rect">
            <a:avLst/>
          </a:prstGeom>
          <a:solidFill>
            <a:srgbClr val="3B82F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3"/>
          <p:cNvSpPr/>
          <p:nvPr/>
        </p:nvSpPr>
        <p:spPr>
          <a:xfrm>
            <a:off x="731520" y="2834640"/>
            <a:ext cx="768096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000"/>
              <a:buFont typeface="Calibri"/>
              <a:buNone/>
            </a:pPr>
            <a:r>
              <a:rPr b="0" i="0" lang="en-US" sz="2000" u="none" cap="none" strike="noStrike">
                <a:solidFill>
                  <a:srgbClr val="FFFFFF"/>
                </a:solidFill>
                <a:latin typeface="Calibri"/>
                <a:ea typeface="Calibri"/>
                <a:cs typeface="Calibri"/>
                <a:sym typeface="Calibri"/>
              </a:rPr>
              <a:t>Final Team Presentation</a:t>
            </a:r>
            <a:endParaRPr b="0" i="0" sz="2000" u="none" cap="none" strike="noStrike">
              <a:solidFill>
                <a:schemeClr val="dk1"/>
              </a:solidFill>
              <a:latin typeface="Calibri"/>
              <a:ea typeface="Calibri"/>
              <a:cs typeface="Calibri"/>
              <a:sym typeface="Calibri"/>
            </a:endParaRPr>
          </a:p>
        </p:txBody>
      </p:sp>
      <p:sp>
        <p:nvSpPr>
          <p:cNvPr id="22" name="Google Shape;22;p3"/>
          <p:cNvSpPr/>
          <p:nvPr/>
        </p:nvSpPr>
        <p:spPr>
          <a:xfrm>
            <a:off x="731520" y="3657600"/>
            <a:ext cx="76809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600"/>
              <a:buFont typeface="Calibri"/>
              <a:buNone/>
            </a:pPr>
            <a:r>
              <a:rPr b="0" i="0" lang="en-US" sz="1600" u="none" cap="none" strike="noStrike">
                <a:solidFill>
                  <a:srgbClr val="FFFFFF"/>
                </a:solidFill>
                <a:latin typeface="Calibri"/>
                <a:ea typeface="Calibri"/>
                <a:cs typeface="Calibri"/>
                <a:sym typeface="Calibri"/>
              </a:rPr>
              <a:t>Prachi &amp; Shingirai</a:t>
            </a:r>
            <a:endParaRPr b="0" i="0" sz="1600" u="none" cap="none" strike="noStrike">
              <a:solidFill>
                <a:schemeClr val="dk1"/>
              </a:solidFill>
              <a:latin typeface="Calibri"/>
              <a:ea typeface="Calibri"/>
              <a:cs typeface="Calibri"/>
              <a:sym typeface="Calibri"/>
            </a:endParaRPr>
          </a:p>
        </p:txBody>
      </p:sp>
      <p:sp>
        <p:nvSpPr>
          <p:cNvPr id="23" name="Google Shape;23;p3"/>
          <p:cNvSpPr/>
          <p:nvPr/>
        </p:nvSpPr>
        <p:spPr>
          <a:xfrm>
            <a:off x="731520" y="4114800"/>
            <a:ext cx="76809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200"/>
              <a:buFont typeface="Calibri"/>
              <a:buNone/>
            </a:pPr>
            <a:r>
              <a:rPr b="0" i="0" lang="en-US" sz="1200" u="none" cap="none" strike="noStrike">
                <a:solidFill>
                  <a:srgbClr val="64748B"/>
                </a:solidFill>
                <a:latin typeface="Calibri"/>
                <a:ea typeface="Calibri"/>
                <a:cs typeface="Calibri"/>
                <a:sym typeface="Calibri"/>
              </a:rPr>
              <a:t>CSCI 5030-01: Real-World Web Application Development</a:t>
            </a:r>
            <a:endParaRPr b="0" i="0" sz="1200" u="none" cap="none" strike="noStrike">
              <a:solidFill>
                <a:schemeClr val="dk1"/>
              </a:solidFill>
              <a:latin typeface="Calibri"/>
              <a:ea typeface="Calibri"/>
              <a:cs typeface="Calibri"/>
              <a:sym typeface="Calibri"/>
            </a:endParaRPr>
          </a:p>
        </p:txBody>
      </p:sp>
      <p:sp>
        <p:nvSpPr>
          <p:cNvPr id="24" name="Google Shape;24;p3"/>
          <p:cNvSpPr/>
          <p:nvPr/>
        </p:nvSpPr>
        <p:spPr>
          <a:xfrm>
            <a:off x="731520" y="4434840"/>
            <a:ext cx="76809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200"/>
              <a:buFont typeface="Calibri"/>
              <a:buNone/>
            </a:pPr>
            <a:r>
              <a:rPr b="0" i="0" lang="en-US" sz="1200" u="none" cap="none" strike="noStrike">
                <a:solidFill>
                  <a:srgbClr val="64748B"/>
                </a:solidFill>
                <a:latin typeface="Calibri"/>
                <a:ea typeface="Calibri"/>
                <a:cs typeface="Calibri"/>
                <a:sym typeface="Calibri"/>
              </a:rPr>
              <a:t>github.com/ShingiraiBhengesa/SceneIQ</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9" name="Shape 29"/>
        <p:cNvGrpSpPr/>
        <p:nvPr/>
      </p:nvGrpSpPr>
      <p:grpSpPr>
        <a:xfrm>
          <a:off x="0" y="0"/>
          <a:ext cx="0" cy="0"/>
          <a:chOff x="0" y="0"/>
          <a:chExt cx="0" cy="0"/>
        </a:xfrm>
      </p:grpSpPr>
      <p:sp>
        <p:nvSpPr>
          <p:cNvPr id="30" name="Google Shape;30;p4"/>
          <p:cNvSpPr/>
          <p:nvPr/>
        </p:nvSpPr>
        <p:spPr>
          <a:xfrm>
            <a:off x="0" y="0"/>
            <a:ext cx="9144000" cy="54864"/>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4"/>
          <p:cNvSpPr/>
          <p:nvPr/>
        </p:nvSpPr>
        <p:spPr>
          <a:xfrm>
            <a:off x="731520" y="320040"/>
            <a:ext cx="768096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4A"/>
              </a:buClr>
              <a:buSzPts val="3200"/>
              <a:buFont typeface="Georgia"/>
              <a:buNone/>
            </a:pPr>
            <a:r>
              <a:rPr b="1" i="0" lang="en-US" sz="3200" u="none" cap="none" strike="noStrike">
                <a:solidFill>
                  <a:srgbClr val="1B2A4A"/>
                </a:solidFill>
                <a:latin typeface="Georgia"/>
                <a:ea typeface="Georgia"/>
                <a:cs typeface="Georgia"/>
                <a:sym typeface="Georgia"/>
              </a:rPr>
              <a:t>Problem Statement</a:t>
            </a:r>
            <a:endParaRPr b="0" i="0" sz="3200" u="none" cap="none" strike="noStrike">
              <a:solidFill>
                <a:schemeClr val="dk1"/>
              </a:solidFill>
              <a:latin typeface="Calibri"/>
              <a:ea typeface="Calibri"/>
              <a:cs typeface="Calibri"/>
              <a:sym typeface="Calibri"/>
            </a:endParaRPr>
          </a:p>
        </p:txBody>
      </p:sp>
      <p:sp>
        <p:nvSpPr>
          <p:cNvPr id="32" name="Google Shape;32;p4"/>
          <p:cNvSpPr/>
          <p:nvPr/>
        </p:nvSpPr>
        <p:spPr>
          <a:xfrm>
            <a:off x="731520" y="1188720"/>
            <a:ext cx="7680960" cy="1280160"/>
          </a:xfrm>
          <a:prstGeom prst="rect">
            <a:avLst/>
          </a:prstGeom>
          <a:solidFill>
            <a:srgbClr val="F4F6FA"/>
          </a:solidFill>
          <a:ln>
            <a:noFill/>
          </a:ln>
          <a:effectLst>
            <a:outerShdw blurRad="508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4"/>
          <p:cNvSpPr/>
          <p:nvPr/>
        </p:nvSpPr>
        <p:spPr>
          <a:xfrm>
            <a:off x="1005840" y="1280160"/>
            <a:ext cx="7132320" cy="10972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500"/>
              <a:buFont typeface="Calibri"/>
              <a:buNone/>
            </a:pPr>
            <a:r>
              <a:rPr b="0" i="0" lang="en-US" sz="1500" u="none" cap="none" strike="noStrike">
                <a:solidFill>
                  <a:srgbClr val="1E293B"/>
                </a:solidFill>
                <a:latin typeface="Calibri"/>
                <a:ea typeface="Calibri"/>
                <a:cs typeface="Calibri"/>
                <a:sym typeface="Calibri"/>
              </a:rPr>
              <a:t>285 million people worldwide live with visual impairments. They rely on sighted assistance, guide dogs, or limited assistive tools to navigate and understand their environment. Most existing solutions are expensive, require specialized hardware, or don’t provide real-time contextual understanding.</a:t>
            </a:r>
            <a:endParaRPr b="0" i="0" sz="1500" u="none" cap="none" strike="noStrike">
              <a:solidFill>
                <a:schemeClr val="dk1"/>
              </a:solidFill>
              <a:latin typeface="Calibri"/>
              <a:ea typeface="Calibri"/>
              <a:cs typeface="Calibri"/>
              <a:sym typeface="Calibri"/>
            </a:endParaRPr>
          </a:p>
        </p:txBody>
      </p:sp>
      <p:sp>
        <p:nvSpPr>
          <p:cNvPr id="34" name="Google Shape;34;p4"/>
          <p:cNvSpPr/>
          <p:nvPr/>
        </p:nvSpPr>
        <p:spPr>
          <a:xfrm>
            <a:off x="731520" y="2834640"/>
            <a:ext cx="2468880" cy="1828800"/>
          </a:xfrm>
          <a:prstGeom prst="rect">
            <a:avLst/>
          </a:prstGeom>
          <a:solidFill>
            <a:srgbClr val="F4F6FA"/>
          </a:solidFill>
          <a:ln>
            <a:noFill/>
          </a:ln>
          <a:effectLst>
            <a:outerShdw blurRad="508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4"/>
          <p:cNvSpPr/>
          <p:nvPr/>
        </p:nvSpPr>
        <p:spPr>
          <a:xfrm>
            <a:off x="1645920" y="2926080"/>
            <a:ext cx="502920" cy="502920"/>
          </a:xfrm>
          <a:prstGeom prst="ellipse">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6" name="Google Shape;36;p4"/>
          <p:cNvPicPr preferRelativeResize="0"/>
          <p:nvPr/>
        </p:nvPicPr>
        <p:blipFill rotWithShape="1">
          <a:blip r:embed="rId3">
            <a:alphaModFix/>
          </a:blip>
          <a:srcRect b="0" l="0" r="0" t="0"/>
          <a:stretch/>
        </p:blipFill>
        <p:spPr>
          <a:xfrm>
            <a:off x="1755648" y="3035808"/>
            <a:ext cx="274320" cy="274320"/>
          </a:xfrm>
          <a:prstGeom prst="rect">
            <a:avLst/>
          </a:prstGeom>
          <a:noFill/>
          <a:ln>
            <a:noFill/>
          </a:ln>
        </p:spPr>
      </p:pic>
      <p:sp>
        <p:nvSpPr>
          <p:cNvPr id="37" name="Google Shape;37;p4"/>
          <p:cNvSpPr/>
          <p:nvPr/>
        </p:nvSpPr>
        <p:spPr>
          <a:xfrm>
            <a:off x="822960" y="3520440"/>
            <a:ext cx="228600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93B"/>
              </a:buClr>
              <a:buSzPts val="1300"/>
              <a:buFont typeface="Calibri"/>
              <a:buNone/>
            </a:pPr>
            <a:r>
              <a:rPr b="1" i="0" lang="en-US" sz="1300" u="none" cap="none" strike="noStrike">
                <a:solidFill>
                  <a:srgbClr val="1E293B"/>
                </a:solidFill>
                <a:latin typeface="Calibri"/>
                <a:ea typeface="Calibri"/>
                <a:cs typeface="Calibri"/>
                <a:sym typeface="Calibri"/>
              </a:rPr>
              <a:t>Limited Awareness</a:t>
            </a:r>
            <a:endParaRPr b="0" i="0" sz="1300" u="none" cap="none" strike="noStrike">
              <a:solidFill>
                <a:schemeClr val="dk1"/>
              </a:solidFill>
              <a:latin typeface="Calibri"/>
              <a:ea typeface="Calibri"/>
              <a:cs typeface="Calibri"/>
              <a:sym typeface="Calibri"/>
            </a:endParaRPr>
          </a:p>
        </p:txBody>
      </p:sp>
      <p:sp>
        <p:nvSpPr>
          <p:cNvPr id="38" name="Google Shape;38;p4"/>
          <p:cNvSpPr/>
          <p:nvPr/>
        </p:nvSpPr>
        <p:spPr>
          <a:xfrm>
            <a:off x="822960" y="3840480"/>
            <a:ext cx="2286000" cy="640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1100"/>
              <a:buFont typeface="Calibri"/>
              <a:buNone/>
            </a:pPr>
            <a:r>
              <a:rPr b="0" i="0" lang="en-US" sz="1100" u="none" cap="none" strike="noStrike">
                <a:solidFill>
                  <a:srgbClr val="64748B"/>
                </a:solidFill>
                <a:latin typeface="Calibri"/>
                <a:ea typeface="Calibri"/>
                <a:cs typeface="Calibri"/>
                <a:sym typeface="Calibri"/>
              </a:rPr>
              <a:t>No way to understand unfamiliar</a:t>
            </a:r>
            <a:endParaRPr b="0" i="0" sz="11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64748B"/>
              </a:buClr>
              <a:buSzPts val="1100"/>
              <a:buFont typeface="Calibri"/>
              <a:buNone/>
            </a:pPr>
            <a:r>
              <a:rPr b="0" i="0" lang="en-US" sz="1100" u="none" cap="none" strike="noStrike">
                <a:solidFill>
                  <a:srgbClr val="64748B"/>
                </a:solidFill>
                <a:latin typeface="Calibri"/>
                <a:ea typeface="Calibri"/>
                <a:cs typeface="Calibri"/>
                <a:sym typeface="Calibri"/>
              </a:rPr>
              <a:t>environments independently</a:t>
            </a:r>
            <a:endParaRPr b="0" i="0" sz="1100" u="none" cap="none" strike="noStrike">
              <a:solidFill>
                <a:schemeClr val="dk1"/>
              </a:solidFill>
              <a:latin typeface="Calibri"/>
              <a:ea typeface="Calibri"/>
              <a:cs typeface="Calibri"/>
              <a:sym typeface="Calibri"/>
            </a:endParaRPr>
          </a:p>
        </p:txBody>
      </p:sp>
      <p:sp>
        <p:nvSpPr>
          <p:cNvPr id="39" name="Google Shape;39;p4"/>
          <p:cNvSpPr/>
          <p:nvPr/>
        </p:nvSpPr>
        <p:spPr>
          <a:xfrm>
            <a:off x="3520440" y="2834640"/>
            <a:ext cx="2468880" cy="1828800"/>
          </a:xfrm>
          <a:prstGeom prst="rect">
            <a:avLst/>
          </a:prstGeom>
          <a:solidFill>
            <a:srgbClr val="F4F6FA"/>
          </a:solidFill>
          <a:ln>
            <a:noFill/>
          </a:ln>
          <a:effectLst>
            <a:outerShdw blurRad="508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4"/>
          <p:cNvSpPr/>
          <p:nvPr/>
        </p:nvSpPr>
        <p:spPr>
          <a:xfrm>
            <a:off x="4434840" y="2926080"/>
            <a:ext cx="502920" cy="502920"/>
          </a:xfrm>
          <a:prstGeom prst="ellipse">
            <a:avLst/>
          </a:prstGeom>
          <a:solidFill>
            <a:srgbClr val="3B82F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1" name="Google Shape;41;p4"/>
          <p:cNvPicPr preferRelativeResize="0"/>
          <p:nvPr/>
        </p:nvPicPr>
        <p:blipFill rotWithShape="1">
          <a:blip r:embed="rId4">
            <a:alphaModFix/>
          </a:blip>
          <a:srcRect b="0" l="0" r="0" t="0"/>
          <a:stretch/>
        </p:blipFill>
        <p:spPr>
          <a:xfrm>
            <a:off x="4544568" y="3035808"/>
            <a:ext cx="274320" cy="274320"/>
          </a:xfrm>
          <a:prstGeom prst="rect">
            <a:avLst/>
          </a:prstGeom>
          <a:noFill/>
          <a:ln>
            <a:noFill/>
          </a:ln>
        </p:spPr>
      </p:pic>
      <p:sp>
        <p:nvSpPr>
          <p:cNvPr id="42" name="Google Shape;42;p4"/>
          <p:cNvSpPr/>
          <p:nvPr/>
        </p:nvSpPr>
        <p:spPr>
          <a:xfrm>
            <a:off x="3611880" y="3520440"/>
            <a:ext cx="228600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93B"/>
              </a:buClr>
              <a:buSzPts val="1300"/>
              <a:buFont typeface="Calibri"/>
              <a:buNone/>
            </a:pPr>
            <a:r>
              <a:rPr b="1" i="0" lang="en-US" sz="1300" u="none" cap="none" strike="noStrike">
                <a:solidFill>
                  <a:srgbClr val="1E293B"/>
                </a:solidFill>
                <a:latin typeface="Calibri"/>
                <a:ea typeface="Calibri"/>
                <a:cs typeface="Calibri"/>
                <a:sym typeface="Calibri"/>
              </a:rPr>
              <a:t>No Context</a:t>
            </a:r>
            <a:endParaRPr b="0" i="0" sz="1300" u="none" cap="none" strike="noStrike">
              <a:solidFill>
                <a:schemeClr val="dk1"/>
              </a:solidFill>
              <a:latin typeface="Calibri"/>
              <a:ea typeface="Calibri"/>
              <a:cs typeface="Calibri"/>
              <a:sym typeface="Calibri"/>
            </a:endParaRPr>
          </a:p>
        </p:txBody>
      </p:sp>
      <p:sp>
        <p:nvSpPr>
          <p:cNvPr id="43" name="Google Shape;43;p4"/>
          <p:cNvSpPr/>
          <p:nvPr/>
        </p:nvSpPr>
        <p:spPr>
          <a:xfrm>
            <a:off x="3611880" y="3840480"/>
            <a:ext cx="2286000" cy="640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1100"/>
              <a:buFont typeface="Calibri"/>
              <a:buNone/>
            </a:pPr>
            <a:r>
              <a:rPr b="0" i="0" lang="en-US" sz="1100" u="none" cap="none" strike="noStrike">
                <a:solidFill>
                  <a:srgbClr val="64748B"/>
                </a:solidFill>
                <a:latin typeface="Calibri"/>
                <a:ea typeface="Calibri"/>
                <a:cs typeface="Calibri"/>
                <a:sym typeface="Calibri"/>
              </a:rPr>
              <a:t>Can’t ask questions about</a:t>
            </a:r>
            <a:endParaRPr b="0" i="0" sz="11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64748B"/>
              </a:buClr>
              <a:buSzPts val="1100"/>
              <a:buFont typeface="Calibri"/>
              <a:buNone/>
            </a:pPr>
            <a:r>
              <a:rPr b="0" i="0" lang="en-US" sz="1100" u="none" cap="none" strike="noStrike">
                <a:solidFill>
                  <a:srgbClr val="64748B"/>
                </a:solidFill>
                <a:latin typeface="Calibri"/>
                <a:ea typeface="Calibri"/>
                <a:cs typeface="Calibri"/>
                <a:sym typeface="Calibri"/>
              </a:rPr>
              <a:t>what’s around them</a:t>
            </a:r>
            <a:endParaRPr b="0" i="0" sz="1100" u="none" cap="none" strike="noStrike">
              <a:solidFill>
                <a:schemeClr val="dk1"/>
              </a:solidFill>
              <a:latin typeface="Calibri"/>
              <a:ea typeface="Calibri"/>
              <a:cs typeface="Calibri"/>
              <a:sym typeface="Calibri"/>
            </a:endParaRPr>
          </a:p>
        </p:txBody>
      </p:sp>
      <p:sp>
        <p:nvSpPr>
          <p:cNvPr id="44" name="Google Shape;44;p4"/>
          <p:cNvSpPr/>
          <p:nvPr/>
        </p:nvSpPr>
        <p:spPr>
          <a:xfrm>
            <a:off x="6309360" y="2834640"/>
            <a:ext cx="2468880" cy="1828800"/>
          </a:xfrm>
          <a:prstGeom prst="rect">
            <a:avLst/>
          </a:prstGeom>
          <a:solidFill>
            <a:srgbClr val="F4F6FA"/>
          </a:solidFill>
          <a:ln>
            <a:noFill/>
          </a:ln>
          <a:effectLst>
            <a:outerShdw blurRad="508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4"/>
          <p:cNvSpPr/>
          <p:nvPr/>
        </p:nvSpPr>
        <p:spPr>
          <a:xfrm>
            <a:off x="7223760" y="2926080"/>
            <a:ext cx="502920" cy="502920"/>
          </a:xfrm>
          <a:prstGeom prst="ellipse">
            <a:avLst/>
          </a:prstGeom>
          <a:solidFill>
            <a:srgbClr val="2C4A7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6" name="Google Shape;46;p4"/>
          <p:cNvPicPr preferRelativeResize="0"/>
          <p:nvPr/>
        </p:nvPicPr>
        <p:blipFill rotWithShape="1">
          <a:blip r:embed="rId5">
            <a:alphaModFix/>
          </a:blip>
          <a:srcRect b="0" l="0" r="0" t="0"/>
          <a:stretch/>
        </p:blipFill>
        <p:spPr>
          <a:xfrm>
            <a:off x="7333488" y="3035808"/>
            <a:ext cx="274320" cy="274320"/>
          </a:xfrm>
          <a:prstGeom prst="rect">
            <a:avLst/>
          </a:prstGeom>
          <a:noFill/>
          <a:ln>
            <a:noFill/>
          </a:ln>
        </p:spPr>
      </p:pic>
      <p:sp>
        <p:nvSpPr>
          <p:cNvPr id="47" name="Google Shape;47;p4"/>
          <p:cNvSpPr/>
          <p:nvPr/>
        </p:nvSpPr>
        <p:spPr>
          <a:xfrm>
            <a:off x="6400800" y="3520440"/>
            <a:ext cx="228600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93B"/>
              </a:buClr>
              <a:buSzPts val="1300"/>
              <a:buFont typeface="Calibri"/>
              <a:buNone/>
            </a:pPr>
            <a:r>
              <a:rPr b="1" i="0" lang="en-US" sz="1300" u="none" cap="none" strike="noStrike">
                <a:solidFill>
                  <a:srgbClr val="1E293B"/>
                </a:solidFill>
                <a:latin typeface="Calibri"/>
                <a:ea typeface="Calibri"/>
                <a:cs typeface="Calibri"/>
                <a:sym typeface="Calibri"/>
              </a:rPr>
              <a:t>No Audio Output</a:t>
            </a:r>
            <a:endParaRPr b="0" i="0" sz="1300" u="none" cap="none" strike="noStrike">
              <a:solidFill>
                <a:schemeClr val="dk1"/>
              </a:solidFill>
              <a:latin typeface="Calibri"/>
              <a:ea typeface="Calibri"/>
              <a:cs typeface="Calibri"/>
              <a:sym typeface="Calibri"/>
            </a:endParaRPr>
          </a:p>
        </p:txBody>
      </p:sp>
      <p:sp>
        <p:nvSpPr>
          <p:cNvPr id="48" name="Google Shape;48;p4"/>
          <p:cNvSpPr/>
          <p:nvPr/>
        </p:nvSpPr>
        <p:spPr>
          <a:xfrm>
            <a:off x="6400800" y="3840480"/>
            <a:ext cx="2286000" cy="640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1100"/>
              <a:buFont typeface="Calibri"/>
              <a:buNone/>
            </a:pPr>
            <a:r>
              <a:rPr b="0" i="0" lang="en-US" sz="1100" u="none" cap="none" strike="noStrike">
                <a:solidFill>
                  <a:srgbClr val="64748B"/>
                </a:solidFill>
                <a:latin typeface="Calibri"/>
                <a:ea typeface="Calibri"/>
                <a:cs typeface="Calibri"/>
                <a:sym typeface="Calibri"/>
              </a:rPr>
              <a:t>Most tools are visual-only,</a:t>
            </a:r>
            <a:endParaRPr b="0" i="0" sz="11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64748B"/>
              </a:buClr>
              <a:buSzPts val="1100"/>
              <a:buFont typeface="Calibri"/>
              <a:buNone/>
            </a:pPr>
            <a:r>
              <a:rPr b="0" i="0" lang="en-US" sz="1100" u="none" cap="none" strike="noStrike">
                <a:solidFill>
                  <a:srgbClr val="64748B"/>
                </a:solidFill>
                <a:latin typeface="Calibri"/>
                <a:ea typeface="Calibri"/>
                <a:cs typeface="Calibri"/>
                <a:sym typeface="Calibri"/>
              </a:rPr>
              <a:t>not accessible to blind users</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3" name="Shape 53"/>
        <p:cNvGrpSpPr/>
        <p:nvPr/>
      </p:nvGrpSpPr>
      <p:grpSpPr>
        <a:xfrm>
          <a:off x="0" y="0"/>
          <a:ext cx="0" cy="0"/>
          <a:chOff x="0" y="0"/>
          <a:chExt cx="0" cy="0"/>
        </a:xfrm>
      </p:grpSpPr>
      <p:sp>
        <p:nvSpPr>
          <p:cNvPr id="54" name="Google Shape;54;p5"/>
          <p:cNvSpPr/>
          <p:nvPr/>
        </p:nvSpPr>
        <p:spPr>
          <a:xfrm>
            <a:off x="0" y="0"/>
            <a:ext cx="9144000" cy="54864"/>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5"/>
          <p:cNvSpPr/>
          <p:nvPr/>
        </p:nvSpPr>
        <p:spPr>
          <a:xfrm>
            <a:off x="731520" y="320040"/>
            <a:ext cx="768096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4A"/>
              </a:buClr>
              <a:buSzPts val="3200"/>
              <a:buFont typeface="Georgia"/>
              <a:buNone/>
            </a:pPr>
            <a:r>
              <a:rPr b="1" i="0" lang="en-US" sz="3200" u="none" cap="none" strike="noStrike">
                <a:solidFill>
                  <a:srgbClr val="1B2A4A"/>
                </a:solidFill>
                <a:latin typeface="Georgia"/>
                <a:ea typeface="Georgia"/>
                <a:cs typeface="Georgia"/>
                <a:sym typeface="Georgia"/>
              </a:rPr>
              <a:t>Target Users &amp; Project Goals</a:t>
            </a:r>
            <a:endParaRPr b="0" i="0" sz="3200" u="none" cap="none" strike="noStrike">
              <a:solidFill>
                <a:schemeClr val="dk1"/>
              </a:solidFill>
              <a:latin typeface="Calibri"/>
              <a:ea typeface="Calibri"/>
              <a:cs typeface="Calibri"/>
              <a:sym typeface="Calibri"/>
            </a:endParaRPr>
          </a:p>
        </p:txBody>
      </p:sp>
      <p:sp>
        <p:nvSpPr>
          <p:cNvPr id="56" name="Google Shape;56;p5"/>
          <p:cNvSpPr/>
          <p:nvPr/>
        </p:nvSpPr>
        <p:spPr>
          <a:xfrm>
            <a:off x="457200" y="1188720"/>
            <a:ext cx="3931920" cy="3474720"/>
          </a:xfrm>
          <a:prstGeom prst="rect">
            <a:avLst/>
          </a:prstGeom>
          <a:solidFill>
            <a:srgbClr val="F4F6FA"/>
          </a:solidFill>
          <a:ln>
            <a:noFill/>
          </a:ln>
          <a:effectLst>
            <a:outerShdw blurRad="508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5"/>
          <p:cNvSpPr/>
          <p:nvPr/>
        </p:nvSpPr>
        <p:spPr>
          <a:xfrm>
            <a:off x="457200" y="1234440"/>
            <a:ext cx="393192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B82F6"/>
              </a:buClr>
              <a:buSzPts val="1500"/>
              <a:buFont typeface="Calibri"/>
              <a:buNone/>
            </a:pPr>
            <a:r>
              <a:rPr b="1" i="0" lang="en-US" sz="1500" u="none" cap="none" strike="noStrike">
                <a:solidFill>
                  <a:srgbClr val="3B82F6"/>
                </a:solidFill>
                <a:latin typeface="Calibri"/>
                <a:ea typeface="Calibri"/>
                <a:cs typeface="Calibri"/>
                <a:sym typeface="Calibri"/>
              </a:rPr>
              <a:t>Target Users</a:t>
            </a:r>
            <a:endParaRPr b="0" i="0" sz="1500" u="none" cap="none" strike="noStrike">
              <a:solidFill>
                <a:schemeClr val="dk1"/>
              </a:solidFill>
              <a:latin typeface="Calibri"/>
              <a:ea typeface="Calibri"/>
              <a:cs typeface="Calibri"/>
              <a:sym typeface="Calibri"/>
            </a:endParaRPr>
          </a:p>
        </p:txBody>
      </p:sp>
      <p:pic>
        <p:nvPicPr>
          <p:cNvPr descr="preencoded.png" id="58" name="Google Shape;58;p5"/>
          <p:cNvPicPr preferRelativeResize="0"/>
          <p:nvPr/>
        </p:nvPicPr>
        <p:blipFill rotWithShape="1">
          <a:blip r:embed="rId3">
            <a:alphaModFix/>
          </a:blip>
          <a:srcRect b="0" l="0" r="0" t="0"/>
          <a:stretch/>
        </p:blipFill>
        <p:spPr>
          <a:xfrm>
            <a:off x="731520" y="1691640"/>
            <a:ext cx="182880" cy="182880"/>
          </a:xfrm>
          <a:prstGeom prst="rect">
            <a:avLst/>
          </a:prstGeom>
          <a:noFill/>
          <a:ln>
            <a:noFill/>
          </a:ln>
        </p:spPr>
      </p:pic>
      <p:sp>
        <p:nvSpPr>
          <p:cNvPr id="59" name="Google Shape;59;p5"/>
          <p:cNvSpPr/>
          <p:nvPr/>
        </p:nvSpPr>
        <p:spPr>
          <a:xfrm>
            <a:off x="1051560" y="1645920"/>
            <a:ext cx="310896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300"/>
              <a:buFont typeface="Calibri"/>
              <a:buNone/>
            </a:pPr>
            <a:r>
              <a:rPr b="0" i="0" lang="en-US" sz="1300" u="none" cap="none" strike="noStrike">
                <a:solidFill>
                  <a:srgbClr val="1E293B"/>
                </a:solidFill>
                <a:latin typeface="Calibri"/>
                <a:ea typeface="Calibri"/>
                <a:cs typeface="Calibri"/>
                <a:sym typeface="Calibri"/>
              </a:rPr>
              <a:t>Blind and visually impaired individuals</a:t>
            </a:r>
            <a:endParaRPr b="0" i="0" sz="1300" u="none" cap="none" strike="noStrike">
              <a:solidFill>
                <a:schemeClr val="dk1"/>
              </a:solidFill>
              <a:latin typeface="Calibri"/>
              <a:ea typeface="Calibri"/>
              <a:cs typeface="Calibri"/>
              <a:sym typeface="Calibri"/>
            </a:endParaRPr>
          </a:p>
        </p:txBody>
      </p:sp>
      <p:pic>
        <p:nvPicPr>
          <p:cNvPr descr="preencoded.png" id="60" name="Google Shape;60;p5"/>
          <p:cNvPicPr preferRelativeResize="0"/>
          <p:nvPr/>
        </p:nvPicPr>
        <p:blipFill rotWithShape="1">
          <a:blip r:embed="rId3">
            <a:alphaModFix/>
          </a:blip>
          <a:srcRect b="0" l="0" r="0" t="0"/>
          <a:stretch/>
        </p:blipFill>
        <p:spPr>
          <a:xfrm>
            <a:off x="731520" y="2240280"/>
            <a:ext cx="182880" cy="182880"/>
          </a:xfrm>
          <a:prstGeom prst="rect">
            <a:avLst/>
          </a:prstGeom>
          <a:noFill/>
          <a:ln>
            <a:noFill/>
          </a:ln>
        </p:spPr>
      </p:pic>
      <p:sp>
        <p:nvSpPr>
          <p:cNvPr id="61" name="Google Shape;61;p5"/>
          <p:cNvSpPr/>
          <p:nvPr/>
        </p:nvSpPr>
        <p:spPr>
          <a:xfrm>
            <a:off x="1051560" y="2194560"/>
            <a:ext cx="310896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300"/>
              <a:buFont typeface="Calibri"/>
              <a:buNone/>
            </a:pPr>
            <a:r>
              <a:rPr b="0" i="0" lang="en-US" sz="1300" u="none" cap="none" strike="noStrike">
                <a:solidFill>
                  <a:srgbClr val="1E293B"/>
                </a:solidFill>
                <a:latin typeface="Calibri"/>
                <a:ea typeface="Calibri"/>
                <a:cs typeface="Calibri"/>
                <a:sym typeface="Calibri"/>
              </a:rPr>
              <a:t>Low-vision users who need scene context</a:t>
            </a:r>
            <a:endParaRPr b="0" i="0" sz="1300" u="none" cap="none" strike="noStrike">
              <a:solidFill>
                <a:schemeClr val="dk1"/>
              </a:solidFill>
              <a:latin typeface="Calibri"/>
              <a:ea typeface="Calibri"/>
              <a:cs typeface="Calibri"/>
              <a:sym typeface="Calibri"/>
            </a:endParaRPr>
          </a:p>
        </p:txBody>
      </p:sp>
      <p:pic>
        <p:nvPicPr>
          <p:cNvPr descr="preencoded.png" id="62" name="Google Shape;62;p5"/>
          <p:cNvPicPr preferRelativeResize="0"/>
          <p:nvPr/>
        </p:nvPicPr>
        <p:blipFill rotWithShape="1">
          <a:blip r:embed="rId3">
            <a:alphaModFix/>
          </a:blip>
          <a:srcRect b="0" l="0" r="0" t="0"/>
          <a:stretch/>
        </p:blipFill>
        <p:spPr>
          <a:xfrm>
            <a:off x="731520" y="2788920"/>
            <a:ext cx="182880" cy="182880"/>
          </a:xfrm>
          <a:prstGeom prst="rect">
            <a:avLst/>
          </a:prstGeom>
          <a:noFill/>
          <a:ln>
            <a:noFill/>
          </a:ln>
        </p:spPr>
      </p:pic>
      <p:sp>
        <p:nvSpPr>
          <p:cNvPr id="63" name="Google Shape;63;p5"/>
          <p:cNvSpPr/>
          <p:nvPr/>
        </p:nvSpPr>
        <p:spPr>
          <a:xfrm>
            <a:off x="1051560" y="2743200"/>
            <a:ext cx="310896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300"/>
              <a:buFont typeface="Calibri"/>
              <a:buNone/>
            </a:pPr>
            <a:r>
              <a:rPr b="0" i="0" lang="en-US" sz="1300" u="none" cap="none" strike="noStrike">
                <a:solidFill>
                  <a:srgbClr val="1E293B"/>
                </a:solidFill>
                <a:latin typeface="Calibri"/>
                <a:ea typeface="Calibri"/>
                <a:cs typeface="Calibri"/>
                <a:sym typeface="Calibri"/>
              </a:rPr>
              <a:t>Caregivers and accessibility advocates</a:t>
            </a:r>
            <a:endParaRPr b="0" i="0" sz="1300" u="none" cap="none" strike="noStrike">
              <a:solidFill>
                <a:schemeClr val="dk1"/>
              </a:solidFill>
              <a:latin typeface="Calibri"/>
              <a:ea typeface="Calibri"/>
              <a:cs typeface="Calibri"/>
              <a:sym typeface="Calibri"/>
            </a:endParaRPr>
          </a:p>
        </p:txBody>
      </p:sp>
      <p:pic>
        <p:nvPicPr>
          <p:cNvPr descr="preencoded.png" id="64" name="Google Shape;64;p5"/>
          <p:cNvPicPr preferRelativeResize="0"/>
          <p:nvPr/>
        </p:nvPicPr>
        <p:blipFill rotWithShape="1">
          <a:blip r:embed="rId3">
            <a:alphaModFix/>
          </a:blip>
          <a:srcRect b="0" l="0" r="0" t="0"/>
          <a:stretch/>
        </p:blipFill>
        <p:spPr>
          <a:xfrm>
            <a:off x="731520" y="3337560"/>
            <a:ext cx="182880" cy="182880"/>
          </a:xfrm>
          <a:prstGeom prst="rect">
            <a:avLst/>
          </a:prstGeom>
          <a:noFill/>
          <a:ln>
            <a:noFill/>
          </a:ln>
        </p:spPr>
      </p:pic>
      <p:sp>
        <p:nvSpPr>
          <p:cNvPr id="65" name="Google Shape;65;p5"/>
          <p:cNvSpPr/>
          <p:nvPr/>
        </p:nvSpPr>
        <p:spPr>
          <a:xfrm>
            <a:off x="1051560" y="3291840"/>
            <a:ext cx="310896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300"/>
              <a:buFont typeface="Calibri"/>
              <a:buNone/>
            </a:pPr>
            <a:r>
              <a:rPr b="0" i="0" lang="en-US" sz="1300" u="none" cap="none" strike="noStrike">
                <a:solidFill>
                  <a:srgbClr val="1E293B"/>
                </a:solidFill>
                <a:latin typeface="Calibri"/>
                <a:ea typeface="Calibri"/>
                <a:cs typeface="Calibri"/>
                <a:sym typeface="Calibri"/>
              </a:rPr>
              <a:t>Educators working with VI students</a:t>
            </a:r>
            <a:endParaRPr b="0" i="0" sz="1300" u="none" cap="none" strike="noStrike">
              <a:solidFill>
                <a:schemeClr val="dk1"/>
              </a:solidFill>
              <a:latin typeface="Calibri"/>
              <a:ea typeface="Calibri"/>
              <a:cs typeface="Calibri"/>
              <a:sym typeface="Calibri"/>
            </a:endParaRPr>
          </a:p>
        </p:txBody>
      </p:sp>
      <p:sp>
        <p:nvSpPr>
          <p:cNvPr id="66" name="Google Shape;66;p5"/>
          <p:cNvSpPr/>
          <p:nvPr/>
        </p:nvSpPr>
        <p:spPr>
          <a:xfrm>
            <a:off x="4754880" y="1188720"/>
            <a:ext cx="3931920" cy="3474720"/>
          </a:xfrm>
          <a:prstGeom prst="rect">
            <a:avLst/>
          </a:prstGeom>
          <a:solidFill>
            <a:srgbClr val="F4F6FA"/>
          </a:solidFill>
          <a:ln>
            <a:noFill/>
          </a:ln>
          <a:effectLst>
            <a:outerShdw blurRad="508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5"/>
          <p:cNvSpPr/>
          <p:nvPr/>
        </p:nvSpPr>
        <p:spPr>
          <a:xfrm>
            <a:off x="4754880" y="1234440"/>
            <a:ext cx="393192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B82F6"/>
              </a:buClr>
              <a:buSzPts val="1500"/>
              <a:buFont typeface="Calibri"/>
              <a:buNone/>
            </a:pPr>
            <a:r>
              <a:rPr b="1" i="0" lang="en-US" sz="1500" u="none" cap="none" strike="noStrike">
                <a:solidFill>
                  <a:srgbClr val="3B82F6"/>
                </a:solidFill>
                <a:latin typeface="Calibri"/>
                <a:ea typeface="Calibri"/>
                <a:cs typeface="Calibri"/>
                <a:sym typeface="Calibri"/>
              </a:rPr>
              <a:t>Project Goals</a:t>
            </a:r>
            <a:endParaRPr b="0" i="0" sz="1500" u="none" cap="none" strike="noStrike">
              <a:solidFill>
                <a:schemeClr val="dk1"/>
              </a:solidFill>
              <a:latin typeface="Calibri"/>
              <a:ea typeface="Calibri"/>
              <a:cs typeface="Calibri"/>
              <a:sym typeface="Calibri"/>
            </a:endParaRPr>
          </a:p>
        </p:txBody>
      </p:sp>
      <p:pic>
        <p:nvPicPr>
          <p:cNvPr descr="preencoded.png" id="68" name="Google Shape;68;p5"/>
          <p:cNvPicPr preferRelativeResize="0"/>
          <p:nvPr/>
        </p:nvPicPr>
        <p:blipFill rotWithShape="1">
          <a:blip r:embed="rId3">
            <a:alphaModFix/>
          </a:blip>
          <a:srcRect b="0" l="0" r="0" t="0"/>
          <a:stretch/>
        </p:blipFill>
        <p:spPr>
          <a:xfrm>
            <a:off x="5029200" y="1691640"/>
            <a:ext cx="182880" cy="182880"/>
          </a:xfrm>
          <a:prstGeom prst="rect">
            <a:avLst/>
          </a:prstGeom>
          <a:noFill/>
          <a:ln>
            <a:noFill/>
          </a:ln>
        </p:spPr>
      </p:pic>
      <p:sp>
        <p:nvSpPr>
          <p:cNvPr id="69" name="Google Shape;69;p5"/>
          <p:cNvSpPr/>
          <p:nvPr/>
        </p:nvSpPr>
        <p:spPr>
          <a:xfrm>
            <a:off x="5349240" y="1645920"/>
            <a:ext cx="31089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250"/>
              <a:buFont typeface="Calibri"/>
              <a:buNone/>
            </a:pPr>
            <a:r>
              <a:rPr b="0" i="0" lang="en-US" sz="1250" u="none" cap="none" strike="noStrike">
                <a:solidFill>
                  <a:srgbClr val="1E293B"/>
                </a:solidFill>
                <a:latin typeface="Calibri"/>
                <a:ea typeface="Calibri"/>
                <a:cs typeface="Calibri"/>
                <a:sym typeface="Calibri"/>
              </a:rPr>
              <a:t>Real-time scene description via AI</a:t>
            </a:r>
            <a:endParaRPr b="0" i="0" sz="1250" u="none" cap="none" strike="noStrike">
              <a:solidFill>
                <a:schemeClr val="dk1"/>
              </a:solidFill>
              <a:latin typeface="Calibri"/>
              <a:ea typeface="Calibri"/>
              <a:cs typeface="Calibri"/>
              <a:sym typeface="Calibri"/>
            </a:endParaRPr>
          </a:p>
        </p:txBody>
      </p:sp>
      <p:pic>
        <p:nvPicPr>
          <p:cNvPr descr="preencoded.png" id="70" name="Google Shape;70;p5"/>
          <p:cNvPicPr preferRelativeResize="0"/>
          <p:nvPr/>
        </p:nvPicPr>
        <p:blipFill rotWithShape="1">
          <a:blip r:embed="rId3">
            <a:alphaModFix/>
          </a:blip>
          <a:srcRect b="0" l="0" r="0" t="0"/>
          <a:stretch/>
        </p:blipFill>
        <p:spPr>
          <a:xfrm>
            <a:off x="5029200" y="2148840"/>
            <a:ext cx="182880" cy="182880"/>
          </a:xfrm>
          <a:prstGeom prst="rect">
            <a:avLst/>
          </a:prstGeom>
          <a:noFill/>
          <a:ln>
            <a:noFill/>
          </a:ln>
        </p:spPr>
      </p:pic>
      <p:sp>
        <p:nvSpPr>
          <p:cNvPr id="71" name="Google Shape;71;p5"/>
          <p:cNvSpPr/>
          <p:nvPr/>
        </p:nvSpPr>
        <p:spPr>
          <a:xfrm>
            <a:off x="5349240" y="2103120"/>
            <a:ext cx="31089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250"/>
              <a:buFont typeface="Calibri"/>
              <a:buNone/>
            </a:pPr>
            <a:r>
              <a:rPr b="0" i="0" lang="en-US" sz="1250" u="none" cap="none" strike="noStrike">
                <a:solidFill>
                  <a:srgbClr val="1E293B"/>
                </a:solidFill>
                <a:latin typeface="Calibri"/>
                <a:ea typeface="Calibri"/>
                <a:cs typeface="Calibri"/>
                <a:sym typeface="Calibri"/>
              </a:rPr>
              <a:t>Object detection with labels</a:t>
            </a:r>
            <a:endParaRPr b="0" i="0" sz="1250" u="none" cap="none" strike="noStrike">
              <a:solidFill>
                <a:schemeClr val="dk1"/>
              </a:solidFill>
              <a:latin typeface="Calibri"/>
              <a:ea typeface="Calibri"/>
              <a:cs typeface="Calibri"/>
              <a:sym typeface="Calibri"/>
            </a:endParaRPr>
          </a:p>
        </p:txBody>
      </p:sp>
      <p:pic>
        <p:nvPicPr>
          <p:cNvPr descr="preencoded.png" id="72" name="Google Shape;72;p5"/>
          <p:cNvPicPr preferRelativeResize="0"/>
          <p:nvPr/>
        </p:nvPicPr>
        <p:blipFill rotWithShape="1">
          <a:blip r:embed="rId3">
            <a:alphaModFix/>
          </a:blip>
          <a:srcRect b="0" l="0" r="0" t="0"/>
          <a:stretch/>
        </p:blipFill>
        <p:spPr>
          <a:xfrm>
            <a:off x="5029200" y="2606040"/>
            <a:ext cx="182880" cy="182880"/>
          </a:xfrm>
          <a:prstGeom prst="rect">
            <a:avLst/>
          </a:prstGeom>
          <a:noFill/>
          <a:ln>
            <a:noFill/>
          </a:ln>
        </p:spPr>
      </p:pic>
      <p:sp>
        <p:nvSpPr>
          <p:cNvPr id="73" name="Google Shape;73;p5"/>
          <p:cNvSpPr/>
          <p:nvPr/>
        </p:nvSpPr>
        <p:spPr>
          <a:xfrm>
            <a:off x="5349240" y="2560320"/>
            <a:ext cx="31089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250"/>
              <a:buFont typeface="Calibri"/>
              <a:buNone/>
            </a:pPr>
            <a:r>
              <a:rPr b="0" i="0" lang="en-US" sz="1250" u="none" cap="none" strike="noStrike">
                <a:solidFill>
                  <a:srgbClr val="1E293B"/>
                </a:solidFill>
                <a:latin typeface="Calibri"/>
                <a:ea typeface="Calibri"/>
                <a:cs typeface="Calibri"/>
                <a:sym typeface="Calibri"/>
              </a:rPr>
              <a:t>Visual Q&amp;A for contextual questions</a:t>
            </a:r>
            <a:endParaRPr b="0" i="0" sz="1250" u="none" cap="none" strike="noStrike">
              <a:solidFill>
                <a:schemeClr val="dk1"/>
              </a:solidFill>
              <a:latin typeface="Calibri"/>
              <a:ea typeface="Calibri"/>
              <a:cs typeface="Calibri"/>
              <a:sym typeface="Calibri"/>
            </a:endParaRPr>
          </a:p>
        </p:txBody>
      </p:sp>
      <p:pic>
        <p:nvPicPr>
          <p:cNvPr descr="preencoded.png" id="74" name="Google Shape;74;p5"/>
          <p:cNvPicPr preferRelativeResize="0"/>
          <p:nvPr/>
        </p:nvPicPr>
        <p:blipFill rotWithShape="1">
          <a:blip r:embed="rId3">
            <a:alphaModFix/>
          </a:blip>
          <a:srcRect b="0" l="0" r="0" t="0"/>
          <a:stretch/>
        </p:blipFill>
        <p:spPr>
          <a:xfrm>
            <a:off x="5029200" y="3063240"/>
            <a:ext cx="182880" cy="182880"/>
          </a:xfrm>
          <a:prstGeom prst="rect">
            <a:avLst/>
          </a:prstGeom>
          <a:noFill/>
          <a:ln>
            <a:noFill/>
          </a:ln>
        </p:spPr>
      </p:pic>
      <p:sp>
        <p:nvSpPr>
          <p:cNvPr id="75" name="Google Shape;75;p5"/>
          <p:cNvSpPr/>
          <p:nvPr/>
        </p:nvSpPr>
        <p:spPr>
          <a:xfrm>
            <a:off x="5349240" y="3017520"/>
            <a:ext cx="31089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250"/>
              <a:buFont typeface="Calibri"/>
              <a:buNone/>
            </a:pPr>
            <a:r>
              <a:rPr b="0" i="0" lang="en-US" sz="1250" u="none" cap="none" strike="noStrike">
                <a:solidFill>
                  <a:srgbClr val="1E293B"/>
                </a:solidFill>
                <a:latin typeface="Calibri"/>
                <a:ea typeface="Calibri"/>
                <a:cs typeface="Calibri"/>
                <a:sym typeface="Calibri"/>
              </a:rPr>
              <a:t>Text-to-speech for hands-free use</a:t>
            </a:r>
            <a:endParaRPr b="0" i="0" sz="1250" u="none" cap="none" strike="noStrike">
              <a:solidFill>
                <a:schemeClr val="dk1"/>
              </a:solidFill>
              <a:latin typeface="Calibri"/>
              <a:ea typeface="Calibri"/>
              <a:cs typeface="Calibri"/>
              <a:sym typeface="Calibri"/>
            </a:endParaRPr>
          </a:p>
        </p:txBody>
      </p:sp>
      <p:pic>
        <p:nvPicPr>
          <p:cNvPr descr="preencoded.png" id="76" name="Google Shape;76;p5"/>
          <p:cNvPicPr preferRelativeResize="0"/>
          <p:nvPr/>
        </p:nvPicPr>
        <p:blipFill rotWithShape="1">
          <a:blip r:embed="rId3">
            <a:alphaModFix/>
          </a:blip>
          <a:srcRect b="0" l="0" r="0" t="0"/>
          <a:stretch/>
        </p:blipFill>
        <p:spPr>
          <a:xfrm>
            <a:off x="5029200" y="3520440"/>
            <a:ext cx="182880" cy="182880"/>
          </a:xfrm>
          <a:prstGeom prst="rect">
            <a:avLst/>
          </a:prstGeom>
          <a:noFill/>
          <a:ln>
            <a:noFill/>
          </a:ln>
        </p:spPr>
      </p:pic>
      <p:sp>
        <p:nvSpPr>
          <p:cNvPr id="77" name="Google Shape;77;p5"/>
          <p:cNvSpPr/>
          <p:nvPr/>
        </p:nvSpPr>
        <p:spPr>
          <a:xfrm>
            <a:off x="5349240" y="3474720"/>
            <a:ext cx="31089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250"/>
              <a:buFont typeface="Calibri"/>
              <a:buNone/>
            </a:pPr>
            <a:r>
              <a:rPr b="0" i="0" lang="en-US" sz="1250" u="none" cap="none" strike="noStrike">
                <a:solidFill>
                  <a:srgbClr val="1E293B"/>
                </a:solidFill>
                <a:latin typeface="Calibri"/>
                <a:ea typeface="Calibri"/>
                <a:cs typeface="Calibri"/>
                <a:sym typeface="Calibri"/>
              </a:rPr>
              <a:t>WCAG 2.1 AA accessible interface</a:t>
            </a:r>
            <a:endParaRPr b="0" i="0" sz="125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2A4A"/>
        </a:solidFill>
      </p:bgPr>
    </p:bg>
    <p:spTree>
      <p:nvGrpSpPr>
        <p:cNvPr id="82" name="Shape 82"/>
        <p:cNvGrpSpPr/>
        <p:nvPr/>
      </p:nvGrpSpPr>
      <p:grpSpPr>
        <a:xfrm>
          <a:off x="0" y="0"/>
          <a:ext cx="0" cy="0"/>
          <a:chOff x="0" y="0"/>
          <a:chExt cx="0" cy="0"/>
        </a:xfrm>
      </p:grpSpPr>
      <p:sp>
        <p:nvSpPr>
          <p:cNvPr id="83" name="Google Shape;83;p6"/>
          <p:cNvSpPr/>
          <p:nvPr/>
        </p:nvSpPr>
        <p:spPr>
          <a:xfrm>
            <a:off x="0" y="0"/>
            <a:ext cx="9144000" cy="73152"/>
          </a:xfrm>
          <a:prstGeom prst="rect">
            <a:avLst/>
          </a:prstGeom>
          <a:solidFill>
            <a:srgbClr val="3B82F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6"/>
          <p:cNvSpPr/>
          <p:nvPr/>
        </p:nvSpPr>
        <p:spPr>
          <a:xfrm>
            <a:off x="731520" y="457200"/>
            <a:ext cx="768096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200"/>
              <a:buFont typeface="Georgia"/>
              <a:buNone/>
            </a:pPr>
            <a:r>
              <a:rPr b="1" i="0" lang="en-US" sz="3200" u="none" cap="none" strike="noStrike">
                <a:solidFill>
                  <a:srgbClr val="FFFFFF"/>
                </a:solidFill>
                <a:latin typeface="Georgia"/>
                <a:ea typeface="Georgia"/>
                <a:cs typeface="Georgia"/>
                <a:sym typeface="Georgia"/>
              </a:rPr>
              <a:t>What Makes SceneIQ Different</a:t>
            </a:r>
            <a:endParaRPr b="0" i="0" sz="3200" u="none" cap="none" strike="noStrike">
              <a:solidFill>
                <a:schemeClr val="dk1"/>
              </a:solidFill>
              <a:latin typeface="Calibri"/>
              <a:ea typeface="Calibri"/>
              <a:cs typeface="Calibri"/>
              <a:sym typeface="Calibri"/>
            </a:endParaRPr>
          </a:p>
        </p:txBody>
      </p:sp>
      <p:sp>
        <p:nvSpPr>
          <p:cNvPr id="85" name="Google Shape;85;p6"/>
          <p:cNvSpPr/>
          <p:nvPr/>
        </p:nvSpPr>
        <p:spPr>
          <a:xfrm>
            <a:off x="457200" y="1371600"/>
            <a:ext cx="1965960" cy="3108960"/>
          </a:xfrm>
          <a:prstGeom prst="rect">
            <a:avLst/>
          </a:prstGeom>
          <a:solidFill>
            <a:srgbClr val="2C4A7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6"/>
          <p:cNvSpPr/>
          <p:nvPr/>
        </p:nvSpPr>
        <p:spPr>
          <a:xfrm>
            <a:off x="1097280" y="1554480"/>
            <a:ext cx="548640" cy="548640"/>
          </a:xfrm>
          <a:prstGeom prst="ellipse">
            <a:avLst/>
          </a:prstGeom>
          <a:solidFill>
            <a:srgbClr val="3B82F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87" name="Google Shape;87;p6"/>
          <p:cNvPicPr preferRelativeResize="0"/>
          <p:nvPr/>
        </p:nvPicPr>
        <p:blipFill rotWithShape="1">
          <a:blip r:embed="rId3">
            <a:alphaModFix/>
          </a:blip>
          <a:srcRect b="0" l="0" r="0" t="0"/>
          <a:stretch/>
        </p:blipFill>
        <p:spPr>
          <a:xfrm>
            <a:off x="1216152" y="1673352"/>
            <a:ext cx="320040" cy="320040"/>
          </a:xfrm>
          <a:prstGeom prst="rect">
            <a:avLst/>
          </a:prstGeom>
          <a:noFill/>
          <a:ln>
            <a:noFill/>
          </a:ln>
        </p:spPr>
      </p:pic>
      <p:sp>
        <p:nvSpPr>
          <p:cNvPr id="88" name="Google Shape;88;p6"/>
          <p:cNvSpPr/>
          <p:nvPr/>
        </p:nvSpPr>
        <p:spPr>
          <a:xfrm>
            <a:off x="548640" y="2240280"/>
            <a:ext cx="1783080"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AI-Powered</a:t>
            </a:r>
            <a:endParaRPr b="0" i="0" sz="14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Understanding</a:t>
            </a:r>
            <a:endParaRPr b="0" i="0" sz="1400" u="none" cap="none" strike="noStrike">
              <a:solidFill>
                <a:schemeClr val="dk1"/>
              </a:solidFill>
              <a:latin typeface="Calibri"/>
              <a:ea typeface="Calibri"/>
              <a:cs typeface="Calibri"/>
              <a:sym typeface="Calibri"/>
            </a:endParaRPr>
          </a:p>
        </p:txBody>
      </p:sp>
      <p:sp>
        <p:nvSpPr>
          <p:cNvPr id="89" name="Google Shape;89;p6"/>
          <p:cNvSpPr/>
          <p:nvPr/>
        </p:nvSpPr>
        <p:spPr>
          <a:xfrm>
            <a:off x="548640" y="2834640"/>
            <a:ext cx="1783080" cy="1371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4A3B8"/>
              </a:buClr>
              <a:buSzPts val="1100"/>
              <a:buFont typeface="Calibri"/>
              <a:buNone/>
            </a:pPr>
            <a:r>
              <a:rPr b="0" i="0" lang="en-US" sz="1100" u="none" cap="none" strike="noStrike">
                <a:solidFill>
                  <a:srgbClr val="94A3B8"/>
                </a:solidFill>
                <a:latin typeface="Calibri"/>
                <a:ea typeface="Calibri"/>
                <a:cs typeface="Calibri"/>
                <a:sym typeface="Calibri"/>
              </a:rPr>
              <a:t>Not just object lists — natural language scene descriptions that explain what’s happening</a:t>
            </a:r>
            <a:endParaRPr b="0" i="0" sz="1100" u="none" cap="none" strike="noStrike">
              <a:solidFill>
                <a:schemeClr val="dk1"/>
              </a:solidFill>
              <a:latin typeface="Calibri"/>
              <a:ea typeface="Calibri"/>
              <a:cs typeface="Calibri"/>
              <a:sym typeface="Calibri"/>
            </a:endParaRPr>
          </a:p>
        </p:txBody>
      </p:sp>
      <p:sp>
        <p:nvSpPr>
          <p:cNvPr id="90" name="Google Shape;90;p6"/>
          <p:cNvSpPr/>
          <p:nvPr/>
        </p:nvSpPr>
        <p:spPr>
          <a:xfrm>
            <a:off x="2606040" y="1371600"/>
            <a:ext cx="1965960" cy="3108960"/>
          </a:xfrm>
          <a:prstGeom prst="rect">
            <a:avLst/>
          </a:prstGeom>
          <a:solidFill>
            <a:srgbClr val="2C4A7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6"/>
          <p:cNvSpPr/>
          <p:nvPr/>
        </p:nvSpPr>
        <p:spPr>
          <a:xfrm>
            <a:off x="3246120" y="1554480"/>
            <a:ext cx="548640" cy="548640"/>
          </a:xfrm>
          <a:prstGeom prst="ellipse">
            <a:avLst/>
          </a:prstGeom>
          <a:solidFill>
            <a:srgbClr val="3B82F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92" name="Google Shape;92;p6"/>
          <p:cNvPicPr preferRelativeResize="0"/>
          <p:nvPr/>
        </p:nvPicPr>
        <p:blipFill rotWithShape="1">
          <a:blip r:embed="rId4">
            <a:alphaModFix/>
          </a:blip>
          <a:srcRect b="0" l="0" r="0" t="0"/>
          <a:stretch/>
        </p:blipFill>
        <p:spPr>
          <a:xfrm>
            <a:off x="3364992" y="1673352"/>
            <a:ext cx="320040" cy="320040"/>
          </a:xfrm>
          <a:prstGeom prst="rect">
            <a:avLst/>
          </a:prstGeom>
          <a:noFill/>
          <a:ln>
            <a:noFill/>
          </a:ln>
        </p:spPr>
      </p:pic>
      <p:sp>
        <p:nvSpPr>
          <p:cNvPr id="93" name="Google Shape;93;p6"/>
          <p:cNvSpPr/>
          <p:nvPr/>
        </p:nvSpPr>
        <p:spPr>
          <a:xfrm>
            <a:off x="2697480" y="2240280"/>
            <a:ext cx="1783080"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Interactive</a:t>
            </a:r>
            <a:endParaRPr b="0" i="0" sz="14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Q&amp;A</a:t>
            </a:r>
            <a:endParaRPr b="0" i="0" sz="1400" u="none" cap="none" strike="noStrike">
              <a:solidFill>
                <a:schemeClr val="dk1"/>
              </a:solidFill>
              <a:latin typeface="Calibri"/>
              <a:ea typeface="Calibri"/>
              <a:cs typeface="Calibri"/>
              <a:sym typeface="Calibri"/>
            </a:endParaRPr>
          </a:p>
        </p:txBody>
      </p:sp>
      <p:sp>
        <p:nvSpPr>
          <p:cNvPr id="94" name="Google Shape;94;p6"/>
          <p:cNvSpPr/>
          <p:nvPr/>
        </p:nvSpPr>
        <p:spPr>
          <a:xfrm>
            <a:off x="2697480" y="2834640"/>
            <a:ext cx="1783080" cy="1371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4A3B8"/>
              </a:buClr>
              <a:buSzPts val="1100"/>
              <a:buFont typeface="Calibri"/>
              <a:buNone/>
            </a:pPr>
            <a:r>
              <a:rPr b="0" i="0" lang="en-US" sz="1100" u="none" cap="none" strike="noStrike">
                <a:solidFill>
                  <a:srgbClr val="94A3B8"/>
                </a:solidFill>
                <a:latin typeface="Calibri"/>
                <a:ea typeface="Calibri"/>
                <a:cs typeface="Calibri"/>
                <a:sym typeface="Calibri"/>
              </a:rPr>
              <a:t>Ask follow-up questions about any image and get contextual AI answers</a:t>
            </a:r>
            <a:endParaRPr b="0" i="0" sz="1100" u="none" cap="none" strike="noStrike">
              <a:solidFill>
                <a:schemeClr val="dk1"/>
              </a:solidFill>
              <a:latin typeface="Calibri"/>
              <a:ea typeface="Calibri"/>
              <a:cs typeface="Calibri"/>
              <a:sym typeface="Calibri"/>
            </a:endParaRPr>
          </a:p>
        </p:txBody>
      </p:sp>
      <p:sp>
        <p:nvSpPr>
          <p:cNvPr id="95" name="Google Shape;95;p6"/>
          <p:cNvSpPr/>
          <p:nvPr/>
        </p:nvSpPr>
        <p:spPr>
          <a:xfrm>
            <a:off x="4754880" y="1371600"/>
            <a:ext cx="1965960" cy="3108960"/>
          </a:xfrm>
          <a:prstGeom prst="rect">
            <a:avLst/>
          </a:prstGeom>
          <a:solidFill>
            <a:srgbClr val="2C4A7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6"/>
          <p:cNvSpPr/>
          <p:nvPr/>
        </p:nvSpPr>
        <p:spPr>
          <a:xfrm>
            <a:off x="5394960" y="1554480"/>
            <a:ext cx="548640" cy="548640"/>
          </a:xfrm>
          <a:prstGeom prst="ellipse">
            <a:avLst/>
          </a:prstGeom>
          <a:solidFill>
            <a:srgbClr val="3B82F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97" name="Google Shape;97;p6"/>
          <p:cNvPicPr preferRelativeResize="0"/>
          <p:nvPr/>
        </p:nvPicPr>
        <p:blipFill rotWithShape="1">
          <a:blip r:embed="rId5">
            <a:alphaModFix/>
          </a:blip>
          <a:srcRect b="0" l="0" r="0" t="0"/>
          <a:stretch/>
        </p:blipFill>
        <p:spPr>
          <a:xfrm>
            <a:off x="5513832" y="1673352"/>
            <a:ext cx="320040" cy="320040"/>
          </a:xfrm>
          <a:prstGeom prst="rect">
            <a:avLst/>
          </a:prstGeom>
          <a:noFill/>
          <a:ln>
            <a:noFill/>
          </a:ln>
        </p:spPr>
      </p:pic>
      <p:sp>
        <p:nvSpPr>
          <p:cNvPr id="98" name="Google Shape;98;p6"/>
          <p:cNvSpPr/>
          <p:nvPr/>
        </p:nvSpPr>
        <p:spPr>
          <a:xfrm>
            <a:off x="4846320" y="2240280"/>
            <a:ext cx="1783080"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Audio-First</a:t>
            </a:r>
            <a:endParaRPr b="0" i="0" sz="14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Design</a:t>
            </a:r>
            <a:endParaRPr b="0" i="0" sz="1400" u="none" cap="none" strike="noStrike">
              <a:solidFill>
                <a:schemeClr val="dk1"/>
              </a:solidFill>
              <a:latin typeface="Calibri"/>
              <a:ea typeface="Calibri"/>
              <a:cs typeface="Calibri"/>
              <a:sym typeface="Calibri"/>
            </a:endParaRPr>
          </a:p>
        </p:txBody>
      </p:sp>
      <p:sp>
        <p:nvSpPr>
          <p:cNvPr id="99" name="Google Shape;99;p6"/>
          <p:cNvSpPr/>
          <p:nvPr/>
        </p:nvSpPr>
        <p:spPr>
          <a:xfrm>
            <a:off x="4846320" y="2834640"/>
            <a:ext cx="1783080" cy="1371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4A3B8"/>
              </a:buClr>
              <a:buSzPts val="1100"/>
              <a:buFont typeface="Calibri"/>
              <a:buNone/>
            </a:pPr>
            <a:r>
              <a:rPr b="0" i="0" lang="en-US" sz="1100" u="none" cap="none" strike="noStrike">
                <a:solidFill>
                  <a:srgbClr val="94A3B8"/>
                </a:solidFill>
                <a:latin typeface="Calibri"/>
                <a:ea typeface="Calibri"/>
                <a:cs typeface="Calibri"/>
                <a:sym typeface="Calibri"/>
              </a:rPr>
              <a:t>Every result can be read aloud with customizable speech rate and voice</a:t>
            </a:r>
            <a:endParaRPr b="0" i="0" sz="1100" u="none" cap="none" strike="noStrike">
              <a:solidFill>
                <a:schemeClr val="dk1"/>
              </a:solidFill>
              <a:latin typeface="Calibri"/>
              <a:ea typeface="Calibri"/>
              <a:cs typeface="Calibri"/>
              <a:sym typeface="Calibri"/>
            </a:endParaRPr>
          </a:p>
        </p:txBody>
      </p:sp>
      <p:sp>
        <p:nvSpPr>
          <p:cNvPr id="100" name="Google Shape;100;p6"/>
          <p:cNvSpPr/>
          <p:nvPr/>
        </p:nvSpPr>
        <p:spPr>
          <a:xfrm>
            <a:off x="6903720" y="1371600"/>
            <a:ext cx="1965960" cy="3108960"/>
          </a:xfrm>
          <a:prstGeom prst="rect">
            <a:avLst/>
          </a:prstGeom>
          <a:solidFill>
            <a:srgbClr val="2C4A7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6"/>
          <p:cNvSpPr/>
          <p:nvPr/>
        </p:nvSpPr>
        <p:spPr>
          <a:xfrm>
            <a:off x="7543800" y="1554480"/>
            <a:ext cx="548640" cy="548640"/>
          </a:xfrm>
          <a:prstGeom prst="ellipse">
            <a:avLst/>
          </a:prstGeom>
          <a:solidFill>
            <a:srgbClr val="3B82F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02" name="Google Shape;102;p6"/>
          <p:cNvPicPr preferRelativeResize="0"/>
          <p:nvPr/>
        </p:nvPicPr>
        <p:blipFill rotWithShape="1">
          <a:blip r:embed="rId6">
            <a:alphaModFix/>
          </a:blip>
          <a:srcRect b="0" l="0" r="0" t="0"/>
          <a:stretch/>
        </p:blipFill>
        <p:spPr>
          <a:xfrm>
            <a:off x="7662672" y="1673352"/>
            <a:ext cx="320040" cy="320040"/>
          </a:xfrm>
          <a:prstGeom prst="rect">
            <a:avLst/>
          </a:prstGeom>
          <a:noFill/>
          <a:ln>
            <a:noFill/>
          </a:ln>
        </p:spPr>
      </p:pic>
      <p:sp>
        <p:nvSpPr>
          <p:cNvPr id="103" name="Google Shape;103;p6"/>
          <p:cNvSpPr/>
          <p:nvPr/>
        </p:nvSpPr>
        <p:spPr>
          <a:xfrm>
            <a:off x="6995160" y="2240280"/>
            <a:ext cx="1783080"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Accessible</a:t>
            </a:r>
            <a:endParaRPr b="0" i="0" sz="14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by Default</a:t>
            </a:r>
            <a:endParaRPr b="0" i="0" sz="1400" u="none" cap="none" strike="noStrike">
              <a:solidFill>
                <a:schemeClr val="dk1"/>
              </a:solidFill>
              <a:latin typeface="Calibri"/>
              <a:ea typeface="Calibri"/>
              <a:cs typeface="Calibri"/>
              <a:sym typeface="Calibri"/>
            </a:endParaRPr>
          </a:p>
        </p:txBody>
      </p:sp>
      <p:sp>
        <p:nvSpPr>
          <p:cNvPr id="104" name="Google Shape;104;p6"/>
          <p:cNvSpPr/>
          <p:nvPr/>
        </p:nvSpPr>
        <p:spPr>
          <a:xfrm>
            <a:off x="6995160" y="2834640"/>
            <a:ext cx="1783080" cy="1371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4A3B8"/>
              </a:buClr>
              <a:buSzPts val="1100"/>
              <a:buFont typeface="Calibri"/>
              <a:buNone/>
            </a:pPr>
            <a:r>
              <a:rPr b="0" i="0" lang="en-US" sz="1100" u="none" cap="none" strike="noStrike">
                <a:solidFill>
                  <a:srgbClr val="94A3B8"/>
                </a:solidFill>
                <a:latin typeface="Calibri"/>
                <a:ea typeface="Calibri"/>
                <a:cs typeface="Calibri"/>
                <a:sym typeface="Calibri"/>
              </a:rPr>
              <a:t>Built WCAG 2.1 AA compliant from day one — keyboard nav, screen readers, ARIA</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9" name="Shape 109"/>
        <p:cNvGrpSpPr/>
        <p:nvPr/>
      </p:nvGrpSpPr>
      <p:grpSpPr>
        <a:xfrm>
          <a:off x="0" y="0"/>
          <a:ext cx="0" cy="0"/>
          <a:chOff x="0" y="0"/>
          <a:chExt cx="0" cy="0"/>
        </a:xfrm>
      </p:grpSpPr>
      <p:sp>
        <p:nvSpPr>
          <p:cNvPr id="110" name="Google Shape;110;p7"/>
          <p:cNvSpPr/>
          <p:nvPr/>
        </p:nvSpPr>
        <p:spPr>
          <a:xfrm>
            <a:off x="0" y="0"/>
            <a:ext cx="9144000" cy="54864"/>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7"/>
          <p:cNvSpPr/>
          <p:nvPr/>
        </p:nvSpPr>
        <p:spPr>
          <a:xfrm>
            <a:off x="731520" y="320040"/>
            <a:ext cx="768096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4A"/>
              </a:buClr>
              <a:buSzPts val="3200"/>
              <a:buFont typeface="Georgia"/>
              <a:buNone/>
            </a:pPr>
            <a:r>
              <a:rPr b="1" i="0" lang="en-US" sz="3200" u="none" cap="none" strike="noStrike">
                <a:solidFill>
                  <a:srgbClr val="1B2A4A"/>
                </a:solidFill>
                <a:latin typeface="Georgia"/>
                <a:ea typeface="Georgia"/>
                <a:cs typeface="Georgia"/>
                <a:sym typeface="Georgia"/>
              </a:rPr>
              <a:t>Complete Tech Stack</a:t>
            </a:r>
            <a:endParaRPr b="0" i="0" sz="3200" u="none" cap="none" strike="noStrike">
              <a:solidFill>
                <a:schemeClr val="dk1"/>
              </a:solidFill>
              <a:latin typeface="Calibri"/>
              <a:ea typeface="Calibri"/>
              <a:cs typeface="Calibri"/>
              <a:sym typeface="Calibri"/>
            </a:endParaRPr>
          </a:p>
        </p:txBody>
      </p:sp>
      <p:sp>
        <p:nvSpPr>
          <p:cNvPr id="112" name="Google Shape;112;p7"/>
          <p:cNvSpPr/>
          <p:nvPr/>
        </p:nvSpPr>
        <p:spPr>
          <a:xfrm>
            <a:off x="457200" y="1143000"/>
            <a:ext cx="1965960" cy="3566160"/>
          </a:xfrm>
          <a:prstGeom prst="rect">
            <a:avLst/>
          </a:prstGeom>
          <a:solidFill>
            <a:srgbClr val="F4F6FA"/>
          </a:solidFill>
          <a:ln>
            <a:noFill/>
          </a:ln>
          <a:effectLst>
            <a:outerShdw blurRad="508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7"/>
          <p:cNvSpPr/>
          <p:nvPr/>
        </p:nvSpPr>
        <p:spPr>
          <a:xfrm>
            <a:off x="457200" y="1143000"/>
            <a:ext cx="1965960" cy="365760"/>
          </a:xfrm>
          <a:prstGeom prst="rect">
            <a:avLst/>
          </a:prstGeom>
          <a:solidFill>
            <a:srgbClr val="3B82F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7"/>
          <p:cNvSpPr/>
          <p:nvPr/>
        </p:nvSpPr>
        <p:spPr>
          <a:xfrm>
            <a:off x="457200" y="1143000"/>
            <a:ext cx="196596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Frontend</a:t>
            </a:r>
            <a:endParaRPr b="0" i="0" sz="1400" u="none" cap="none" strike="noStrike">
              <a:solidFill>
                <a:schemeClr val="dk1"/>
              </a:solidFill>
              <a:latin typeface="Calibri"/>
              <a:ea typeface="Calibri"/>
              <a:cs typeface="Calibri"/>
              <a:sym typeface="Calibri"/>
            </a:endParaRPr>
          </a:p>
        </p:txBody>
      </p:sp>
      <p:sp>
        <p:nvSpPr>
          <p:cNvPr id="115" name="Google Shape;115;p7"/>
          <p:cNvSpPr/>
          <p:nvPr/>
        </p:nvSpPr>
        <p:spPr>
          <a:xfrm>
            <a:off x="594360" y="1691640"/>
            <a:ext cx="169164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93B"/>
              </a:buClr>
              <a:buSzPts val="1200"/>
              <a:buFont typeface="Calibri"/>
              <a:buNone/>
            </a:pPr>
            <a:r>
              <a:rPr b="0" i="0" lang="en-US" sz="1200" u="none" cap="none" strike="noStrike">
                <a:solidFill>
                  <a:srgbClr val="1E293B"/>
                </a:solidFill>
                <a:latin typeface="Calibri"/>
                <a:ea typeface="Calibri"/>
                <a:cs typeface="Calibri"/>
                <a:sym typeface="Calibri"/>
              </a:rPr>
              <a:t>React.js 18.2</a:t>
            </a:r>
            <a:endParaRPr b="0" i="0" sz="1200" u="none" cap="none" strike="noStrike">
              <a:solidFill>
                <a:schemeClr val="dk1"/>
              </a:solidFill>
              <a:latin typeface="Calibri"/>
              <a:ea typeface="Calibri"/>
              <a:cs typeface="Calibri"/>
              <a:sym typeface="Calibri"/>
            </a:endParaRPr>
          </a:p>
        </p:txBody>
      </p:sp>
      <p:sp>
        <p:nvSpPr>
          <p:cNvPr id="116" name="Google Shape;116;p7"/>
          <p:cNvSpPr/>
          <p:nvPr/>
        </p:nvSpPr>
        <p:spPr>
          <a:xfrm>
            <a:off x="594360" y="2331720"/>
            <a:ext cx="169164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93B"/>
              </a:buClr>
              <a:buSzPts val="1200"/>
              <a:buFont typeface="Calibri"/>
              <a:buNone/>
            </a:pPr>
            <a:r>
              <a:rPr b="0" i="0" lang="en-US" sz="1200" u="none" cap="none" strike="noStrike">
                <a:solidFill>
                  <a:srgbClr val="1E293B"/>
                </a:solidFill>
                <a:latin typeface="Calibri"/>
                <a:ea typeface="Calibri"/>
                <a:cs typeface="Calibri"/>
                <a:sym typeface="Calibri"/>
              </a:rPr>
              <a:t>Tailwind CSS 3.4</a:t>
            </a:r>
            <a:endParaRPr b="0" i="0" sz="1200" u="none" cap="none" strike="noStrike">
              <a:solidFill>
                <a:schemeClr val="dk1"/>
              </a:solidFill>
              <a:latin typeface="Calibri"/>
              <a:ea typeface="Calibri"/>
              <a:cs typeface="Calibri"/>
              <a:sym typeface="Calibri"/>
            </a:endParaRPr>
          </a:p>
        </p:txBody>
      </p:sp>
      <p:sp>
        <p:nvSpPr>
          <p:cNvPr id="117" name="Google Shape;117;p7"/>
          <p:cNvSpPr/>
          <p:nvPr/>
        </p:nvSpPr>
        <p:spPr>
          <a:xfrm>
            <a:off x="594360" y="2971800"/>
            <a:ext cx="169164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93B"/>
              </a:buClr>
              <a:buSzPts val="1200"/>
              <a:buFont typeface="Calibri"/>
              <a:buNone/>
            </a:pPr>
            <a:r>
              <a:rPr b="0" i="0" lang="en-US" sz="1200" u="none" cap="none" strike="noStrike">
                <a:solidFill>
                  <a:srgbClr val="1E293B"/>
                </a:solidFill>
                <a:latin typeface="Calibri"/>
                <a:ea typeface="Calibri"/>
                <a:cs typeface="Calibri"/>
                <a:sym typeface="Calibri"/>
              </a:rPr>
              <a:t>React Router 6.22</a:t>
            </a:r>
            <a:endParaRPr b="0" i="0" sz="1200" u="none" cap="none" strike="noStrike">
              <a:solidFill>
                <a:schemeClr val="dk1"/>
              </a:solidFill>
              <a:latin typeface="Calibri"/>
              <a:ea typeface="Calibri"/>
              <a:cs typeface="Calibri"/>
              <a:sym typeface="Calibri"/>
            </a:endParaRPr>
          </a:p>
        </p:txBody>
      </p:sp>
      <p:sp>
        <p:nvSpPr>
          <p:cNvPr id="118" name="Google Shape;118;p7"/>
          <p:cNvSpPr/>
          <p:nvPr/>
        </p:nvSpPr>
        <p:spPr>
          <a:xfrm>
            <a:off x="594360" y="3611880"/>
            <a:ext cx="169164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93B"/>
              </a:buClr>
              <a:buSzPts val="1200"/>
              <a:buFont typeface="Calibri"/>
              <a:buNone/>
            </a:pPr>
            <a:r>
              <a:rPr b="0" i="0" lang="en-US" sz="1200" u="none" cap="none" strike="noStrike">
                <a:solidFill>
                  <a:srgbClr val="1E293B"/>
                </a:solidFill>
                <a:latin typeface="Calibri"/>
                <a:ea typeface="Calibri"/>
                <a:cs typeface="Calibri"/>
                <a:sym typeface="Calibri"/>
              </a:rPr>
              <a:t>Web Speech API</a:t>
            </a:r>
            <a:endParaRPr b="0" i="0" sz="1200" u="none" cap="none" strike="noStrike">
              <a:solidFill>
                <a:schemeClr val="dk1"/>
              </a:solidFill>
              <a:latin typeface="Calibri"/>
              <a:ea typeface="Calibri"/>
              <a:cs typeface="Calibri"/>
              <a:sym typeface="Calibri"/>
            </a:endParaRPr>
          </a:p>
        </p:txBody>
      </p:sp>
      <p:sp>
        <p:nvSpPr>
          <p:cNvPr id="119" name="Google Shape;119;p7"/>
          <p:cNvSpPr/>
          <p:nvPr/>
        </p:nvSpPr>
        <p:spPr>
          <a:xfrm>
            <a:off x="2606040" y="1143000"/>
            <a:ext cx="1965960" cy="3566160"/>
          </a:xfrm>
          <a:prstGeom prst="rect">
            <a:avLst/>
          </a:prstGeom>
          <a:solidFill>
            <a:srgbClr val="F4F6FA"/>
          </a:solidFill>
          <a:ln>
            <a:noFill/>
          </a:ln>
          <a:effectLst>
            <a:outerShdw blurRad="508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7"/>
          <p:cNvSpPr/>
          <p:nvPr/>
        </p:nvSpPr>
        <p:spPr>
          <a:xfrm>
            <a:off x="2606040" y="1143000"/>
            <a:ext cx="1965960" cy="365760"/>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7"/>
          <p:cNvSpPr/>
          <p:nvPr/>
        </p:nvSpPr>
        <p:spPr>
          <a:xfrm>
            <a:off x="2606040" y="1143000"/>
            <a:ext cx="196596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Backend</a:t>
            </a:r>
            <a:endParaRPr b="0" i="0" sz="1400" u="none" cap="none" strike="noStrike">
              <a:solidFill>
                <a:schemeClr val="dk1"/>
              </a:solidFill>
              <a:latin typeface="Calibri"/>
              <a:ea typeface="Calibri"/>
              <a:cs typeface="Calibri"/>
              <a:sym typeface="Calibri"/>
            </a:endParaRPr>
          </a:p>
        </p:txBody>
      </p:sp>
      <p:sp>
        <p:nvSpPr>
          <p:cNvPr id="122" name="Google Shape;122;p7"/>
          <p:cNvSpPr/>
          <p:nvPr/>
        </p:nvSpPr>
        <p:spPr>
          <a:xfrm>
            <a:off x="2743200" y="1691640"/>
            <a:ext cx="169164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93B"/>
              </a:buClr>
              <a:buSzPts val="1200"/>
              <a:buFont typeface="Calibri"/>
              <a:buNone/>
            </a:pPr>
            <a:r>
              <a:rPr b="0" i="0" lang="en-US" sz="1200" u="none" cap="none" strike="noStrike">
                <a:solidFill>
                  <a:srgbClr val="1E293B"/>
                </a:solidFill>
                <a:latin typeface="Calibri"/>
                <a:ea typeface="Calibri"/>
                <a:cs typeface="Calibri"/>
                <a:sym typeface="Calibri"/>
              </a:rPr>
              <a:t>Python FastAPI</a:t>
            </a:r>
            <a:endParaRPr b="0" i="0" sz="1200" u="none" cap="none" strike="noStrike">
              <a:solidFill>
                <a:schemeClr val="dk1"/>
              </a:solidFill>
              <a:latin typeface="Calibri"/>
              <a:ea typeface="Calibri"/>
              <a:cs typeface="Calibri"/>
              <a:sym typeface="Calibri"/>
            </a:endParaRPr>
          </a:p>
        </p:txBody>
      </p:sp>
      <p:sp>
        <p:nvSpPr>
          <p:cNvPr id="123" name="Google Shape;123;p7"/>
          <p:cNvSpPr/>
          <p:nvPr/>
        </p:nvSpPr>
        <p:spPr>
          <a:xfrm>
            <a:off x="2743200" y="2331720"/>
            <a:ext cx="169164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93B"/>
              </a:buClr>
              <a:buSzPts val="1200"/>
              <a:buFont typeface="Calibri"/>
              <a:buNone/>
            </a:pPr>
            <a:r>
              <a:rPr b="0" i="0" lang="en-US" sz="1200" u="none" cap="none" strike="noStrike">
                <a:solidFill>
                  <a:srgbClr val="1E293B"/>
                </a:solidFill>
                <a:latin typeface="Calibri"/>
                <a:ea typeface="Calibri"/>
                <a:cs typeface="Calibri"/>
                <a:sym typeface="Calibri"/>
              </a:rPr>
              <a:t>SQLAlchemy ORM</a:t>
            </a:r>
            <a:endParaRPr b="0" i="0" sz="1200" u="none" cap="none" strike="noStrike">
              <a:solidFill>
                <a:schemeClr val="dk1"/>
              </a:solidFill>
              <a:latin typeface="Calibri"/>
              <a:ea typeface="Calibri"/>
              <a:cs typeface="Calibri"/>
              <a:sym typeface="Calibri"/>
            </a:endParaRPr>
          </a:p>
        </p:txBody>
      </p:sp>
      <p:sp>
        <p:nvSpPr>
          <p:cNvPr id="124" name="Google Shape;124;p7"/>
          <p:cNvSpPr/>
          <p:nvPr/>
        </p:nvSpPr>
        <p:spPr>
          <a:xfrm>
            <a:off x="2743200" y="2971800"/>
            <a:ext cx="169164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93B"/>
              </a:buClr>
              <a:buSzPts val="1200"/>
              <a:buFont typeface="Calibri"/>
              <a:buNone/>
            </a:pPr>
            <a:r>
              <a:rPr b="0" i="0" lang="en-US" sz="1200" u="none" cap="none" strike="noStrike">
                <a:solidFill>
                  <a:srgbClr val="1E293B"/>
                </a:solidFill>
                <a:latin typeface="Calibri"/>
                <a:ea typeface="Calibri"/>
                <a:cs typeface="Calibri"/>
                <a:sym typeface="Calibri"/>
              </a:rPr>
              <a:t>Alembic migrations</a:t>
            </a:r>
            <a:endParaRPr b="0" i="0" sz="1200" u="none" cap="none" strike="noStrike">
              <a:solidFill>
                <a:schemeClr val="dk1"/>
              </a:solidFill>
              <a:latin typeface="Calibri"/>
              <a:ea typeface="Calibri"/>
              <a:cs typeface="Calibri"/>
              <a:sym typeface="Calibri"/>
            </a:endParaRPr>
          </a:p>
        </p:txBody>
      </p:sp>
      <p:sp>
        <p:nvSpPr>
          <p:cNvPr id="125" name="Google Shape;125;p7"/>
          <p:cNvSpPr/>
          <p:nvPr/>
        </p:nvSpPr>
        <p:spPr>
          <a:xfrm>
            <a:off x="2743200" y="3611880"/>
            <a:ext cx="169164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93B"/>
              </a:buClr>
              <a:buSzPts val="1200"/>
              <a:buFont typeface="Calibri"/>
              <a:buNone/>
            </a:pPr>
            <a:r>
              <a:rPr b="0" i="0" lang="en-US" sz="1200" u="none" cap="none" strike="noStrike">
                <a:solidFill>
                  <a:srgbClr val="1E293B"/>
                </a:solidFill>
                <a:latin typeface="Calibri"/>
                <a:ea typeface="Calibri"/>
                <a:cs typeface="Calibri"/>
                <a:sym typeface="Calibri"/>
              </a:rPr>
              <a:t>Pydantic validation</a:t>
            </a:r>
            <a:endParaRPr b="0" i="0" sz="1200" u="none" cap="none" strike="noStrike">
              <a:solidFill>
                <a:schemeClr val="dk1"/>
              </a:solidFill>
              <a:latin typeface="Calibri"/>
              <a:ea typeface="Calibri"/>
              <a:cs typeface="Calibri"/>
              <a:sym typeface="Calibri"/>
            </a:endParaRPr>
          </a:p>
        </p:txBody>
      </p:sp>
      <p:sp>
        <p:nvSpPr>
          <p:cNvPr id="126" name="Google Shape;126;p7"/>
          <p:cNvSpPr/>
          <p:nvPr/>
        </p:nvSpPr>
        <p:spPr>
          <a:xfrm>
            <a:off x="4754880" y="1143000"/>
            <a:ext cx="1965960" cy="3566160"/>
          </a:xfrm>
          <a:prstGeom prst="rect">
            <a:avLst/>
          </a:prstGeom>
          <a:solidFill>
            <a:srgbClr val="F4F6FA"/>
          </a:solidFill>
          <a:ln>
            <a:noFill/>
          </a:ln>
          <a:effectLst>
            <a:outerShdw blurRad="508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7"/>
          <p:cNvSpPr/>
          <p:nvPr/>
        </p:nvSpPr>
        <p:spPr>
          <a:xfrm>
            <a:off x="4754880" y="1143000"/>
            <a:ext cx="1965960" cy="365760"/>
          </a:xfrm>
          <a:prstGeom prst="rect">
            <a:avLst/>
          </a:prstGeom>
          <a:solidFill>
            <a:srgbClr val="2C4A7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7"/>
          <p:cNvSpPr/>
          <p:nvPr/>
        </p:nvSpPr>
        <p:spPr>
          <a:xfrm>
            <a:off x="4754880" y="1143000"/>
            <a:ext cx="196596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AI / ML</a:t>
            </a:r>
            <a:endParaRPr b="0" i="0" sz="1400" u="none" cap="none" strike="noStrike">
              <a:solidFill>
                <a:schemeClr val="dk1"/>
              </a:solidFill>
              <a:latin typeface="Calibri"/>
              <a:ea typeface="Calibri"/>
              <a:cs typeface="Calibri"/>
              <a:sym typeface="Calibri"/>
            </a:endParaRPr>
          </a:p>
        </p:txBody>
      </p:sp>
      <p:sp>
        <p:nvSpPr>
          <p:cNvPr id="129" name="Google Shape;129;p7"/>
          <p:cNvSpPr/>
          <p:nvPr/>
        </p:nvSpPr>
        <p:spPr>
          <a:xfrm>
            <a:off x="4892040" y="1691640"/>
            <a:ext cx="169164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93B"/>
              </a:buClr>
              <a:buSzPts val="1200"/>
              <a:buFont typeface="Calibri"/>
              <a:buNone/>
            </a:pPr>
            <a:r>
              <a:rPr b="0" i="0" lang="en-US" sz="1200" u="none" cap="none" strike="noStrike">
                <a:solidFill>
                  <a:srgbClr val="1E293B"/>
                </a:solidFill>
                <a:latin typeface="Calibri"/>
                <a:ea typeface="Calibri"/>
                <a:cs typeface="Calibri"/>
                <a:sym typeface="Calibri"/>
              </a:rPr>
              <a:t>Groq Cloud API</a:t>
            </a:r>
            <a:endParaRPr b="0" i="0" sz="1200" u="none" cap="none" strike="noStrike">
              <a:solidFill>
                <a:schemeClr val="dk1"/>
              </a:solidFill>
              <a:latin typeface="Calibri"/>
              <a:ea typeface="Calibri"/>
              <a:cs typeface="Calibri"/>
              <a:sym typeface="Calibri"/>
            </a:endParaRPr>
          </a:p>
        </p:txBody>
      </p:sp>
      <p:sp>
        <p:nvSpPr>
          <p:cNvPr id="130" name="Google Shape;130;p7"/>
          <p:cNvSpPr/>
          <p:nvPr/>
        </p:nvSpPr>
        <p:spPr>
          <a:xfrm>
            <a:off x="4892040" y="2331720"/>
            <a:ext cx="169164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93B"/>
              </a:buClr>
              <a:buSzPts val="1200"/>
              <a:buFont typeface="Calibri"/>
              <a:buNone/>
            </a:pPr>
            <a:r>
              <a:rPr b="0" i="0" lang="en-US" sz="1200" u="none" cap="none" strike="noStrike">
                <a:solidFill>
                  <a:srgbClr val="1E293B"/>
                </a:solidFill>
                <a:latin typeface="Calibri"/>
                <a:ea typeface="Calibri"/>
                <a:cs typeface="Calibri"/>
                <a:sym typeface="Calibri"/>
              </a:rPr>
              <a:t>Llama 4 Scout 17B</a:t>
            </a:r>
            <a:endParaRPr b="0" i="0" sz="1200" u="none" cap="none" strike="noStrike">
              <a:solidFill>
                <a:schemeClr val="dk1"/>
              </a:solidFill>
              <a:latin typeface="Calibri"/>
              <a:ea typeface="Calibri"/>
              <a:cs typeface="Calibri"/>
              <a:sym typeface="Calibri"/>
            </a:endParaRPr>
          </a:p>
        </p:txBody>
      </p:sp>
      <p:sp>
        <p:nvSpPr>
          <p:cNvPr id="131" name="Google Shape;131;p7"/>
          <p:cNvSpPr/>
          <p:nvPr/>
        </p:nvSpPr>
        <p:spPr>
          <a:xfrm>
            <a:off x="4892040" y="2971800"/>
            <a:ext cx="169164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93B"/>
              </a:buClr>
              <a:buSzPts val="1200"/>
              <a:buFont typeface="Calibri"/>
              <a:buNone/>
            </a:pPr>
            <a:r>
              <a:rPr b="0" i="0" lang="en-US" sz="1200" u="none" cap="none" strike="noStrike">
                <a:solidFill>
                  <a:srgbClr val="1E293B"/>
                </a:solidFill>
                <a:latin typeface="Calibri"/>
                <a:ea typeface="Calibri"/>
                <a:cs typeface="Calibri"/>
                <a:sym typeface="Calibri"/>
              </a:rPr>
              <a:t>Vision-language model</a:t>
            </a:r>
            <a:endParaRPr b="0" i="0" sz="1200" u="none" cap="none" strike="noStrike">
              <a:solidFill>
                <a:schemeClr val="dk1"/>
              </a:solidFill>
              <a:latin typeface="Calibri"/>
              <a:ea typeface="Calibri"/>
              <a:cs typeface="Calibri"/>
              <a:sym typeface="Calibri"/>
            </a:endParaRPr>
          </a:p>
        </p:txBody>
      </p:sp>
      <p:sp>
        <p:nvSpPr>
          <p:cNvPr id="132" name="Google Shape;132;p7"/>
          <p:cNvSpPr/>
          <p:nvPr/>
        </p:nvSpPr>
        <p:spPr>
          <a:xfrm>
            <a:off x="4892040" y="3611880"/>
            <a:ext cx="169164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93B"/>
              </a:buClr>
              <a:buSzPts val="1200"/>
              <a:buFont typeface="Calibri"/>
              <a:buNone/>
            </a:pPr>
            <a:r>
              <a:rPr b="0" i="0" lang="en-US" sz="1200" u="none" cap="none" strike="noStrike">
                <a:solidFill>
                  <a:srgbClr val="1E293B"/>
                </a:solidFill>
                <a:latin typeface="Calibri"/>
                <a:ea typeface="Calibri"/>
                <a:cs typeface="Calibri"/>
                <a:sym typeface="Calibri"/>
              </a:rPr>
              <a:t>Pillow (image processing)</a:t>
            </a:r>
            <a:endParaRPr b="0" i="0" sz="1200" u="none" cap="none" strike="noStrike">
              <a:solidFill>
                <a:schemeClr val="dk1"/>
              </a:solidFill>
              <a:latin typeface="Calibri"/>
              <a:ea typeface="Calibri"/>
              <a:cs typeface="Calibri"/>
              <a:sym typeface="Calibri"/>
            </a:endParaRPr>
          </a:p>
        </p:txBody>
      </p:sp>
      <p:sp>
        <p:nvSpPr>
          <p:cNvPr id="133" name="Google Shape;133;p7"/>
          <p:cNvSpPr/>
          <p:nvPr/>
        </p:nvSpPr>
        <p:spPr>
          <a:xfrm>
            <a:off x="6903720" y="1143000"/>
            <a:ext cx="1965960" cy="3566160"/>
          </a:xfrm>
          <a:prstGeom prst="rect">
            <a:avLst/>
          </a:prstGeom>
          <a:solidFill>
            <a:srgbClr val="F4F6FA"/>
          </a:solidFill>
          <a:ln>
            <a:noFill/>
          </a:ln>
          <a:effectLst>
            <a:outerShdw blurRad="508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7"/>
          <p:cNvSpPr/>
          <p:nvPr/>
        </p:nvSpPr>
        <p:spPr>
          <a:xfrm>
            <a:off x="6903720" y="1143000"/>
            <a:ext cx="1965960" cy="365760"/>
          </a:xfrm>
          <a:prstGeom prst="rect">
            <a:avLst/>
          </a:prstGeom>
          <a:solidFill>
            <a:srgbClr val="3B82F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7"/>
          <p:cNvSpPr/>
          <p:nvPr/>
        </p:nvSpPr>
        <p:spPr>
          <a:xfrm>
            <a:off x="6903720" y="1143000"/>
            <a:ext cx="196596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Infrastructure</a:t>
            </a:r>
            <a:endParaRPr b="0" i="0" sz="1400" u="none" cap="none" strike="noStrike">
              <a:solidFill>
                <a:schemeClr val="dk1"/>
              </a:solidFill>
              <a:latin typeface="Calibri"/>
              <a:ea typeface="Calibri"/>
              <a:cs typeface="Calibri"/>
              <a:sym typeface="Calibri"/>
            </a:endParaRPr>
          </a:p>
        </p:txBody>
      </p:sp>
      <p:sp>
        <p:nvSpPr>
          <p:cNvPr id="136" name="Google Shape;136;p7"/>
          <p:cNvSpPr/>
          <p:nvPr/>
        </p:nvSpPr>
        <p:spPr>
          <a:xfrm>
            <a:off x="7040880" y="1691640"/>
            <a:ext cx="169164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93B"/>
              </a:buClr>
              <a:buSzPts val="1200"/>
              <a:buFont typeface="Calibri"/>
              <a:buNone/>
            </a:pPr>
            <a:r>
              <a:rPr b="0" i="0" lang="en-US" sz="1200" u="none" cap="none" strike="noStrike">
                <a:solidFill>
                  <a:srgbClr val="1E293B"/>
                </a:solidFill>
                <a:latin typeface="Calibri"/>
                <a:ea typeface="Calibri"/>
                <a:cs typeface="Calibri"/>
                <a:sym typeface="Calibri"/>
              </a:rPr>
              <a:t>PostgreSQL 16</a:t>
            </a:r>
            <a:endParaRPr b="0" i="0" sz="1200" u="none" cap="none" strike="noStrike">
              <a:solidFill>
                <a:schemeClr val="dk1"/>
              </a:solidFill>
              <a:latin typeface="Calibri"/>
              <a:ea typeface="Calibri"/>
              <a:cs typeface="Calibri"/>
              <a:sym typeface="Calibri"/>
            </a:endParaRPr>
          </a:p>
        </p:txBody>
      </p:sp>
      <p:sp>
        <p:nvSpPr>
          <p:cNvPr id="137" name="Google Shape;137;p7"/>
          <p:cNvSpPr/>
          <p:nvPr/>
        </p:nvSpPr>
        <p:spPr>
          <a:xfrm>
            <a:off x="7040880" y="2331720"/>
            <a:ext cx="169164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93B"/>
              </a:buClr>
              <a:buSzPts val="1200"/>
              <a:buFont typeface="Calibri"/>
              <a:buNone/>
            </a:pPr>
            <a:r>
              <a:rPr b="0" i="0" lang="en-US" sz="1200" u="none" cap="none" strike="noStrike">
                <a:solidFill>
                  <a:srgbClr val="1E293B"/>
                </a:solidFill>
                <a:latin typeface="Calibri"/>
                <a:ea typeface="Calibri"/>
                <a:cs typeface="Calibri"/>
                <a:sym typeface="Calibri"/>
              </a:rPr>
              <a:t>Redis 7</a:t>
            </a:r>
            <a:endParaRPr b="0" i="0" sz="1200" u="none" cap="none" strike="noStrike">
              <a:solidFill>
                <a:schemeClr val="dk1"/>
              </a:solidFill>
              <a:latin typeface="Calibri"/>
              <a:ea typeface="Calibri"/>
              <a:cs typeface="Calibri"/>
              <a:sym typeface="Calibri"/>
            </a:endParaRPr>
          </a:p>
        </p:txBody>
      </p:sp>
      <p:sp>
        <p:nvSpPr>
          <p:cNvPr id="138" name="Google Shape;138;p7"/>
          <p:cNvSpPr/>
          <p:nvPr/>
        </p:nvSpPr>
        <p:spPr>
          <a:xfrm>
            <a:off x="7040880" y="2971800"/>
            <a:ext cx="169164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93B"/>
              </a:buClr>
              <a:buSzPts val="1200"/>
              <a:buFont typeface="Calibri"/>
              <a:buNone/>
            </a:pPr>
            <a:r>
              <a:rPr b="0" i="0" lang="en-US" sz="1200" u="none" cap="none" strike="noStrike">
                <a:solidFill>
                  <a:srgbClr val="1E293B"/>
                </a:solidFill>
                <a:latin typeface="Calibri"/>
                <a:ea typeface="Calibri"/>
                <a:cs typeface="Calibri"/>
                <a:sym typeface="Calibri"/>
              </a:rPr>
              <a:t>Docker Compose</a:t>
            </a:r>
            <a:endParaRPr b="0" i="0" sz="1200" u="none" cap="none" strike="noStrike">
              <a:solidFill>
                <a:schemeClr val="dk1"/>
              </a:solidFill>
              <a:latin typeface="Calibri"/>
              <a:ea typeface="Calibri"/>
              <a:cs typeface="Calibri"/>
              <a:sym typeface="Calibri"/>
            </a:endParaRPr>
          </a:p>
        </p:txBody>
      </p:sp>
      <p:sp>
        <p:nvSpPr>
          <p:cNvPr id="139" name="Google Shape;139;p7"/>
          <p:cNvSpPr/>
          <p:nvPr/>
        </p:nvSpPr>
        <p:spPr>
          <a:xfrm>
            <a:off x="7040880" y="3611880"/>
            <a:ext cx="169164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93B"/>
              </a:buClr>
              <a:buSzPts val="1200"/>
              <a:buFont typeface="Calibri"/>
              <a:buNone/>
            </a:pPr>
            <a:r>
              <a:rPr b="0" i="0" lang="en-US" sz="1200" u="none" cap="none" strike="noStrike">
                <a:solidFill>
                  <a:srgbClr val="1E293B"/>
                </a:solidFill>
                <a:latin typeface="Calibri"/>
                <a:ea typeface="Calibri"/>
                <a:cs typeface="Calibri"/>
                <a:sym typeface="Calibri"/>
              </a:rPr>
              <a:t>Render (deployment)</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4" name="Shape 144"/>
        <p:cNvGrpSpPr/>
        <p:nvPr/>
      </p:nvGrpSpPr>
      <p:grpSpPr>
        <a:xfrm>
          <a:off x="0" y="0"/>
          <a:ext cx="0" cy="0"/>
          <a:chOff x="0" y="0"/>
          <a:chExt cx="0" cy="0"/>
        </a:xfrm>
      </p:grpSpPr>
      <p:sp>
        <p:nvSpPr>
          <p:cNvPr id="145" name="Google Shape;145;p8"/>
          <p:cNvSpPr/>
          <p:nvPr/>
        </p:nvSpPr>
        <p:spPr>
          <a:xfrm>
            <a:off x="0" y="0"/>
            <a:ext cx="9144000" cy="54864"/>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8"/>
          <p:cNvSpPr/>
          <p:nvPr/>
        </p:nvSpPr>
        <p:spPr>
          <a:xfrm>
            <a:off x="731520" y="320040"/>
            <a:ext cx="768096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4A"/>
              </a:buClr>
              <a:buSzPts val="3200"/>
              <a:buFont typeface="Georgia"/>
              <a:buNone/>
            </a:pPr>
            <a:r>
              <a:rPr b="1" i="0" lang="en-US" sz="3200" u="none" cap="none" strike="noStrike">
                <a:solidFill>
                  <a:srgbClr val="1B2A4A"/>
                </a:solidFill>
                <a:latin typeface="Georgia"/>
                <a:ea typeface="Georgia"/>
                <a:cs typeface="Georgia"/>
                <a:sym typeface="Georgia"/>
              </a:rPr>
              <a:t>System Architecture</a:t>
            </a:r>
            <a:endParaRPr b="0" i="0" sz="3200" u="none" cap="none" strike="noStrike">
              <a:solidFill>
                <a:schemeClr val="dk1"/>
              </a:solidFill>
              <a:latin typeface="Calibri"/>
              <a:ea typeface="Calibri"/>
              <a:cs typeface="Calibri"/>
              <a:sym typeface="Calibri"/>
            </a:endParaRPr>
          </a:p>
        </p:txBody>
      </p:sp>
      <p:sp>
        <p:nvSpPr>
          <p:cNvPr id="147" name="Google Shape;147;p8"/>
          <p:cNvSpPr/>
          <p:nvPr/>
        </p:nvSpPr>
        <p:spPr>
          <a:xfrm>
            <a:off x="274320" y="1371600"/>
            <a:ext cx="1645920" cy="2926080"/>
          </a:xfrm>
          <a:prstGeom prst="rect">
            <a:avLst/>
          </a:prstGeom>
          <a:solidFill>
            <a:srgbClr val="1B2A4A"/>
          </a:solidFill>
          <a:ln>
            <a:noFill/>
          </a:ln>
          <a:effectLst>
            <a:outerShdw blurRad="508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48" name="Google Shape;148;p8"/>
          <p:cNvPicPr preferRelativeResize="0"/>
          <p:nvPr/>
        </p:nvPicPr>
        <p:blipFill rotWithShape="1">
          <a:blip r:embed="rId3">
            <a:alphaModFix/>
          </a:blip>
          <a:srcRect b="0" l="0" r="0" t="0"/>
          <a:stretch/>
        </p:blipFill>
        <p:spPr>
          <a:xfrm>
            <a:off x="868680" y="1645920"/>
            <a:ext cx="411480" cy="411480"/>
          </a:xfrm>
          <a:prstGeom prst="rect">
            <a:avLst/>
          </a:prstGeom>
          <a:noFill/>
          <a:ln>
            <a:noFill/>
          </a:ln>
        </p:spPr>
      </p:pic>
      <p:sp>
        <p:nvSpPr>
          <p:cNvPr id="149" name="Google Shape;149;p8"/>
          <p:cNvSpPr/>
          <p:nvPr/>
        </p:nvSpPr>
        <p:spPr>
          <a:xfrm>
            <a:off x="274320" y="2194560"/>
            <a:ext cx="1645920"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React</a:t>
            </a:r>
            <a:endParaRPr b="0" i="0" sz="14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Frontend</a:t>
            </a:r>
            <a:endParaRPr b="0" i="0" sz="1400" u="none" cap="none" strike="noStrike">
              <a:solidFill>
                <a:schemeClr val="dk1"/>
              </a:solidFill>
              <a:latin typeface="Calibri"/>
              <a:ea typeface="Calibri"/>
              <a:cs typeface="Calibri"/>
              <a:sym typeface="Calibri"/>
            </a:endParaRPr>
          </a:p>
        </p:txBody>
      </p:sp>
      <p:sp>
        <p:nvSpPr>
          <p:cNvPr id="150" name="Google Shape;150;p8"/>
          <p:cNvSpPr/>
          <p:nvPr/>
        </p:nvSpPr>
        <p:spPr>
          <a:xfrm>
            <a:off x="320040" y="2834640"/>
            <a:ext cx="1554480" cy="10972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4A3B8"/>
              </a:buClr>
              <a:buSzPts val="950"/>
              <a:buFont typeface="Calibri"/>
              <a:buNone/>
            </a:pPr>
            <a:r>
              <a:rPr b="0" i="0" lang="en-US" sz="950" u="none" cap="none" strike="noStrike">
                <a:solidFill>
                  <a:srgbClr val="94A3B8"/>
                </a:solidFill>
                <a:latin typeface="Calibri"/>
                <a:ea typeface="Calibri"/>
                <a:cs typeface="Calibri"/>
                <a:sym typeface="Calibri"/>
              </a:rPr>
              <a:t>Tailwind CSS</a:t>
            </a:r>
            <a:endParaRPr b="0" i="0" sz="9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94A3B8"/>
              </a:buClr>
              <a:buSzPts val="950"/>
              <a:buFont typeface="Calibri"/>
              <a:buNone/>
            </a:pPr>
            <a:r>
              <a:rPr b="0" i="0" lang="en-US" sz="950" u="none" cap="none" strike="noStrike">
                <a:solidFill>
                  <a:srgbClr val="94A3B8"/>
                </a:solidFill>
                <a:latin typeface="Calibri"/>
                <a:ea typeface="Calibri"/>
                <a:cs typeface="Calibri"/>
                <a:sym typeface="Calibri"/>
              </a:rPr>
              <a:t>Web Speech API</a:t>
            </a:r>
            <a:endParaRPr b="0" i="0" sz="9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94A3B8"/>
              </a:buClr>
              <a:buSzPts val="950"/>
              <a:buFont typeface="Calibri"/>
              <a:buNone/>
            </a:pPr>
            <a:r>
              <a:rPr b="0" i="0" lang="en-US" sz="950" u="none" cap="none" strike="noStrike">
                <a:solidFill>
                  <a:srgbClr val="94A3B8"/>
                </a:solidFill>
                <a:latin typeface="Calibri"/>
                <a:ea typeface="Calibri"/>
                <a:cs typeface="Calibri"/>
                <a:sym typeface="Calibri"/>
              </a:rPr>
              <a:t>React Router</a:t>
            </a:r>
            <a:endParaRPr b="0" i="0" sz="9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94A3B8"/>
              </a:buClr>
              <a:buSzPts val="950"/>
              <a:buFont typeface="Calibri"/>
              <a:buNone/>
            </a:pPr>
            <a:r>
              <a:rPr b="0" i="0" lang="en-US" sz="950" u="none" cap="none" strike="noStrike">
                <a:solidFill>
                  <a:srgbClr val="94A3B8"/>
                </a:solidFill>
                <a:latin typeface="Calibri"/>
                <a:ea typeface="Calibri"/>
                <a:cs typeface="Calibri"/>
                <a:sym typeface="Calibri"/>
              </a:rPr>
              <a:t>WCAG 2.1 AA</a:t>
            </a:r>
            <a:endParaRPr b="0" i="0" sz="950" u="none" cap="none" strike="noStrike">
              <a:solidFill>
                <a:schemeClr val="dk1"/>
              </a:solidFill>
              <a:latin typeface="Calibri"/>
              <a:ea typeface="Calibri"/>
              <a:cs typeface="Calibri"/>
              <a:sym typeface="Calibri"/>
            </a:endParaRPr>
          </a:p>
        </p:txBody>
      </p:sp>
      <p:pic>
        <p:nvPicPr>
          <p:cNvPr descr="preencoded.png" id="151" name="Google Shape;151;p8"/>
          <p:cNvPicPr preferRelativeResize="0"/>
          <p:nvPr/>
        </p:nvPicPr>
        <p:blipFill rotWithShape="1">
          <a:blip r:embed="rId4">
            <a:alphaModFix/>
          </a:blip>
          <a:srcRect b="0" l="0" r="0" t="0"/>
          <a:stretch/>
        </p:blipFill>
        <p:spPr>
          <a:xfrm>
            <a:off x="2011680" y="2560320"/>
            <a:ext cx="228600" cy="228600"/>
          </a:xfrm>
          <a:prstGeom prst="rect">
            <a:avLst/>
          </a:prstGeom>
          <a:noFill/>
          <a:ln>
            <a:noFill/>
          </a:ln>
        </p:spPr>
      </p:pic>
      <p:sp>
        <p:nvSpPr>
          <p:cNvPr id="152" name="Google Shape;152;p8"/>
          <p:cNvSpPr/>
          <p:nvPr/>
        </p:nvSpPr>
        <p:spPr>
          <a:xfrm>
            <a:off x="2377440" y="1371600"/>
            <a:ext cx="1828800" cy="2926080"/>
          </a:xfrm>
          <a:prstGeom prst="rect">
            <a:avLst/>
          </a:prstGeom>
          <a:solidFill>
            <a:srgbClr val="F4F6FA"/>
          </a:solidFill>
          <a:ln cap="flat" cmpd="sng" w="25400">
            <a:solidFill>
              <a:srgbClr val="3B82F6"/>
            </a:solidFill>
            <a:prstDash val="solid"/>
            <a:round/>
            <a:headEnd len="sm" w="sm" type="none"/>
            <a:tailEnd len="sm" w="sm" type="none"/>
          </a:ln>
          <a:effectLst>
            <a:outerShdw blurRad="508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53" name="Google Shape;153;p8"/>
          <p:cNvPicPr preferRelativeResize="0"/>
          <p:nvPr/>
        </p:nvPicPr>
        <p:blipFill rotWithShape="1">
          <a:blip r:embed="rId5">
            <a:alphaModFix/>
          </a:blip>
          <a:srcRect b="0" l="0" r="0" t="0"/>
          <a:stretch/>
        </p:blipFill>
        <p:spPr>
          <a:xfrm>
            <a:off x="2377440" y="1371600"/>
            <a:ext cx="320040" cy="320040"/>
          </a:xfrm>
          <a:prstGeom prst="rect">
            <a:avLst/>
          </a:prstGeom>
          <a:noFill/>
          <a:ln>
            <a:noFill/>
          </a:ln>
        </p:spPr>
      </p:pic>
      <p:sp>
        <p:nvSpPr>
          <p:cNvPr id="154" name="Google Shape;154;p8"/>
          <p:cNvSpPr/>
          <p:nvPr/>
        </p:nvSpPr>
        <p:spPr>
          <a:xfrm>
            <a:off x="2377440" y="1417320"/>
            <a:ext cx="182880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B82F6"/>
              </a:buClr>
              <a:buSzPts val="1300"/>
              <a:buFont typeface="Calibri"/>
              <a:buNone/>
            </a:pPr>
            <a:r>
              <a:rPr b="1" i="0" lang="en-US" sz="1300" u="none" cap="none" strike="noStrike">
                <a:solidFill>
                  <a:srgbClr val="3B82F6"/>
                </a:solidFill>
                <a:latin typeface="Calibri"/>
                <a:ea typeface="Calibri"/>
                <a:cs typeface="Calibri"/>
                <a:sym typeface="Calibri"/>
              </a:rPr>
              <a:t>FastAPI</a:t>
            </a:r>
            <a:endParaRPr b="0" i="0" sz="1300" u="none" cap="none" strike="noStrike">
              <a:solidFill>
                <a:schemeClr val="dk1"/>
              </a:solidFill>
              <a:latin typeface="Calibri"/>
              <a:ea typeface="Calibri"/>
              <a:cs typeface="Calibri"/>
              <a:sym typeface="Calibri"/>
            </a:endParaRPr>
          </a:p>
        </p:txBody>
      </p:sp>
      <p:sp>
        <p:nvSpPr>
          <p:cNvPr id="155" name="Google Shape;155;p8"/>
          <p:cNvSpPr/>
          <p:nvPr/>
        </p:nvSpPr>
        <p:spPr>
          <a:xfrm>
            <a:off x="2468880" y="1828800"/>
            <a:ext cx="1645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850"/>
              <a:buFont typeface="Consolas"/>
              <a:buNone/>
            </a:pPr>
            <a:r>
              <a:rPr b="0" i="0" lang="en-US" sz="850" u="none" cap="none" strike="noStrike">
                <a:solidFill>
                  <a:srgbClr val="1E293B"/>
                </a:solidFill>
                <a:latin typeface="Consolas"/>
                <a:ea typeface="Consolas"/>
                <a:cs typeface="Consolas"/>
                <a:sym typeface="Consolas"/>
              </a:rPr>
              <a:t>POST /auth/register</a:t>
            </a:r>
            <a:endParaRPr b="0" i="0" sz="850" u="none" cap="none" strike="noStrike">
              <a:solidFill>
                <a:schemeClr val="dk1"/>
              </a:solidFill>
              <a:latin typeface="Calibri"/>
              <a:ea typeface="Calibri"/>
              <a:cs typeface="Calibri"/>
              <a:sym typeface="Calibri"/>
            </a:endParaRPr>
          </a:p>
        </p:txBody>
      </p:sp>
      <p:sp>
        <p:nvSpPr>
          <p:cNvPr id="156" name="Google Shape;156;p8"/>
          <p:cNvSpPr/>
          <p:nvPr/>
        </p:nvSpPr>
        <p:spPr>
          <a:xfrm>
            <a:off x="2468880" y="2148840"/>
            <a:ext cx="1645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850"/>
              <a:buFont typeface="Consolas"/>
              <a:buNone/>
            </a:pPr>
            <a:r>
              <a:rPr b="0" i="0" lang="en-US" sz="850" u="none" cap="none" strike="noStrike">
                <a:solidFill>
                  <a:srgbClr val="1E293B"/>
                </a:solidFill>
                <a:latin typeface="Consolas"/>
                <a:ea typeface="Consolas"/>
                <a:cs typeface="Consolas"/>
                <a:sym typeface="Consolas"/>
              </a:rPr>
              <a:t>POST /auth/login</a:t>
            </a:r>
            <a:endParaRPr b="0" i="0" sz="850" u="none" cap="none" strike="noStrike">
              <a:solidFill>
                <a:schemeClr val="dk1"/>
              </a:solidFill>
              <a:latin typeface="Calibri"/>
              <a:ea typeface="Calibri"/>
              <a:cs typeface="Calibri"/>
              <a:sym typeface="Calibri"/>
            </a:endParaRPr>
          </a:p>
        </p:txBody>
      </p:sp>
      <p:sp>
        <p:nvSpPr>
          <p:cNvPr id="157" name="Google Shape;157;p8"/>
          <p:cNvSpPr/>
          <p:nvPr/>
        </p:nvSpPr>
        <p:spPr>
          <a:xfrm>
            <a:off x="2468880" y="2468880"/>
            <a:ext cx="1645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850"/>
              <a:buFont typeface="Consolas"/>
              <a:buNone/>
            </a:pPr>
            <a:r>
              <a:rPr b="0" i="0" lang="en-US" sz="850" u="none" cap="none" strike="noStrike">
                <a:solidFill>
                  <a:srgbClr val="1E293B"/>
                </a:solidFill>
                <a:latin typeface="Consolas"/>
                <a:ea typeface="Consolas"/>
                <a:cs typeface="Consolas"/>
                <a:sym typeface="Consolas"/>
              </a:rPr>
              <a:t>GET /users/profile</a:t>
            </a:r>
            <a:endParaRPr b="0" i="0" sz="850" u="none" cap="none" strike="noStrike">
              <a:solidFill>
                <a:schemeClr val="dk1"/>
              </a:solidFill>
              <a:latin typeface="Calibri"/>
              <a:ea typeface="Calibri"/>
              <a:cs typeface="Calibri"/>
              <a:sym typeface="Calibri"/>
            </a:endParaRPr>
          </a:p>
        </p:txBody>
      </p:sp>
      <p:sp>
        <p:nvSpPr>
          <p:cNvPr id="158" name="Google Shape;158;p8"/>
          <p:cNvSpPr/>
          <p:nvPr/>
        </p:nvSpPr>
        <p:spPr>
          <a:xfrm>
            <a:off x="2468880" y="2788920"/>
            <a:ext cx="1645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850"/>
              <a:buFont typeface="Consolas"/>
              <a:buNone/>
            </a:pPr>
            <a:r>
              <a:rPr b="0" i="0" lang="en-US" sz="850" u="none" cap="none" strike="noStrike">
                <a:solidFill>
                  <a:srgbClr val="1E293B"/>
                </a:solidFill>
                <a:latin typeface="Consolas"/>
                <a:ea typeface="Consolas"/>
                <a:cs typeface="Consolas"/>
                <a:sym typeface="Consolas"/>
              </a:rPr>
              <a:t>PUT /users/profile</a:t>
            </a:r>
            <a:endParaRPr b="0" i="0" sz="850" u="none" cap="none" strike="noStrike">
              <a:solidFill>
                <a:schemeClr val="dk1"/>
              </a:solidFill>
              <a:latin typeface="Calibri"/>
              <a:ea typeface="Calibri"/>
              <a:cs typeface="Calibri"/>
              <a:sym typeface="Calibri"/>
            </a:endParaRPr>
          </a:p>
        </p:txBody>
      </p:sp>
      <p:sp>
        <p:nvSpPr>
          <p:cNvPr id="159" name="Google Shape;159;p8"/>
          <p:cNvSpPr/>
          <p:nvPr/>
        </p:nvSpPr>
        <p:spPr>
          <a:xfrm>
            <a:off x="2468880" y="3108960"/>
            <a:ext cx="1645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850"/>
              <a:buFont typeface="Consolas"/>
              <a:buNone/>
            </a:pPr>
            <a:r>
              <a:rPr b="0" i="0" lang="en-US" sz="850" u="none" cap="none" strike="noStrike">
                <a:solidFill>
                  <a:srgbClr val="1E293B"/>
                </a:solidFill>
                <a:latin typeface="Consolas"/>
                <a:ea typeface="Consolas"/>
                <a:cs typeface="Consolas"/>
                <a:sym typeface="Consolas"/>
              </a:rPr>
              <a:t>POST /images/analyze</a:t>
            </a:r>
            <a:endParaRPr b="0" i="0" sz="850" u="none" cap="none" strike="noStrike">
              <a:solidFill>
                <a:schemeClr val="dk1"/>
              </a:solidFill>
              <a:latin typeface="Calibri"/>
              <a:ea typeface="Calibri"/>
              <a:cs typeface="Calibri"/>
              <a:sym typeface="Calibri"/>
            </a:endParaRPr>
          </a:p>
        </p:txBody>
      </p:sp>
      <p:sp>
        <p:nvSpPr>
          <p:cNvPr id="160" name="Google Shape;160;p8"/>
          <p:cNvSpPr/>
          <p:nvPr/>
        </p:nvSpPr>
        <p:spPr>
          <a:xfrm>
            <a:off x="2468880" y="3429000"/>
            <a:ext cx="1645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850"/>
              <a:buFont typeface="Consolas"/>
              <a:buNone/>
            </a:pPr>
            <a:r>
              <a:rPr b="0" i="0" lang="en-US" sz="850" u="none" cap="none" strike="noStrike">
                <a:solidFill>
                  <a:srgbClr val="1E293B"/>
                </a:solidFill>
                <a:latin typeface="Consolas"/>
                <a:ea typeface="Consolas"/>
                <a:cs typeface="Consolas"/>
                <a:sym typeface="Consolas"/>
              </a:rPr>
              <a:t>POST /images/ask</a:t>
            </a:r>
            <a:endParaRPr b="0" i="0" sz="850" u="none" cap="none" strike="noStrike">
              <a:solidFill>
                <a:schemeClr val="dk1"/>
              </a:solidFill>
              <a:latin typeface="Calibri"/>
              <a:ea typeface="Calibri"/>
              <a:cs typeface="Calibri"/>
              <a:sym typeface="Calibri"/>
            </a:endParaRPr>
          </a:p>
        </p:txBody>
      </p:sp>
      <p:sp>
        <p:nvSpPr>
          <p:cNvPr id="161" name="Google Shape;161;p8"/>
          <p:cNvSpPr/>
          <p:nvPr/>
        </p:nvSpPr>
        <p:spPr>
          <a:xfrm>
            <a:off x="2468880" y="3749040"/>
            <a:ext cx="1645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850"/>
              <a:buFont typeface="Consolas"/>
              <a:buNone/>
            </a:pPr>
            <a:r>
              <a:rPr b="0" i="0" lang="en-US" sz="850" u="none" cap="none" strike="noStrike">
                <a:solidFill>
                  <a:srgbClr val="1E293B"/>
                </a:solidFill>
                <a:latin typeface="Consolas"/>
                <a:ea typeface="Consolas"/>
                <a:cs typeface="Consolas"/>
                <a:sym typeface="Consolas"/>
              </a:rPr>
              <a:t>GET /images/history</a:t>
            </a:r>
            <a:endParaRPr b="0" i="0" sz="850" u="none" cap="none" strike="noStrike">
              <a:solidFill>
                <a:schemeClr val="dk1"/>
              </a:solidFill>
              <a:latin typeface="Calibri"/>
              <a:ea typeface="Calibri"/>
              <a:cs typeface="Calibri"/>
              <a:sym typeface="Calibri"/>
            </a:endParaRPr>
          </a:p>
        </p:txBody>
      </p:sp>
      <p:pic>
        <p:nvPicPr>
          <p:cNvPr descr="preencoded.png" id="162" name="Google Shape;162;p8"/>
          <p:cNvPicPr preferRelativeResize="0"/>
          <p:nvPr/>
        </p:nvPicPr>
        <p:blipFill rotWithShape="1">
          <a:blip r:embed="rId4">
            <a:alphaModFix/>
          </a:blip>
          <a:srcRect b="0" l="0" r="0" t="0"/>
          <a:stretch/>
        </p:blipFill>
        <p:spPr>
          <a:xfrm>
            <a:off x="4297680" y="2560320"/>
            <a:ext cx="228600" cy="228600"/>
          </a:xfrm>
          <a:prstGeom prst="rect">
            <a:avLst/>
          </a:prstGeom>
          <a:noFill/>
          <a:ln>
            <a:noFill/>
          </a:ln>
        </p:spPr>
      </p:pic>
      <p:sp>
        <p:nvSpPr>
          <p:cNvPr id="163" name="Google Shape;163;p8"/>
          <p:cNvSpPr/>
          <p:nvPr/>
        </p:nvSpPr>
        <p:spPr>
          <a:xfrm>
            <a:off x="4663440" y="1371600"/>
            <a:ext cx="2011680" cy="1280160"/>
          </a:xfrm>
          <a:prstGeom prst="rect">
            <a:avLst/>
          </a:prstGeom>
          <a:solidFill>
            <a:srgbClr val="F4F6FA"/>
          </a:solidFill>
          <a:ln>
            <a:noFill/>
          </a:ln>
          <a:effectLst>
            <a:outerShdw blurRad="508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64" name="Google Shape;164;p8"/>
          <p:cNvPicPr preferRelativeResize="0"/>
          <p:nvPr/>
        </p:nvPicPr>
        <p:blipFill rotWithShape="1">
          <a:blip r:embed="rId6">
            <a:alphaModFix/>
          </a:blip>
          <a:srcRect b="0" l="0" r="0" t="0"/>
          <a:stretch/>
        </p:blipFill>
        <p:spPr>
          <a:xfrm>
            <a:off x="4846320" y="1508760"/>
            <a:ext cx="274320" cy="274320"/>
          </a:xfrm>
          <a:prstGeom prst="rect">
            <a:avLst/>
          </a:prstGeom>
          <a:noFill/>
          <a:ln>
            <a:noFill/>
          </a:ln>
        </p:spPr>
      </p:pic>
      <p:sp>
        <p:nvSpPr>
          <p:cNvPr id="165" name="Google Shape;165;p8"/>
          <p:cNvSpPr/>
          <p:nvPr/>
        </p:nvSpPr>
        <p:spPr>
          <a:xfrm>
            <a:off x="5166360" y="1463040"/>
            <a:ext cx="13716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200"/>
              <a:buFont typeface="Calibri"/>
              <a:buNone/>
            </a:pPr>
            <a:r>
              <a:rPr b="1" i="0" lang="en-US" sz="1200" u="none" cap="none" strike="noStrike">
                <a:solidFill>
                  <a:srgbClr val="1E293B"/>
                </a:solidFill>
                <a:latin typeface="Calibri"/>
                <a:ea typeface="Calibri"/>
                <a:cs typeface="Calibri"/>
                <a:sym typeface="Calibri"/>
              </a:rPr>
              <a:t>Groq Cloud API</a:t>
            </a:r>
            <a:endParaRPr b="0" i="0" sz="1200" u="none" cap="none" strike="noStrike">
              <a:solidFill>
                <a:schemeClr val="dk1"/>
              </a:solidFill>
              <a:latin typeface="Calibri"/>
              <a:ea typeface="Calibri"/>
              <a:cs typeface="Calibri"/>
              <a:sym typeface="Calibri"/>
            </a:endParaRPr>
          </a:p>
        </p:txBody>
      </p:sp>
      <p:sp>
        <p:nvSpPr>
          <p:cNvPr id="166" name="Google Shape;166;p8"/>
          <p:cNvSpPr/>
          <p:nvPr/>
        </p:nvSpPr>
        <p:spPr>
          <a:xfrm>
            <a:off x="5166360" y="1737360"/>
            <a:ext cx="13716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950"/>
              <a:buFont typeface="Calibri"/>
              <a:buNone/>
            </a:pPr>
            <a:r>
              <a:rPr b="0" i="0" lang="en-US" sz="950" u="none" cap="none" strike="noStrike">
                <a:solidFill>
                  <a:srgbClr val="64748B"/>
                </a:solidFill>
                <a:latin typeface="Calibri"/>
                <a:ea typeface="Calibri"/>
                <a:cs typeface="Calibri"/>
                <a:sym typeface="Calibri"/>
              </a:rPr>
              <a:t>Llama 4 Scout 17B</a:t>
            </a:r>
            <a:endParaRPr b="0" i="0" sz="9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4748B"/>
              </a:buClr>
              <a:buSzPts val="950"/>
              <a:buFont typeface="Calibri"/>
              <a:buNone/>
            </a:pPr>
            <a:r>
              <a:rPr b="0" i="0" lang="en-US" sz="950" u="none" cap="none" strike="noStrike">
                <a:solidFill>
                  <a:srgbClr val="64748B"/>
                </a:solidFill>
                <a:latin typeface="Calibri"/>
                <a:ea typeface="Calibri"/>
                <a:cs typeface="Calibri"/>
                <a:sym typeface="Calibri"/>
              </a:rPr>
              <a:t>Vision-Language Model</a:t>
            </a:r>
            <a:endParaRPr b="0" i="0" sz="950" u="none" cap="none" strike="noStrike">
              <a:solidFill>
                <a:schemeClr val="dk1"/>
              </a:solidFill>
              <a:latin typeface="Calibri"/>
              <a:ea typeface="Calibri"/>
              <a:cs typeface="Calibri"/>
              <a:sym typeface="Calibri"/>
            </a:endParaRPr>
          </a:p>
        </p:txBody>
      </p:sp>
      <p:sp>
        <p:nvSpPr>
          <p:cNvPr id="167" name="Google Shape;167;p8"/>
          <p:cNvSpPr/>
          <p:nvPr/>
        </p:nvSpPr>
        <p:spPr>
          <a:xfrm>
            <a:off x="4846320" y="2148840"/>
            <a:ext cx="16459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B82F6"/>
              </a:buClr>
              <a:buSzPts val="900"/>
              <a:buFont typeface="Calibri"/>
              <a:buNone/>
            </a:pPr>
            <a:r>
              <a:rPr b="0" i="0" lang="en-US" sz="900" u="none" cap="none" strike="noStrike">
                <a:solidFill>
                  <a:srgbClr val="3B82F6"/>
                </a:solidFill>
                <a:latin typeface="Calibri"/>
                <a:ea typeface="Calibri"/>
                <a:cs typeface="Calibri"/>
                <a:sym typeface="Calibri"/>
              </a:rPr>
              <a:t>Scene captioning</a:t>
            </a:r>
            <a:endParaRPr b="0" i="0" sz="9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3B82F6"/>
              </a:buClr>
              <a:buSzPts val="900"/>
              <a:buFont typeface="Calibri"/>
              <a:buNone/>
            </a:pPr>
            <a:r>
              <a:rPr b="0" i="0" lang="en-US" sz="900" u="none" cap="none" strike="noStrike">
                <a:solidFill>
                  <a:srgbClr val="3B82F6"/>
                </a:solidFill>
                <a:latin typeface="Calibri"/>
                <a:ea typeface="Calibri"/>
                <a:cs typeface="Calibri"/>
                <a:sym typeface="Calibri"/>
              </a:rPr>
              <a:t>Object detection</a:t>
            </a:r>
            <a:endParaRPr b="0" i="0" sz="9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3B82F6"/>
              </a:buClr>
              <a:buSzPts val="900"/>
              <a:buFont typeface="Calibri"/>
              <a:buNone/>
            </a:pPr>
            <a:r>
              <a:rPr b="0" i="0" lang="en-US" sz="900" u="none" cap="none" strike="noStrike">
                <a:solidFill>
                  <a:srgbClr val="3B82F6"/>
                </a:solidFill>
                <a:latin typeface="Calibri"/>
                <a:ea typeface="Calibri"/>
                <a:cs typeface="Calibri"/>
                <a:sym typeface="Calibri"/>
              </a:rPr>
              <a:t>Visual Q&amp;A</a:t>
            </a:r>
            <a:endParaRPr b="0" i="0" sz="900" u="none" cap="none" strike="noStrike">
              <a:solidFill>
                <a:schemeClr val="dk1"/>
              </a:solidFill>
              <a:latin typeface="Calibri"/>
              <a:ea typeface="Calibri"/>
              <a:cs typeface="Calibri"/>
              <a:sym typeface="Calibri"/>
            </a:endParaRPr>
          </a:p>
        </p:txBody>
      </p:sp>
      <p:sp>
        <p:nvSpPr>
          <p:cNvPr id="168" name="Google Shape;168;p8"/>
          <p:cNvSpPr/>
          <p:nvPr/>
        </p:nvSpPr>
        <p:spPr>
          <a:xfrm>
            <a:off x="4663440" y="2834640"/>
            <a:ext cx="2011680" cy="1463040"/>
          </a:xfrm>
          <a:prstGeom prst="rect">
            <a:avLst/>
          </a:prstGeom>
          <a:solidFill>
            <a:srgbClr val="F4F6FA"/>
          </a:solidFill>
          <a:ln>
            <a:noFill/>
          </a:ln>
          <a:effectLst>
            <a:outerShdw blurRad="508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69" name="Google Shape;169;p8"/>
          <p:cNvPicPr preferRelativeResize="0"/>
          <p:nvPr/>
        </p:nvPicPr>
        <p:blipFill rotWithShape="1">
          <a:blip r:embed="rId7">
            <a:alphaModFix/>
          </a:blip>
          <a:srcRect b="0" l="0" r="0" t="0"/>
          <a:stretch/>
        </p:blipFill>
        <p:spPr>
          <a:xfrm>
            <a:off x="5440680" y="2926080"/>
            <a:ext cx="320040" cy="320040"/>
          </a:xfrm>
          <a:prstGeom prst="rect">
            <a:avLst/>
          </a:prstGeom>
          <a:noFill/>
          <a:ln>
            <a:noFill/>
          </a:ln>
        </p:spPr>
      </p:pic>
      <p:sp>
        <p:nvSpPr>
          <p:cNvPr id="170" name="Google Shape;170;p8"/>
          <p:cNvSpPr/>
          <p:nvPr/>
        </p:nvSpPr>
        <p:spPr>
          <a:xfrm>
            <a:off x="4663440" y="3291840"/>
            <a:ext cx="2011680"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93B"/>
              </a:buClr>
              <a:buSzPts val="1200"/>
              <a:buFont typeface="Calibri"/>
              <a:buNone/>
            </a:pPr>
            <a:r>
              <a:rPr b="1" i="0" lang="en-US" sz="1200" u="none" cap="none" strike="noStrike">
                <a:solidFill>
                  <a:srgbClr val="1E293B"/>
                </a:solidFill>
                <a:latin typeface="Calibri"/>
                <a:ea typeface="Calibri"/>
                <a:cs typeface="Calibri"/>
                <a:sym typeface="Calibri"/>
              </a:rPr>
              <a:t>PostgreSQL</a:t>
            </a:r>
            <a:endParaRPr b="0" i="0" sz="1200" u="none" cap="none" strike="noStrike">
              <a:solidFill>
                <a:schemeClr val="dk1"/>
              </a:solidFill>
              <a:latin typeface="Calibri"/>
              <a:ea typeface="Calibri"/>
              <a:cs typeface="Calibri"/>
              <a:sym typeface="Calibri"/>
            </a:endParaRPr>
          </a:p>
        </p:txBody>
      </p:sp>
      <p:sp>
        <p:nvSpPr>
          <p:cNvPr id="171" name="Google Shape;171;p8"/>
          <p:cNvSpPr/>
          <p:nvPr/>
        </p:nvSpPr>
        <p:spPr>
          <a:xfrm>
            <a:off x="4663440" y="3520440"/>
            <a:ext cx="201168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950"/>
              <a:buFont typeface="Calibri"/>
              <a:buNone/>
            </a:pPr>
            <a:r>
              <a:rPr b="0" i="0" lang="en-US" sz="950" u="none" cap="none" strike="noStrike">
                <a:solidFill>
                  <a:srgbClr val="64748B"/>
                </a:solidFill>
                <a:latin typeface="Calibri"/>
                <a:ea typeface="Calibri"/>
                <a:cs typeface="Calibri"/>
                <a:sym typeface="Calibri"/>
              </a:rPr>
              <a:t>users table</a:t>
            </a:r>
            <a:endParaRPr b="0" i="0" sz="9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64748B"/>
              </a:buClr>
              <a:buSzPts val="950"/>
              <a:buFont typeface="Calibri"/>
              <a:buNone/>
            </a:pPr>
            <a:r>
              <a:rPr b="0" i="0" lang="en-US" sz="950" u="none" cap="none" strike="noStrike">
                <a:solidFill>
                  <a:srgbClr val="64748B"/>
                </a:solidFill>
                <a:latin typeface="Calibri"/>
                <a:ea typeface="Calibri"/>
                <a:cs typeface="Calibri"/>
                <a:sym typeface="Calibri"/>
              </a:rPr>
              <a:t>analysis_history (JSONB)</a:t>
            </a:r>
            <a:endParaRPr b="0" i="0" sz="950" u="none" cap="none" strike="noStrike">
              <a:solidFill>
                <a:schemeClr val="dk1"/>
              </a:solidFill>
              <a:latin typeface="Calibri"/>
              <a:ea typeface="Calibri"/>
              <a:cs typeface="Calibri"/>
              <a:sym typeface="Calibri"/>
            </a:endParaRPr>
          </a:p>
        </p:txBody>
      </p:sp>
      <p:sp>
        <p:nvSpPr>
          <p:cNvPr id="172" name="Google Shape;172;p8"/>
          <p:cNvSpPr/>
          <p:nvPr/>
        </p:nvSpPr>
        <p:spPr>
          <a:xfrm>
            <a:off x="7040880" y="1371600"/>
            <a:ext cx="1645920" cy="2926080"/>
          </a:xfrm>
          <a:prstGeom prst="rect">
            <a:avLst/>
          </a:prstGeom>
          <a:solidFill>
            <a:srgbClr val="1B2A4A"/>
          </a:solidFill>
          <a:ln>
            <a:noFill/>
          </a:ln>
          <a:effectLst>
            <a:outerShdw blurRad="508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73" name="Google Shape;173;p8"/>
          <p:cNvPicPr preferRelativeResize="0"/>
          <p:nvPr/>
        </p:nvPicPr>
        <p:blipFill rotWithShape="1">
          <a:blip r:embed="rId8">
            <a:alphaModFix/>
          </a:blip>
          <a:srcRect b="0" l="0" r="0" t="0"/>
          <a:stretch/>
        </p:blipFill>
        <p:spPr>
          <a:xfrm>
            <a:off x="7635240" y="1645920"/>
            <a:ext cx="411480" cy="411480"/>
          </a:xfrm>
          <a:prstGeom prst="rect">
            <a:avLst/>
          </a:prstGeom>
          <a:noFill/>
          <a:ln>
            <a:noFill/>
          </a:ln>
        </p:spPr>
      </p:pic>
      <p:sp>
        <p:nvSpPr>
          <p:cNvPr id="174" name="Google Shape;174;p8"/>
          <p:cNvSpPr/>
          <p:nvPr/>
        </p:nvSpPr>
        <p:spPr>
          <a:xfrm>
            <a:off x="7040880" y="2194560"/>
            <a:ext cx="1645920"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Render</a:t>
            </a:r>
            <a:endParaRPr b="0" i="0" sz="14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Deployment</a:t>
            </a:r>
            <a:endParaRPr b="0" i="0" sz="1400" u="none" cap="none" strike="noStrike">
              <a:solidFill>
                <a:schemeClr val="dk1"/>
              </a:solidFill>
              <a:latin typeface="Calibri"/>
              <a:ea typeface="Calibri"/>
              <a:cs typeface="Calibri"/>
              <a:sym typeface="Calibri"/>
            </a:endParaRPr>
          </a:p>
        </p:txBody>
      </p:sp>
      <p:sp>
        <p:nvSpPr>
          <p:cNvPr id="175" name="Google Shape;175;p8"/>
          <p:cNvSpPr/>
          <p:nvPr/>
        </p:nvSpPr>
        <p:spPr>
          <a:xfrm>
            <a:off x="7086600" y="2834640"/>
            <a:ext cx="1554480" cy="10972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4A3B8"/>
              </a:buClr>
              <a:buSzPts val="950"/>
              <a:buFont typeface="Calibri"/>
              <a:buNone/>
            </a:pPr>
            <a:r>
              <a:rPr b="0" i="0" lang="en-US" sz="950" u="none" cap="none" strike="noStrike">
                <a:solidFill>
                  <a:srgbClr val="94A3B8"/>
                </a:solidFill>
                <a:latin typeface="Calibri"/>
                <a:ea typeface="Calibri"/>
                <a:cs typeface="Calibri"/>
                <a:sym typeface="Calibri"/>
              </a:rPr>
              <a:t>Docker container</a:t>
            </a:r>
            <a:endParaRPr b="0" i="0" sz="9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94A3B8"/>
              </a:buClr>
              <a:buSzPts val="950"/>
              <a:buFont typeface="Calibri"/>
              <a:buNone/>
            </a:pPr>
            <a:r>
              <a:rPr b="0" i="0" lang="en-US" sz="950" u="none" cap="none" strike="noStrike">
                <a:solidFill>
                  <a:srgbClr val="94A3B8"/>
                </a:solidFill>
                <a:latin typeface="Calibri"/>
                <a:ea typeface="Calibri"/>
                <a:cs typeface="Calibri"/>
                <a:sym typeface="Calibri"/>
              </a:rPr>
              <a:t>Static site hosting</a:t>
            </a:r>
            <a:endParaRPr b="0" i="0" sz="9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94A3B8"/>
              </a:buClr>
              <a:buSzPts val="950"/>
              <a:buFont typeface="Calibri"/>
              <a:buNone/>
            </a:pPr>
            <a:r>
              <a:rPr b="0" i="0" lang="en-US" sz="950" u="none" cap="none" strike="noStrike">
                <a:solidFill>
                  <a:srgbClr val="94A3B8"/>
                </a:solidFill>
                <a:latin typeface="Calibri"/>
                <a:ea typeface="Calibri"/>
                <a:cs typeface="Calibri"/>
                <a:sym typeface="Calibri"/>
              </a:rPr>
              <a:t>PostgreSQL add-on</a:t>
            </a:r>
            <a:endParaRPr b="0" i="0" sz="9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94A3B8"/>
              </a:buClr>
              <a:buSzPts val="950"/>
              <a:buFont typeface="Calibri"/>
              <a:buNone/>
            </a:pPr>
            <a:r>
              <a:rPr b="0" i="0" lang="en-US" sz="950" u="none" cap="none" strike="noStrike">
                <a:solidFill>
                  <a:srgbClr val="94A3B8"/>
                </a:solidFill>
                <a:latin typeface="Calibri"/>
                <a:ea typeface="Calibri"/>
                <a:cs typeface="Calibri"/>
                <a:sym typeface="Calibri"/>
              </a:rPr>
              <a:t>Env vars managed</a:t>
            </a:r>
            <a:endParaRPr b="0" i="0" sz="950" u="none" cap="none" strike="noStrike">
              <a:solidFill>
                <a:schemeClr val="dk1"/>
              </a:solidFill>
              <a:latin typeface="Calibri"/>
              <a:ea typeface="Calibri"/>
              <a:cs typeface="Calibri"/>
              <a:sym typeface="Calibri"/>
            </a:endParaRPr>
          </a:p>
        </p:txBody>
      </p:sp>
      <p:pic>
        <p:nvPicPr>
          <p:cNvPr descr="preencoded.png" id="176" name="Google Shape;176;p8"/>
          <p:cNvPicPr preferRelativeResize="0"/>
          <p:nvPr/>
        </p:nvPicPr>
        <p:blipFill rotWithShape="1">
          <a:blip r:embed="rId4">
            <a:alphaModFix/>
          </a:blip>
          <a:srcRect b="0" l="0" r="0" t="0"/>
          <a:stretch/>
        </p:blipFill>
        <p:spPr>
          <a:xfrm>
            <a:off x="6720840" y="2560320"/>
            <a:ext cx="228600" cy="2286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1" name="Shape 181"/>
        <p:cNvGrpSpPr/>
        <p:nvPr/>
      </p:nvGrpSpPr>
      <p:grpSpPr>
        <a:xfrm>
          <a:off x="0" y="0"/>
          <a:ext cx="0" cy="0"/>
          <a:chOff x="0" y="0"/>
          <a:chExt cx="0" cy="0"/>
        </a:xfrm>
      </p:grpSpPr>
      <p:sp>
        <p:nvSpPr>
          <p:cNvPr id="182" name="Google Shape;182;p9"/>
          <p:cNvSpPr/>
          <p:nvPr/>
        </p:nvSpPr>
        <p:spPr>
          <a:xfrm>
            <a:off x="0" y="0"/>
            <a:ext cx="9144000" cy="54864"/>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9"/>
          <p:cNvSpPr/>
          <p:nvPr/>
        </p:nvSpPr>
        <p:spPr>
          <a:xfrm>
            <a:off x="731520" y="320040"/>
            <a:ext cx="768096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4A"/>
              </a:buClr>
              <a:buSzPts val="3200"/>
              <a:buFont typeface="Georgia"/>
              <a:buNone/>
            </a:pPr>
            <a:r>
              <a:rPr b="1" i="0" lang="en-US" sz="3200" u="none" cap="none" strike="noStrike">
                <a:solidFill>
                  <a:srgbClr val="1B2A4A"/>
                </a:solidFill>
                <a:latin typeface="Georgia"/>
                <a:ea typeface="Georgia"/>
                <a:cs typeface="Georgia"/>
                <a:sym typeface="Georgia"/>
              </a:rPr>
              <a:t>AI / ML Architecture</a:t>
            </a:r>
            <a:endParaRPr b="0" i="0" sz="3200" u="none" cap="none" strike="noStrike">
              <a:solidFill>
                <a:schemeClr val="dk1"/>
              </a:solidFill>
              <a:latin typeface="Calibri"/>
              <a:ea typeface="Calibri"/>
              <a:cs typeface="Calibri"/>
              <a:sym typeface="Calibri"/>
            </a:endParaRPr>
          </a:p>
        </p:txBody>
      </p:sp>
      <p:sp>
        <p:nvSpPr>
          <p:cNvPr id="184" name="Google Shape;184;p9"/>
          <p:cNvSpPr/>
          <p:nvPr/>
        </p:nvSpPr>
        <p:spPr>
          <a:xfrm>
            <a:off x="457200" y="1097280"/>
            <a:ext cx="8229600" cy="731520"/>
          </a:xfrm>
          <a:prstGeom prst="rect">
            <a:avLst/>
          </a:prstGeom>
          <a:solidFill>
            <a:srgbClr val="FEF3C7"/>
          </a:solidFill>
          <a:ln>
            <a:noFill/>
          </a:ln>
          <a:effectLst>
            <a:outerShdw blurRad="508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9"/>
          <p:cNvSpPr/>
          <p:nvPr/>
        </p:nvSpPr>
        <p:spPr>
          <a:xfrm>
            <a:off x="640080" y="1143000"/>
            <a:ext cx="786384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2400E"/>
              </a:buClr>
              <a:buSzPts val="1300"/>
              <a:buFont typeface="Calibri"/>
              <a:buNone/>
            </a:pPr>
            <a:r>
              <a:rPr b="1" i="0" lang="en-US" sz="1300" u="none" cap="none" strike="noStrike">
                <a:solidFill>
                  <a:srgbClr val="92400E"/>
                </a:solidFill>
                <a:latin typeface="Calibri"/>
                <a:ea typeface="Calibri"/>
                <a:cs typeface="Calibri"/>
                <a:sym typeface="Calibri"/>
              </a:rPr>
              <a:t>Deployment Pivot: </a:t>
            </a:r>
            <a:r>
              <a:rPr b="0" i="0" lang="en-US" sz="1200" u="none" cap="none" strike="noStrike">
                <a:solidFill>
                  <a:srgbClr val="92400E"/>
                </a:solidFill>
                <a:latin typeface="Calibri"/>
                <a:ea typeface="Calibri"/>
                <a:cs typeface="Calibri"/>
                <a:sym typeface="Calibri"/>
              </a:rPr>
              <a:t>Local YOLOv8 + BLIP models (2.5GB RAM) were too large for Render’s free tier. We switched to Groq Cloud API with Llama 4 Scout — a single vision-language model that handles all three tasks (detection, captioning, Q&amp;A) via API calls, eliminating local model overhead.</a:t>
            </a:r>
            <a:endParaRPr b="0" i="0" sz="1300" u="none" cap="none" strike="noStrike">
              <a:solidFill>
                <a:schemeClr val="dk1"/>
              </a:solidFill>
              <a:latin typeface="Calibri"/>
              <a:ea typeface="Calibri"/>
              <a:cs typeface="Calibri"/>
              <a:sym typeface="Calibri"/>
            </a:endParaRPr>
          </a:p>
        </p:txBody>
      </p:sp>
      <p:sp>
        <p:nvSpPr>
          <p:cNvPr id="186" name="Google Shape;186;p9"/>
          <p:cNvSpPr/>
          <p:nvPr/>
        </p:nvSpPr>
        <p:spPr>
          <a:xfrm>
            <a:off x="457200" y="2103120"/>
            <a:ext cx="2606040" cy="2468880"/>
          </a:xfrm>
          <a:prstGeom prst="rect">
            <a:avLst/>
          </a:prstGeom>
          <a:solidFill>
            <a:srgbClr val="F4F6FA"/>
          </a:solidFill>
          <a:ln>
            <a:noFill/>
          </a:ln>
          <a:effectLst>
            <a:outerShdw blurRad="508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9"/>
          <p:cNvSpPr/>
          <p:nvPr/>
        </p:nvSpPr>
        <p:spPr>
          <a:xfrm>
            <a:off x="457200" y="2103120"/>
            <a:ext cx="54864" cy="2468880"/>
          </a:xfrm>
          <a:prstGeom prst="rect">
            <a:avLst/>
          </a:prstGeom>
          <a:solidFill>
            <a:srgbClr val="3B82F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88" name="Google Shape;188;p9"/>
          <p:cNvPicPr preferRelativeResize="0"/>
          <p:nvPr/>
        </p:nvPicPr>
        <p:blipFill rotWithShape="1">
          <a:blip r:embed="rId3">
            <a:alphaModFix/>
          </a:blip>
          <a:srcRect b="0" l="0" r="0" t="0"/>
          <a:stretch/>
        </p:blipFill>
        <p:spPr>
          <a:xfrm>
            <a:off x="640080" y="2240280"/>
            <a:ext cx="274320" cy="274320"/>
          </a:xfrm>
          <a:prstGeom prst="rect">
            <a:avLst/>
          </a:prstGeom>
          <a:noFill/>
          <a:ln>
            <a:noFill/>
          </a:ln>
        </p:spPr>
      </p:pic>
      <p:sp>
        <p:nvSpPr>
          <p:cNvPr id="189" name="Google Shape;189;p9"/>
          <p:cNvSpPr/>
          <p:nvPr/>
        </p:nvSpPr>
        <p:spPr>
          <a:xfrm>
            <a:off x="1005840" y="2194560"/>
            <a:ext cx="1828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400"/>
              <a:buFont typeface="Calibri"/>
              <a:buNone/>
            </a:pPr>
            <a:r>
              <a:rPr b="1" i="0" lang="en-US" sz="1400" u="none" cap="none" strike="noStrike">
                <a:solidFill>
                  <a:srgbClr val="1E293B"/>
                </a:solidFill>
                <a:latin typeface="Calibri"/>
                <a:ea typeface="Calibri"/>
                <a:cs typeface="Calibri"/>
                <a:sym typeface="Calibri"/>
              </a:rPr>
              <a:t>Object Detection</a:t>
            </a:r>
            <a:endParaRPr b="0" i="0" sz="1400" u="none" cap="none" strike="noStrike">
              <a:solidFill>
                <a:schemeClr val="dk1"/>
              </a:solidFill>
              <a:latin typeface="Calibri"/>
              <a:ea typeface="Calibri"/>
              <a:cs typeface="Calibri"/>
              <a:sym typeface="Calibri"/>
            </a:endParaRPr>
          </a:p>
        </p:txBody>
      </p:sp>
      <p:sp>
        <p:nvSpPr>
          <p:cNvPr id="190" name="Google Shape;190;p9"/>
          <p:cNvSpPr/>
          <p:nvPr/>
        </p:nvSpPr>
        <p:spPr>
          <a:xfrm>
            <a:off x="1005840" y="2468880"/>
            <a:ext cx="18288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000"/>
              <a:buFont typeface="Consolas"/>
              <a:buNone/>
            </a:pPr>
            <a:r>
              <a:rPr b="0" i="0" lang="en-US" sz="1000" u="none" cap="none" strike="noStrike">
                <a:solidFill>
                  <a:srgbClr val="64748B"/>
                </a:solidFill>
                <a:latin typeface="Consolas"/>
                <a:ea typeface="Consolas"/>
                <a:cs typeface="Consolas"/>
                <a:sym typeface="Consolas"/>
              </a:rPr>
              <a:t>detect_objects()</a:t>
            </a:r>
            <a:endParaRPr b="0" i="0" sz="1000" u="none" cap="none" strike="noStrike">
              <a:solidFill>
                <a:schemeClr val="dk1"/>
              </a:solidFill>
              <a:latin typeface="Calibri"/>
              <a:ea typeface="Calibri"/>
              <a:cs typeface="Calibri"/>
              <a:sym typeface="Calibri"/>
            </a:endParaRPr>
          </a:p>
        </p:txBody>
      </p:sp>
      <p:sp>
        <p:nvSpPr>
          <p:cNvPr id="191" name="Google Shape;191;p9"/>
          <p:cNvSpPr/>
          <p:nvPr/>
        </p:nvSpPr>
        <p:spPr>
          <a:xfrm>
            <a:off x="640080" y="2834640"/>
            <a:ext cx="73152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B82F6"/>
              </a:buClr>
              <a:buSzPts val="900"/>
              <a:buFont typeface="Calibri"/>
              <a:buNone/>
            </a:pPr>
            <a:r>
              <a:rPr b="1" i="0" lang="en-US" sz="900" u="none" cap="none" strike="noStrike">
                <a:solidFill>
                  <a:srgbClr val="3B82F6"/>
                </a:solidFill>
                <a:latin typeface="Calibri"/>
                <a:ea typeface="Calibri"/>
                <a:cs typeface="Calibri"/>
                <a:sym typeface="Calibri"/>
              </a:rPr>
              <a:t>Prompt:</a:t>
            </a:r>
            <a:endParaRPr b="0" i="0" sz="900" u="none" cap="none" strike="noStrike">
              <a:solidFill>
                <a:schemeClr val="dk1"/>
              </a:solidFill>
              <a:latin typeface="Calibri"/>
              <a:ea typeface="Calibri"/>
              <a:cs typeface="Calibri"/>
              <a:sym typeface="Calibri"/>
            </a:endParaRPr>
          </a:p>
        </p:txBody>
      </p:sp>
      <p:sp>
        <p:nvSpPr>
          <p:cNvPr id="192" name="Google Shape;192;p9"/>
          <p:cNvSpPr/>
          <p:nvPr/>
        </p:nvSpPr>
        <p:spPr>
          <a:xfrm>
            <a:off x="640080" y="3017520"/>
            <a:ext cx="219456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000"/>
              <a:buFont typeface="Calibri"/>
              <a:buNone/>
            </a:pPr>
            <a:r>
              <a:rPr b="0" i="0" lang="en-US" sz="1000" u="none" cap="none" strike="noStrike">
                <a:solidFill>
                  <a:srgbClr val="64748B"/>
                </a:solidFill>
                <a:latin typeface="Calibri"/>
                <a:ea typeface="Calibri"/>
                <a:cs typeface="Calibri"/>
                <a:sym typeface="Calibri"/>
              </a:rPr>
              <a:t>List objects as JSON array</a:t>
            </a:r>
            <a:endParaRPr b="0" i="0" sz="10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4748B"/>
              </a:buClr>
              <a:buSzPts val="1000"/>
              <a:buFont typeface="Calibri"/>
              <a:buNone/>
            </a:pPr>
            <a:r>
              <a:rPr b="0" i="0" lang="en-US" sz="1000" u="none" cap="none" strike="noStrike">
                <a:solidFill>
                  <a:srgbClr val="64748B"/>
                </a:solidFill>
                <a:latin typeface="Calibri"/>
                <a:ea typeface="Calibri"/>
                <a:cs typeface="Calibri"/>
                <a:sym typeface="Calibri"/>
              </a:rPr>
              <a:t>with labels and confidence</a:t>
            </a:r>
            <a:endParaRPr b="0" i="0" sz="1000" u="none" cap="none" strike="noStrike">
              <a:solidFill>
                <a:schemeClr val="dk1"/>
              </a:solidFill>
              <a:latin typeface="Calibri"/>
              <a:ea typeface="Calibri"/>
              <a:cs typeface="Calibri"/>
              <a:sym typeface="Calibri"/>
            </a:endParaRPr>
          </a:p>
        </p:txBody>
      </p:sp>
      <p:sp>
        <p:nvSpPr>
          <p:cNvPr id="193" name="Google Shape;193;p9"/>
          <p:cNvSpPr/>
          <p:nvPr/>
        </p:nvSpPr>
        <p:spPr>
          <a:xfrm>
            <a:off x="640080" y="3703320"/>
            <a:ext cx="21945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B82F6"/>
              </a:buClr>
              <a:buSzPts val="1000"/>
              <a:buFont typeface="Calibri"/>
              <a:buNone/>
            </a:pPr>
            <a:r>
              <a:rPr b="1" i="0" lang="en-US" sz="1000" u="none" cap="none" strike="noStrike">
                <a:solidFill>
                  <a:srgbClr val="3B82F6"/>
                </a:solidFill>
                <a:latin typeface="Calibri"/>
                <a:ea typeface="Calibri"/>
                <a:cs typeface="Calibri"/>
                <a:sym typeface="Calibri"/>
              </a:rPr>
              <a:t>→ [{label, confidence}]</a:t>
            </a:r>
            <a:endParaRPr b="0" i="0" sz="1000" u="none" cap="none" strike="noStrike">
              <a:solidFill>
                <a:schemeClr val="dk1"/>
              </a:solidFill>
              <a:latin typeface="Calibri"/>
              <a:ea typeface="Calibri"/>
              <a:cs typeface="Calibri"/>
              <a:sym typeface="Calibri"/>
            </a:endParaRPr>
          </a:p>
        </p:txBody>
      </p:sp>
      <p:sp>
        <p:nvSpPr>
          <p:cNvPr id="194" name="Google Shape;194;p9"/>
          <p:cNvSpPr/>
          <p:nvPr/>
        </p:nvSpPr>
        <p:spPr>
          <a:xfrm>
            <a:off x="3337560" y="2103120"/>
            <a:ext cx="2606040" cy="2468880"/>
          </a:xfrm>
          <a:prstGeom prst="rect">
            <a:avLst/>
          </a:prstGeom>
          <a:solidFill>
            <a:srgbClr val="F4F6FA"/>
          </a:solidFill>
          <a:ln>
            <a:noFill/>
          </a:ln>
          <a:effectLst>
            <a:outerShdw blurRad="508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9"/>
          <p:cNvSpPr/>
          <p:nvPr/>
        </p:nvSpPr>
        <p:spPr>
          <a:xfrm>
            <a:off x="3337560" y="2103120"/>
            <a:ext cx="54864" cy="2468880"/>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96" name="Google Shape;196;p9"/>
          <p:cNvPicPr preferRelativeResize="0"/>
          <p:nvPr/>
        </p:nvPicPr>
        <p:blipFill rotWithShape="1">
          <a:blip r:embed="rId4">
            <a:alphaModFix/>
          </a:blip>
          <a:srcRect b="0" l="0" r="0" t="0"/>
          <a:stretch/>
        </p:blipFill>
        <p:spPr>
          <a:xfrm>
            <a:off x="3520440" y="2240280"/>
            <a:ext cx="274320" cy="274320"/>
          </a:xfrm>
          <a:prstGeom prst="rect">
            <a:avLst/>
          </a:prstGeom>
          <a:noFill/>
          <a:ln>
            <a:noFill/>
          </a:ln>
        </p:spPr>
      </p:pic>
      <p:sp>
        <p:nvSpPr>
          <p:cNvPr id="197" name="Google Shape;197;p9"/>
          <p:cNvSpPr/>
          <p:nvPr/>
        </p:nvSpPr>
        <p:spPr>
          <a:xfrm>
            <a:off x="3886200" y="2194560"/>
            <a:ext cx="1828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400"/>
              <a:buFont typeface="Calibri"/>
              <a:buNone/>
            </a:pPr>
            <a:r>
              <a:rPr b="1" i="0" lang="en-US" sz="1400" u="none" cap="none" strike="noStrike">
                <a:solidFill>
                  <a:srgbClr val="1E293B"/>
                </a:solidFill>
                <a:latin typeface="Calibri"/>
                <a:ea typeface="Calibri"/>
                <a:cs typeface="Calibri"/>
                <a:sym typeface="Calibri"/>
              </a:rPr>
              <a:t>Scene Captioning</a:t>
            </a:r>
            <a:endParaRPr b="0" i="0" sz="1400" u="none" cap="none" strike="noStrike">
              <a:solidFill>
                <a:schemeClr val="dk1"/>
              </a:solidFill>
              <a:latin typeface="Calibri"/>
              <a:ea typeface="Calibri"/>
              <a:cs typeface="Calibri"/>
              <a:sym typeface="Calibri"/>
            </a:endParaRPr>
          </a:p>
        </p:txBody>
      </p:sp>
      <p:sp>
        <p:nvSpPr>
          <p:cNvPr id="198" name="Google Shape;198;p9"/>
          <p:cNvSpPr/>
          <p:nvPr/>
        </p:nvSpPr>
        <p:spPr>
          <a:xfrm>
            <a:off x="3886200" y="2468880"/>
            <a:ext cx="18288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000"/>
              <a:buFont typeface="Consolas"/>
              <a:buNone/>
            </a:pPr>
            <a:r>
              <a:rPr b="0" i="0" lang="en-US" sz="1000" u="none" cap="none" strike="noStrike">
                <a:solidFill>
                  <a:srgbClr val="64748B"/>
                </a:solidFill>
                <a:latin typeface="Consolas"/>
                <a:ea typeface="Consolas"/>
                <a:cs typeface="Consolas"/>
                <a:sym typeface="Consolas"/>
              </a:rPr>
              <a:t>generate_caption()</a:t>
            </a:r>
            <a:endParaRPr b="0" i="0" sz="1000" u="none" cap="none" strike="noStrike">
              <a:solidFill>
                <a:schemeClr val="dk1"/>
              </a:solidFill>
              <a:latin typeface="Calibri"/>
              <a:ea typeface="Calibri"/>
              <a:cs typeface="Calibri"/>
              <a:sym typeface="Calibri"/>
            </a:endParaRPr>
          </a:p>
        </p:txBody>
      </p:sp>
      <p:sp>
        <p:nvSpPr>
          <p:cNvPr id="199" name="Google Shape;199;p9"/>
          <p:cNvSpPr/>
          <p:nvPr/>
        </p:nvSpPr>
        <p:spPr>
          <a:xfrm>
            <a:off x="3520440" y="2834640"/>
            <a:ext cx="73152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B82F6"/>
              </a:buClr>
              <a:buSzPts val="900"/>
              <a:buFont typeface="Calibri"/>
              <a:buNone/>
            </a:pPr>
            <a:r>
              <a:rPr b="1" i="0" lang="en-US" sz="900" u="none" cap="none" strike="noStrike">
                <a:solidFill>
                  <a:srgbClr val="3B82F6"/>
                </a:solidFill>
                <a:latin typeface="Calibri"/>
                <a:ea typeface="Calibri"/>
                <a:cs typeface="Calibri"/>
                <a:sym typeface="Calibri"/>
              </a:rPr>
              <a:t>Prompt:</a:t>
            </a:r>
            <a:endParaRPr b="0" i="0" sz="900" u="none" cap="none" strike="noStrike">
              <a:solidFill>
                <a:schemeClr val="dk1"/>
              </a:solidFill>
              <a:latin typeface="Calibri"/>
              <a:ea typeface="Calibri"/>
              <a:cs typeface="Calibri"/>
              <a:sym typeface="Calibri"/>
            </a:endParaRPr>
          </a:p>
        </p:txBody>
      </p:sp>
      <p:sp>
        <p:nvSpPr>
          <p:cNvPr id="200" name="Google Shape;200;p9"/>
          <p:cNvSpPr/>
          <p:nvPr/>
        </p:nvSpPr>
        <p:spPr>
          <a:xfrm>
            <a:off x="3520440" y="3017520"/>
            <a:ext cx="219456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000"/>
              <a:buFont typeface="Calibri"/>
              <a:buNone/>
            </a:pPr>
            <a:r>
              <a:rPr b="0" i="0" lang="en-US" sz="1000" u="none" cap="none" strike="noStrike">
                <a:solidFill>
                  <a:srgbClr val="64748B"/>
                </a:solidFill>
                <a:latin typeface="Calibri"/>
                <a:ea typeface="Calibri"/>
                <a:cs typeface="Calibri"/>
                <a:sym typeface="Calibri"/>
              </a:rPr>
              <a:t>Describe this image in one</a:t>
            </a:r>
            <a:endParaRPr b="0" i="0" sz="10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4748B"/>
              </a:buClr>
              <a:buSzPts val="1000"/>
              <a:buFont typeface="Calibri"/>
              <a:buNone/>
            </a:pPr>
            <a:r>
              <a:rPr b="0" i="0" lang="en-US" sz="1000" u="none" cap="none" strike="noStrike">
                <a:solidFill>
                  <a:srgbClr val="64748B"/>
                </a:solidFill>
                <a:latin typeface="Calibri"/>
                <a:ea typeface="Calibri"/>
                <a:cs typeface="Calibri"/>
                <a:sym typeface="Calibri"/>
              </a:rPr>
              <a:t>clear sentence for VI users</a:t>
            </a:r>
            <a:endParaRPr b="0" i="0" sz="1000" u="none" cap="none" strike="noStrike">
              <a:solidFill>
                <a:schemeClr val="dk1"/>
              </a:solidFill>
              <a:latin typeface="Calibri"/>
              <a:ea typeface="Calibri"/>
              <a:cs typeface="Calibri"/>
              <a:sym typeface="Calibri"/>
            </a:endParaRPr>
          </a:p>
        </p:txBody>
      </p:sp>
      <p:sp>
        <p:nvSpPr>
          <p:cNvPr id="201" name="Google Shape;201;p9"/>
          <p:cNvSpPr/>
          <p:nvPr/>
        </p:nvSpPr>
        <p:spPr>
          <a:xfrm>
            <a:off x="3520440" y="3703320"/>
            <a:ext cx="21945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B82F6"/>
              </a:buClr>
              <a:buSzPts val="1000"/>
              <a:buFont typeface="Calibri"/>
              <a:buNone/>
            </a:pPr>
            <a:r>
              <a:rPr b="1" i="0" lang="en-US" sz="1000" u="none" cap="none" strike="noStrike">
                <a:solidFill>
                  <a:srgbClr val="3B82F6"/>
                </a:solidFill>
                <a:latin typeface="Calibri"/>
                <a:ea typeface="Calibri"/>
                <a:cs typeface="Calibri"/>
                <a:sym typeface="Calibri"/>
              </a:rPr>
              <a:t>→ natural language text</a:t>
            </a:r>
            <a:endParaRPr b="0" i="0" sz="1000" u="none" cap="none" strike="noStrike">
              <a:solidFill>
                <a:schemeClr val="dk1"/>
              </a:solidFill>
              <a:latin typeface="Calibri"/>
              <a:ea typeface="Calibri"/>
              <a:cs typeface="Calibri"/>
              <a:sym typeface="Calibri"/>
            </a:endParaRPr>
          </a:p>
        </p:txBody>
      </p:sp>
      <p:sp>
        <p:nvSpPr>
          <p:cNvPr id="202" name="Google Shape;202;p9"/>
          <p:cNvSpPr/>
          <p:nvPr/>
        </p:nvSpPr>
        <p:spPr>
          <a:xfrm>
            <a:off x="6217920" y="2103120"/>
            <a:ext cx="2606040" cy="2468880"/>
          </a:xfrm>
          <a:prstGeom prst="rect">
            <a:avLst/>
          </a:prstGeom>
          <a:solidFill>
            <a:srgbClr val="F4F6FA"/>
          </a:solidFill>
          <a:ln>
            <a:noFill/>
          </a:ln>
          <a:effectLst>
            <a:outerShdw blurRad="508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9"/>
          <p:cNvSpPr/>
          <p:nvPr/>
        </p:nvSpPr>
        <p:spPr>
          <a:xfrm>
            <a:off x="6217920" y="2103120"/>
            <a:ext cx="54864" cy="2468880"/>
          </a:xfrm>
          <a:prstGeom prst="rect">
            <a:avLst/>
          </a:prstGeom>
          <a:solidFill>
            <a:srgbClr val="2C4A7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04" name="Google Shape;204;p9"/>
          <p:cNvPicPr preferRelativeResize="0"/>
          <p:nvPr/>
        </p:nvPicPr>
        <p:blipFill rotWithShape="1">
          <a:blip r:embed="rId5">
            <a:alphaModFix/>
          </a:blip>
          <a:srcRect b="0" l="0" r="0" t="0"/>
          <a:stretch/>
        </p:blipFill>
        <p:spPr>
          <a:xfrm>
            <a:off x="6400800" y="2240280"/>
            <a:ext cx="274320" cy="274320"/>
          </a:xfrm>
          <a:prstGeom prst="rect">
            <a:avLst/>
          </a:prstGeom>
          <a:noFill/>
          <a:ln>
            <a:noFill/>
          </a:ln>
        </p:spPr>
      </p:pic>
      <p:sp>
        <p:nvSpPr>
          <p:cNvPr id="205" name="Google Shape;205;p9"/>
          <p:cNvSpPr/>
          <p:nvPr/>
        </p:nvSpPr>
        <p:spPr>
          <a:xfrm>
            <a:off x="6766560" y="2194560"/>
            <a:ext cx="1828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400"/>
              <a:buFont typeface="Calibri"/>
              <a:buNone/>
            </a:pPr>
            <a:r>
              <a:rPr b="1" i="0" lang="en-US" sz="1400" u="none" cap="none" strike="noStrike">
                <a:solidFill>
                  <a:srgbClr val="1E293B"/>
                </a:solidFill>
                <a:latin typeface="Calibri"/>
                <a:ea typeface="Calibri"/>
                <a:cs typeface="Calibri"/>
                <a:sym typeface="Calibri"/>
              </a:rPr>
              <a:t>Visual Q&amp;A</a:t>
            </a:r>
            <a:endParaRPr b="0" i="0" sz="1400" u="none" cap="none" strike="noStrike">
              <a:solidFill>
                <a:schemeClr val="dk1"/>
              </a:solidFill>
              <a:latin typeface="Calibri"/>
              <a:ea typeface="Calibri"/>
              <a:cs typeface="Calibri"/>
              <a:sym typeface="Calibri"/>
            </a:endParaRPr>
          </a:p>
        </p:txBody>
      </p:sp>
      <p:sp>
        <p:nvSpPr>
          <p:cNvPr id="206" name="Google Shape;206;p9"/>
          <p:cNvSpPr/>
          <p:nvPr/>
        </p:nvSpPr>
        <p:spPr>
          <a:xfrm>
            <a:off x="6766560" y="2468880"/>
            <a:ext cx="18288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000"/>
              <a:buFont typeface="Consolas"/>
              <a:buNone/>
            </a:pPr>
            <a:r>
              <a:rPr b="0" i="0" lang="en-US" sz="1000" u="none" cap="none" strike="noStrike">
                <a:solidFill>
                  <a:srgbClr val="64748B"/>
                </a:solidFill>
                <a:latin typeface="Consolas"/>
                <a:ea typeface="Consolas"/>
                <a:cs typeface="Consolas"/>
                <a:sym typeface="Consolas"/>
              </a:rPr>
              <a:t>answer_question()</a:t>
            </a:r>
            <a:endParaRPr b="0" i="0" sz="1000" u="none" cap="none" strike="noStrike">
              <a:solidFill>
                <a:schemeClr val="dk1"/>
              </a:solidFill>
              <a:latin typeface="Calibri"/>
              <a:ea typeface="Calibri"/>
              <a:cs typeface="Calibri"/>
              <a:sym typeface="Calibri"/>
            </a:endParaRPr>
          </a:p>
        </p:txBody>
      </p:sp>
      <p:sp>
        <p:nvSpPr>
          <p:cNvPr id="207" name="Google Shape;207;p9"/>
          <p:cNvSpPr/>
          <p:nvPr/>
        </p:nvSpPr>
        <p:spPr>
          <a:xfrm>
            <a:off x="6400800" y="2834640"/>
            <a:ext cx="73152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B82F6"/>
              </a:buClr>
              <a:buSzPts val="900"/>
              <a:buFont typeface="Calibri"/>
              <a:buNone/>
            </a:pPr>
            <a:r>
              <a:rPr b="1" i="0" lang="en-US" sz="900" u="none" cap="none" strike="noStrike">
                <a:solidFill>
                  <a:srgbClr val="3B82F6"/>
                </a:solidFill>
                <a:latin typeface="Calibri"/>
                <a:ea typeface="Calibri"/>
                <a:cs typeface="Calibri"/>
                <a:sym typeface="Calibri"/>
              </a:rPr>
              <a:t>Prompt:</a:t>
            </a:r>
            <a:endParaRPr b="0" i="0" sz="900" u="none" cap="none" strike="noStrike">
              <a:solidFill>
                <a:schemeClr val="dk1"/>
              </a:solidFill>
              <a:latin typeface="Calibri"/>
              <a:ea typeface="Calibri"/>
              <a:cs typeface="Calibri"/>
              <a:sym typeface="Calibri"/>
            </a:endParaRPr>
          </a:p>
        </p:txBody>
      </p:sp>
      <p:sp>
        <p:nvSpPr>
          <p:cNvPr id="208" name="Google Shape;208;p9"/>
          <p:cNvSpPr/>
          <p:nvPr/>
        </p:nvSpPr>
        <p:spPr>
          <a:xfrm>
            <a:off x="6400800" y="3017520"/>
            <a:ext cx="219456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000"/>
              <a:buFont typeface="Calibri"/>
              <a:buNone/>
            </a:pPr>
            <a:r>
              <a:rPr b="0" i="0" lang="en-US" sz="1000" u="none" cap="none" strike="noStrike">
                <a:solidFill>
                  <a:srgbClr val="64748B"/>
                </a:solidFill>
                <a:latin typeface="Calibri"/>
                <a:ea typeface="Calibri"/>
                <a:cs typeface="Calibri"/>
                <a:sym typeface="Calibri"/>
              </a:rPr>
              <a:t>User’s custom question</a:t>
            </a:r>
            <a:endParaRPr b="0" i="0" sz="10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4748B"/>
              </a:buClr>
              <a:buSzPts val="1000"/>
              <a:buFont typeface="Calibri"/>
              <a:buNone/>
            </a:pPr>
            <a:r>
              <a:rPr b="0" i="0" lang="en-US" sz="1000" u="none" cap="none" strike="noStrike">
                <a:solidFill>
                  <a:srgbClr val="64748B"/>
                </a:solidFill>
                <a:latin typeface="Calibri"/>
                <a:ea typeface="Calibri"/>
                <a:cs typeface="Calibri"/>
                <a:sym typeface="Calibri"/>
              </a:rPr>
              <a:t>passed directly to model</a:t>
            </a:r>
            <a:endParaRPr b="0" i="0" sz="1000" u="none" cap="none" strike="noStrike">
              <a:solidFill>
                <a:schemeClr val="dk1"/>
              </a:solidFill>
              <a:latin typeface="Calibri"/>
              <a:ea typeface="Calibri"/>
              <a:cs typeface="Calibri"/>
              <a:sym typeface="Calibri"/>
            </a:endParaRPr>
          </a:p>
        </p:txBody>
      </p:sp>
      <p:sp>
        <p:nvSpPr>
          <p:cNvPr id="209" name="Google Shape;209;p9"/>
          <p:cNvSpPr/>
          <p:nvPr/>
        </p:nvSpPr>
        <p:spPr>
          <a:xfrm>
            <a:off x="6400800" y="3703320"/>
            <a:ext cx="21945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B82F6"/>
              </a:buClr>
              <a:buSzPts val="1000"/>
              <a:buFont typeface="Calibri"/>
              <a:buNone/>
            </a:pPr>
            <a:r>
              <a:rPr b="1" i="0" lang="en-US" sz="1000" u="none" cap="none" strike="noStrike">
                <a:solidFill>
                  <a:srgbClr val="3B82F6"/>
                </a:solidFill>
                <a:latin typeface="Calibri"/>
                <a:ea typeface="Calibri"/>
                <a:cs typeface="Calibri"/>
                <a:sym typeface="Calibri"/>
              </a:rPr>
              <a:t>→ contextual answer</a:t>
            </a:r>
            <a:endParaRPr b="0" i="0" sz="1000" u="none" cap="none" strike="noStrike">
              <a:solidFill>
                <a:schemeClr val="dk1"/>
              </a:solidFill>
              <a:latin typeface="Calibri"/>
              <a:ea typeface="Calibri"/>
              <a:cs typeface="Calibri"/>
              <a:sym typeface="Calibri"/>
            </a:endParaRPr>
          </a:p>
        </p:txBody>
      </p:sp>
      <p:sp>
        <p:nvSpPr>
          <p:cNvPr id="210" name="Google Shape;210;p9"/>
          <p:cNvSpPr/>
          <p:nvPr/>
        </p:nvSpPr>
        <p:spPr>
          <a:xfrm>
            <a:off x="457200" y="4663440"/>
            <a:ext cx="822960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1000"/>
              <a:buFont typeface="Calibri"/>
              <a:buNone/>
            </a:pPr>
            <a:r>
              <a:rPr b="0" i="0" lang="en-US" sz="1000" u="none" cap="none" strike="noStrike">
                <a:solidFill>
                  <a:srgbClr val="64748B"/>
                </a:solidFill>
                <a:latin typeface="Calibri"/>
                <a:ea typeface="Calibri"/>
                <a:cs typeface="Calibri"/>
                <a:sym typeface="Calibri"/>
              </a:rPr>
              <a:t>Model: meta-llama/llama-4-scout-17b-16e-instruct  |  API: Groq Cloud  |  No local GPU needed</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5" name="Shape 215"/>
        <p:cNvGrpSpPr/>
        <p:nvPr/>
      </p:nvGrpSpPr>
      <p:grpSpPr>
        <a:xfrm>
          <a:off x="0" y="0"/>
          <a:ext cx="0" cy="0"/>
          <a:chOff x="0" y="0"/>
          <a:chExt cx="0" cy="0"/>
        </a:xfrm>
      </p:grpSpPr>
      <p:sp>
        <p:nvSpPr>
          <p:cNvPr id="216" name="Google Shape;216;p10"/>
          <p:cNvSpPr/>
          <p:nvPr/>
        </p:nvSpPr>
        <p:spPr>
          <a:xfrm>
            <a:off x="0" y="0"/>
            <a:ext cx="9144000" cy="54864"/>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10"/>
          <p:cNvSpPr/>
          <p:nvPr/>
        </p:nvSpPr>
        <p:spPr>
          <a:xfrm>
            <a:off x="731520" y="320040"/>
            <a:ext cx="768096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4A"/>
              </a:buClr>
              <a:buSzPts val="3200"/>
              <a:buFont typeface="Georgia"/>
              <a:buNone/>
            </a:pPr>
            <a:r>
              <a:rPr b="1" i="0" lang="en-US" sz="3200" u="none" cap="none" strike="noStrike">
                <a:solidFill>
                  <a:srgbClr val="1B2A4A"/>
                </a:solidFill>
                <a:latin typeface="Georgia"/>
                <a:ea typeface="Georgia"/>
                <a:cs typeface="Georgia"/>
                <a:sym typeface="Georgia"/>
              </a:rPr>
              <a:t>Database Schema</a:t>
            </a:r>
            <a:endParaRPr b="0" i="0" sz="3200" u="none" cap="none" strike="noStrike">
              <a:solidFill>
                <a:schemeClr val="dk1"/>
              </a:solidFill>
              <a:latin typeface="Calibri"/>
              <a:ea typeface="Calibri"/>
              <a:cs typeface="Calibri"/>
              <a:sym typeface="Calibri"/>
            </a:endParaRPr>
          </a:p>
        </p:txBody>
      </p:sp>
      <p:sp>
        <p:nvSpPr>
          <p:cNvPr id="218" name="Google Shape;218;p10"/>
          <p:cNvSpPr/>
          <p:nvPr/>
        </p:nvSpPr>
        <p:spPr>
          <a:xfrm>
            <a:off x="457200" y="1188720"/>
            <a:ext cx="3840480" cy="3200400"/>
          </a:xfrm>
          <a:prstGeom prst="rect">
            <a:avLst/>
          </a:prstGeom>
          <a:solidFill>
            <a:srgbClr val="F4F6FA"/>
          </a:solidFill>
          <a:ln>
            <a:noFill/>
          </a:ln>
          <a:effectLst>
            <a:outerShdw blurRad="508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10"/>
          <p:cNvSpPr/>
          <p:nvPr/>
        </p:nvSpPr>
        <p:spPr>
          <a:xfrm>
            <a:off x="457200" y="1188720"/>
            <a:ext cx="3840480" cy="411480"/>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20" name="Google Shape;220;p10"/>
          <p:cNvPicPr preferRelativeResize="0"/>
          <p:nvPr/>
        </p:nvPicPr>
        <p:blipFill rotWithShape="1">
          <a:blip r:embed="rId3">
            <a:alphaModFix/>
          </a:blip>
          <a:srcRect b="0" l="0" r="0" t="0"/>
          <a:stretch/>
        </p:blipFill>
        <p:spPr>
          <a:xfrm>
            <a:off x="594360" y="1234440"/>
            <a:ext cx="274320" cy="274320"/>
          </a:xfrm>
          <a:prstGeom prst="rect">
            <a:avLst/>
          </a:prstGeom>
          <a:noFill/>
          <a:ln>
            <a:noFill/>
          </a:ln>
        </p:spPr>
      </p:pic>
      <p:sp>
        <p:nvSpPr>
          <p:cNvPr id="221" name="Google Shape;221;p10"/>
          <p:cNvSpPr/>
          <p:nvPr/>
        </p:nvSpPr>
        <p:spPr>
          <a:xfrm>
            <a:off x="914400" y="1188720"/>
            <a:ext cx="27432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500"/>
              <a:buFont typeface="Consolas"/>
              <a:buNone/>
            </a:pPr>
            <a:r>
              <a:rPr b="1" i="0" lang="en-US" sz="1500" u="none" cap="none" strike="noStrike">
                <a:solidFill>
                  <a:srgbClr val="FFFFFF"/>
                </a:solidFill>
                <a:latin typeface="Consolas"/>
                <a:ea typeface="Consolas"/>
                <a:cs typeface="Consolas"/>
                <a:sym typeface="Consolas"/>
              </a:rPr>
              <a:t>users</a:t>
            </a:r>
            <a:endParaRPr b="0" i="0" sz="1500" u="none" cap="none" strike="noStrike">
              <a:solidFill>
                <a:schemeClr val="dk1"/>
              </a:solidFill>
              <a:latin typeface="Calibri"/>
              <a:ea typeface="Calibri"/>
              <a:cs typeface="Calibri"/>
              <a:sym typeface="Calibri"/>
            </a:endParaRPr>
          </a:p>
        </p:txBody>
      </p:sp>
      <p:sp>
        <p:nvSpPr>
          <p:cNvPr id="222" name="Google Shape;222;p10"/>
          <p:cNvSpPr/>
          <p:nvPr/>
        </p:nvSpPr>
        <p:spPr>
          <a:xfrm>
            <a:off x="548640" y="1737360"/>
            <a:ext cx="3566160" cy="292608"/>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10"/>
          <p:cNvSpPr/>
          <p:nvPr/>
        </p:nvSpPr>
        <p:spPr>
          <a:xfrm>
            <a:off x="640080" y="1737360"/>
            <a:ext cx="118872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000"/>
              <a:buFont typeface="Consolas"/>
              <a:buNone/>
            </a:pPr>
            <a:r>
              <a:rPr b="1" i="0" lang="en-US" sz="1000" u="none" cap="none" strike="noStrike">
                <a:solidFill>
                  <a:srgbClr val="1E293B"/>
                </a:solidFill>
                <a:latin typeface="Consolas"/>
                <a:ea typeface="Consolas"/>
                <a:cs typeface="Consolas"/>
                <a:sym typeface="Consolas"/>
              </a:rPr>
              <a:t>id</a:t>
            </a:r>
            <a:endParaRPr b="0" i="0" sz="1000" u="none" cap="none" strike="noStrike">
              <a:solidFill>
                <a:schemeClr val="dk1"/>
              </a:solidFill>
              <a:latin typeface="Calibri"/>
              <a:ea typeface="Calibri"/>
              <a:cs typeface="Calibri"/>
              <a:sym typeface="Calibri"/>
            </a:endParaRPr>
          </a:p>
        </p:txBody>
      </p:sp>
      <p:sp>
        <p:nvSpPr>
          <p:cNvPr id="224" name="Google Shape;224;p10"/>
          <p:cNvSpPr/>
          <p:nvPr/>
        </p:nvSpPr>
        <p:spPr>
          <a:xfrm>
            <a:off x="1828800" y="1737360"/>
            <a:ext cx="118872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900"/>
              <a:buFont typeface="Consolas"/>
              <a:buNone/>
            </a:pPr>
            <a:r>
              <a:rPr b="0" i="0" lang="en-US" sz="900" u="none" cap="none" strike="noStrike">
                <a:solidFill>
                  <a:srgbClr val="64748B"/>
                </a:solidFill>
                <a:latin typeface="Consolas"/>
                <a:ea typeface="Consolas"/>
                <a:cs typeface="Consolas"/>
                <a:sym typeface="Consolas"/>
              </a:rPr>
              <a:t>UUID</a:t>
            </a:r>
            <a:endParaRPr b="0" i="0" sz="900" u="none" cap="none" strike="noStrike">
              <a:solidFill>
                <a:schemeClr val="dk1"/>
              </a:solidFill>
              <a:latin typeface="Calibri"/>
              <a:ea typeface="Calibri"/>
              <a:cs typeface="Calibri"/>
              <a:sym typeface="Calibri"/>
            </a:endParaRPr>
          </a:p>
        </p:txBody>
      </p:sp>
      <p:sp>
        <p:nvSpPr>
          <p:cNvPr id="225" name="Google Shape;225;p10"/>
          <p:cNvSpPr/>
          <p:nvPr/>
        </p:nvSpPr>
        <p:spPr>
          <a:xfrm>
            <a:off x="3017520" y="1737360"/>
            <a:ext cx="100584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B82F6"/>
              </a:buClr>
              <a:buSzPts val="900"/>
              <a:buFont typeface="Calibri"/>
              <a:buNone/>
            </a:pPr>
            <a:r>
              <a:rPr b="0" i="0" lang="en-US" sz="900" u="none" cap="none" strike="noStrike">
                <a:solidFill>
                  <a:srgbClr val="3B82F6"/>
                </a:solidFill>
                <a:latin typeface="Calibri"/>
                <a:ea typeface="Calibri"/>
                <a:cs typeface="Calibri"/>
                <a:sym typeface="Calibri"/>
              </a:rPr>
              <a:t>PK</a:t>
            </a:r>
            <a:endParaRPr b="0" i="0" sz="900" u="none" cap="none" strike="noStrike">
              <a:solidFill>
                <a:schemeClr val="dk1"/>
              </a:solidFill>
              <a:latin typeface="Calibri"/>
              <a:ea typeface="Calibri"/>
              <a:cs typeface="Calibri"/>
              <a:sym typeface="Calibri"/>
            </a:endParaRPr>
          </a:p>
        </p:txBody>
      </p:sp>
      <p:sp>
        <p:nvSpPr>
          <p:cNvPr id="226" name="Google Shape;226;p10"/>
          <p:cNvSpPr/>
          <p:nvPr/>
        </p:nvSpPr>
        <p:spPr>
          <a:xfrm>
            <a:off x="548640" y="2057400"/>
            <a:ext cx="3566160" cy="292608"/>
          </a:xfrm>
          <a:prstGeom prst="rect">
            <a:avLst/>
          </a:prstGeom>
          <a:solidFill>
            <a:srgbClr val="F4F6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10"/>
          <p:cNvSpPr/>
          <p:nvPr/>
        </p:nvSpPr>
        <p:spPr>
          <a:xfrm>
            <a:off x="640080" y="2057400"/>
            <a:ext cx="118872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000"/>
              <a:buFont typeface="Consolas"/>
              <a:buNone/>
            </a:pPr>
            <a:r>
              <a:rPr b="1" i="0" lang="en-US" sz="1000" u="none" cap="none" strike="noStrike">
                <a:solidFill>
                  <a:srgbClr val="1E293B"/>
                </a:solidFill>
                <a:latin typeface="Consolas"/>
                <a:ea typeface="Consolas"/>
                <a:cs typeface="Consolas"/>
                <a:sym typeface="Consolas"/>
              </a:rPr>
              <a:t>name</a:t>
            </a:r>
            <a:endParaRPr b="0" i="0" sz="1000" u="none" cap="none" strike="noStrike">
              <a:solidFill>
                <a:schemeClr val="dk1"/>
              </a:solidFill>
              <a:latin typeface="Calibri"/>
              <a:ea typeface="Calibri"/>
              <a:cs typeface="Calibri"/>
              <a:sym typeface="Calibri"/>
            </a:endParaRPr>
          </a:p>
        </p:txBody>
      </p:sp>
      <p:sp>
        <p:nvSpPr>
          <p:cNvPr id="228" name="Google Shape;228;p10"/>
          <p:cNvSpPr/>
          <p:nvPr/>
        </p:nvSpPr>
        <p:spPr>
          <a:xfrm>
            <a:off x="1828800" y="2057400"/>
            <a:ext cx="118872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900"/>
              <a:buFont typeface="Consolas"/>
              <a:buNone/>
            </a:pPr>
            <a:r>
              <a:rPr b="0" i="0" lang="en-US" sz="900" u="none" cap="none" strike="noStrike">
                <a:solidFill>
                  <a:srgbClr val="64748B"/>
                </a:solidFill>
                <a:latin typeface="Consolas"/>
                <a:ea typeface="Consolas"/>
                <a:cs typeface="Consolas"/>
                <a:sym typeface="Consolas"/>
              </a:rPr>
              <a:t>VARCHAR(100)</a:t>
            </a:r>
            <a:endParaRPr b="0" i="0" sz="900" u="none" cap="none" strike="noStrike">
              <a:solidFill>
                <a:schemeClr val="dk1"/>
              </a:solidFill>
              <a:latin typeface="Calibri"/>
              <a:ea typeface="Calibri"/>
              <a:cs typeface="Calibri"/>
              <a:sym typeface="Calibri"/>
            </a:endParaRPr>
          </a:p>
        </p:txBody>
      </p:sp>
      <p:sp>
        <p:nvSpPr>
          <p:cNvPr id="229" name="Google Shape;229;p10"/>
          <p:cNvSpPr/>
          <p:nvPr/>
        </p:nvSpPr>
        <p:spPr>
          <a:xfrm>
            <a:off x="3017520" y="2057400"/>
            <a:ext cx="100584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B82F6"/>
              </a:buClr>
              <a:buSzPts val="900"/>
              <a:buFont typeface="Calibri"/>
              <a:buNone/>
            </a:pPr>
            <a:r>
              <a:rPr b="0" i="0" lang="en-US" sz="900" u="none" cap="none" strike="noStrike">
                <a:solidFill>
                  <a:srgbClr val="3B82F6"/>
                </a:solidFill>
                <a:latin typeface="Calibri"/>
                <a:ea typeface="Calibri"/>
                <a:cs typeface="Calibri"/>
                <a:sym typeface="Calibri"/>
              </a:rPr>
              <a:t>NOT NULL</a:t>
            </a:r>
            <a:endParaRPr b="0" i="0" sz="900" u="none" cap="none" strike="noStrike">
              <a:solidFill>
                <a:schemeClr val="dk1"/>
              </a:solidFill>
              <a:latin typeface="Calibri"/>
              <a:ea typeface="Calibri"/>
              <a:cs typeface="Calibri"/>
              <a:sym typeface="Calibri"/>
            </a:endParaRPr>
          </a:p>
        </p:txBody>
      </p:sp>
      <p:sp>
        <p:nvSpPr>
          <p:cNvPr id="230" name="Google Shape;230;p10"/>
          <p:cNvSpPr/>
          <p:nvPr/>
        </p:nvSpPr>
        <p:spPr>
          <a:xfrm>
            <a:off x="548640" y="2377440"/>
            <a:ext cx="3566160" cy="292608"/>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10"/>
          <p:cNvSpPr/>
          <p:nvPr/>
        </p:nvSpPr>
        <p:spPr>
          <a:xfrm>
            <a:off x="640080" y="2377440"/>
            <a:ext cx="118872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000"/>
              <a:buFont typeface="Consolas"/>
              <a:buNone/>
            </a:pPr>
            <a:r>
              <a:rPr b="1" i="0" lang="en-US" sz="1000" u="none" cap="none" strike="noStrike">
                <a:solidFill>
                  <a:srgbClr val="1E293B"/>
                </a:solidFill>
                <a:latin typeface="Consolas"/>
                <a:ea typeface="Consolas"/>
                <a:cs typeface="Consolas"/>
                <a:sym typeface="Consolas"/>
              </a:rPr>
              <a:t>email</a:t>
            </a:r>
            <a:endParaRPr b="0" i="0" sz="1000" u="none" cap="none" strike="noStrike">
              <a:solidFill>
                <a:schemeClr val="dk1"/>
              </a:solidFill>
              <a:latin typeface="Calibri"/>
              <a:ea typeface="Calibri"/>
              <a:cs typeface="Calibri"/>
              <a:sym typeface="Calibri"/>
            </a:endParaRPr>
          </a:p>
        </p:txBody>
      </p:sp>
      <p:sp>
        <p:nvSpPr>
          <p:cNvPr id="232" name="Google Shape;232;p10"/>
          <p:cNvSpPr/>
          <p:nvPr/>
        </p:nvSpPr>
        <p:spPr>
          <a:xfrm>
            <a:off x="1828800" y="2377440"/>
            <a:ext cx="118872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900"/>
              <a:buFont typeface="Consolas"/>
              <a:buNone/>
            </a:pPr>
            <a:r>
              <a:rPr b="0" i="0" lang="en-US" sz="900" u="none" cap="none" strike="noStrike">
                <a:solidFill>
                  <a:srgbClr val="64748B"/>
                </a:solidFill>
                <a:latin typeface="Consolas"/>
                <a:ea typeface="Consolas"/>
                <a:cs typeface="Consolas"/>
                <a:sym typeface="Consolas"/>
              </a:rPr>
              <a:t>VARCHAR(255)</a:t>
            </a:r>
            <a:endParaRPr b="0" i="0" sz="900" u="none" cap="none" strike="noStrike">
              <a:solidFill>
                <a:schemeClr val="dk1"/>
              </a:solidFill>
              <a:latin typeface="Calibri"/>
              <a:ea typeface="Calibri"/>
              <a:cs typeface="Calibri"/>
              <a:sym typeface="Calibri"/>
            </a:endParaRPr>
          </a:p>
        </p:txBody>
      </p:sp>
      <p:sp>
        <p:nvSpPr>
          <p:cNvPr id="233" name="Google Shape;233;p10"/>
          <p:cNvSpPr/>
          <p:nvPr/>
        </p:nvSpPr>
        <p:spPr>
          <a:xfrm>
            <a:off x="3017520" y="2377440"/>
            <a:ext cx="100584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B82F6"/>
              </a:buClr>
              <a:buSzPts val="900"/>
              <a:buFont typeface="Calibri"/>
              <a:buNone/>
            </a:pPr>
            <a:r>
              <a:rPr b="0" i="0" lang="en-US" sz="900" u="none" cap="none" strike="noStrike">
                <a:solidFill>
                  <a:srgbClr val="3B82F6"/>
                </a:solidFill>
                <a:latin typeface="Calibri"/>
                <a:ea typeface="Calibri"/>
                <a:cs typeface="Calibri"/>
                <a:sym typeface="Calibri"/>
              </a:rPr>
              <a:t>UNIQUE, INDEX</a:t>
            </a:r>
            <a:endParaRPr b="0" i="0" sz="900" u="none" cap="none" strike="noStrike">
              <a:solidFill>
                <a:schemeClr val="dk1"/>
              </a:solidFill>
              <a:latin typeface="Calibri"/>
              <a:ea typeface="Calibri"/>
              <a:cs typeface="Calibri"/>
              <a:sym typeface="Calibri"/>
            </a:endParaRPr>
          </a:p>
        </p:txBody>
      </p:sp>
      <p:sp>
        <p:nvSpPr>
          <p:cNvPr id="234" name="Google Shape;234;p10"/>
          <p:cNvSpPr/>
          <p:nvPr/>
        </p:nvSpPr>
        <p:spPr>
          <a:xfrm>
            <a:off x="548640" y="2697480"/>
            <a:ext cx="3566160" cy="292608"/>
          </a:xfrm>
          <a:prstGeom prst="rect">
            <a:avLst/>
          </a:prstGeom>
          <a:solidFill>
            <a:srgbClr val="F4F6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10"/>
          <p:cNvSpPr/>
          <p:nvPr/>
        </p:nvSpPr>
        <p:spPr>
          <a:xfrm>
            <a:off x="640080" y="2697480"/>
            <a:ext cx="118872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000"/>
              <a:buFont typeface="Consolas"/>
              <a:buNone/>
            </a:pPr>
            <a:r>
              <a:rPr b="1" i="0" lang="en-US" sz="1000" u="none" cap="none" strike="noStrike">
                <a:solidFill>
                  <a:srgbClr val="1E293B"/>
                </a:solidFill>
                <a:latin typeface="Consolas"/>
                <a:ea typeface="Consolas"/>
                <a:cs typeface="Consolas"/>
                <a:sym typeface="Consolas"/>
              </a:rPr>
              <a:t>password_hash</a:t>
            </a:r>
            <a:endParaRPr b="0" i="0" sz="1000" u="none" cap="none" strike="noStrike">
              <a:solidFill>
                <a:schemeClr val="dk1"/>
              </a:solidFill>
              <a:latin typeface="Calibri"/>
              <a:ea typeface="Calibri"/>
              <a:cs typeface="Calibri"/>
              <a:sym typeface="Calibri"/>
            </a:endParaRPr>
          </a:p>
        </p:txBody>
      </p:sp>
      <p:sp>
        <p:nvSpPr>
          <p:cNvPr id="236" name="Google Shape;236;p10"/>
          <p:cNvSpPr/>
          <p:nvPr/>
        </p:nvSpPr>
        <p:spPr>
          <a:xfrm>
            <a:off x="1828800" y="2697480"/>
            <a:ext cx="118872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900"/>
              <a:buFont typeface="Consolas"/>
              <a:buNone/>
            </a:pPr>
            <a:r>
              <a:rPr b="0" i="0" lang="en-US" sz="900" u="none" cap="none" strike="noStrike">
                <a:solidFill>
                  <a:srgbClr val="64748B"/>
                </a:solidFill>
                <a:latin typeface="Consolas"/>
                <a:ea typeface="Consolas"/>
                <a:cs typeface="Consolas"/>
                <a:sym typeface="Consolas"/>
              </a:rPr>
              <a:t>VARCHAR(255)</a:t>
            </a:r>
            <a:endParaRPr b="0" i="0" sz="900" u="none" cap="none" strike="noStrike">
              <a:solidFill>
                <a:schemeClr val="dk1"/>
              </a:solidFill>
              <a:latin typeface="Calibri"/>
              <a:ea typeface="Calibri"/>
              <a:cs typeface="Calibri"/>
              <a:sym typeface="Calibri"/>
            </a:endParaRPr>
          </a:p>
        </p:txBody>
      </p:sp>
      <p:sp>
        <p:nvSpPr>
          <p:cNvPr id="237" name="Google Shape;237;p10"/>
          <p:cNvSpPr/>
          <p:nvPr/>
        </p:nvSpPr>
        <p:spPr>
          <a:xfrm>
            <a:off x="3017520" y="2697480"/>
            <a:ext cx="100584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B82F6"/>
              </a:buClr>
              <a:buSzPts val="900"/>
              <a:buFont typeface="Calibri"/>
              <a:buNone/>
            </a:pPr>
            <a:r>
              <a:rPr b="0" i="0" lang="en-US" sz="900" u="none" cap="none" strike="noStrike">
                <a:solidFill>
                  <a:srgbClr val="3B82F6"/>
                </a:solidFill>
                <a:latin typeface="Calibri"/>
                <a:ea typeface="Calibri"/>
                <a:cs typeface="Calibri"/>
                <a:sym typeface="Calibri"/>
              </a:rPr>
              <a:t>NOT NULL</a:t>
            </a:r>
            <a:endParaRPr b="0" i="0" sz="900" u="none" cap="none" strike="noStrike">
              <a:solidFill>
                <a:schemeClr val="dk1"/>
              </a:solidFill>
              <a:latin typeface="Calibri"/>
              <a:ea typeface="Calibri"/>
              <a:cs typeface="Calibri"/>
              <a:sym typeface="Calibri"/>
            </a:endParaRPr>
          </a:p>
        </p:txBody>
      </p:sp>
      <p:sp>
        <p:nvSpPr>
          <p:cNvPr id="238" name="Google Shape;238;p10"/>
          <p:cNvSpPr/>
          <p:nvPr/>
        </p:nvSpPr>
        <p:spPr>
          <a:xfrm>
            <a:off x="548640" y="3017520"/>
            <a:ext cx="3566160" cy="292608"/>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10"/>
          <p:cNvSpPr/>
          <p:nvPr/>
        </p:nvSpPr>
        <p:spPr>
          <a:xfrm>
            <a:off x="640080" y="3017520"/>
            <a:ext cx="118872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000"/>
              <a:buFont typeface="Consolas"/>
              <a:buNone/>
            </a:pPr>
            <a:r>
              <a:rPr b="1" i="0" lang="en-US" sz="1000" u="none" cap="none" strike="noStrike">
                <a:solidFill>
                  <a:srgbClr val="1E293B"/>
                </a:solidFill>
                <a:latin typeface="Consolas"/>
                <a:ea typeface="Consolas"/>
                <a:cs typeface="Consolas"/>
                <a:sym typeface="Consolas"/>
              </a:rPr>
              <a:t>speech_rate</a:t>
            </a:r>
            <a:endParaRPr b="0" i="0" sz="1000" u="none" cap="none" strike="noStrike">
              <a:solidFill>
                <a:schemeClr val="dk1"/>
              </a:solidFill>
              <a:latin typeface="Calibri"/>
              <a:ea typeface="Calibri"/>
              <a:cs typeface="Calibri"/>
              <a:sym typeface="Calibri"/>
            </a:endParaRPr>
          </a:p>
        </p:txBody>
      </p:sp>
      <p:sp>
        <p:nvSpPr>
          <p:cNvPr id="240" name="Google Shape;240;p10"/>
          <p:cNvSpPr/>
          <p:nvPr/>
        </p:nvSpPr>
        <p:spPr>
          <a:xfrm>
            <a:off x="1828800" y="3017520"/>
            <a:ext cx="118872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900"/>
              <a:buFont typeface="Consolas"/>
              <a:buNone/>
            </a:pPr>
            <a:r>
              <a:rPr b="0" i="0" lang="en-US" sz="900" u="none" cap="none" strike="noStrike">
                <a:solidFill>
                  <a:srgbClr val="64748B"/>
                </a:solidFill>
                <a:latin typeface="Consolas"/>
                <a:ea typeface="Consolas"/>
                <a:cs typeface="Consolas"/>
                <a:sym typeface="Consolas"/>
              </a:rPr>
              <a:t>FLOAT</a:t>
            </a:r>
            <a:endParaRPr b="0" i="0" sz="900" u="none" cap="none" strike="noStrike">
              <a:solidFill>
                <a:schemeClr val="dk1"/>
              </a:solidFill>
              <a:latin typeface="Calibri"/>
              <a:ea typeface="Calibri"/>
              <a:cs typeface="Calibri"/>
              <a:sym typeface="Calibri"/>
            </a:endParaRPr>
          </a:p>
        </p:txBody>
      </p:sp>
      <p:sp>
        <p:nvSpPr>
          <p:cNvPr id="241" name="Google Shape;241;p10"/>
          <p:cNvSpPr/>
          <p:nvPr/>
        </p:nvSpPr>
        <p:spPr>
          <a:xfrm>
            <a:off x="3017520" y="3017520"/>
            <a:ext cx="100584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B82F6"/>
              </a:buClr>
              <a:buSzPts val="900"/>
              <a:buFont typeface="Calibri"/>
              <a:buNone/>
            </a:pPr>
            <a:r>
              <a:rPr b="0" i="0" lang="en-US" sz="900" u="none" cap="none" strike="noStrike">
                <a:solidFill>
                  <a:srgbClr val="3B82F6"/>
                </a:solidFill>
                <a:latin typeface="Calibri"/>
                <a:ea typeface="Calibri"/>
                <a:cs typeface="Calibri"/>
                <a:sym typeface="Calibri"/>
              </a:rPr>
              <a:t>DEFAULT 1.0</a:t>
            </a:r>
            <a:endParaRPr b="0" i="0" sz="900" u="none" cap="none" strike="noStrike">
              <a:solidFill>
                <a:schemeClr val="dk1"/>
              </a:solidFill>
              <a:latin typeface="Calibri"/>
              <a:ea typeface="Calibri"/>
              <a:cs typeface="Calibri"/>
              <a:sym typeface="Calibri"/>
            </a:endParaRPr>
          </a:p>
        </p:txBody>
      </p:sp>
      <p:sp>
        <p:nvSpPr>
          <p:cNvPr id="242" name="Google Shape;242;p10"/>
          <p:cNvSpPr/>
          <p:nvPr/>
        </p:nvSpPr>
        <p:spPr>
          <a:xfrm>
            <a:off x="548640" y="3337560"/>
            <a:ext cx="3566160" cy="292608"/>
          </a:xfrm>
          <a:prstGeom prst="rect">
            <a:avLst/>
          </a:prstGeom>
          <a:solidFill>
            <a:srgbClr val="F4F6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10"/>
          <p:cNvSpPr/>
          <p:nvPr/>
        </p:nvSpPr>
        <p:spPr>
          <a:xfrm>
            <a:off x="640080" y="3337560"/>
            <a:ext cx="118872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000"/>
              <a:buFont typeface="Consolas"/>
              <a:buNone/>
            </a:pPr>
            <a:r>
              <a:rPr b="1" i="0" lang="en-US" sz="1000" u="none" cap="none" strike="noStrike">
                <a:solidFill>
                  <a:srgbClr val="1E293B"/>
                </a:solidFill>
                <a:latin typeface="Consolas"/>
                <a:ea typeface="Consolas"/>
                <a:cs typeface="Consolas"/>
                <a:sym typeface="Consolas"/>
              </a:rPr>
              <a:t>high_contrast</a:t>
            </a:r>
            <a:endParaRPr b="0" i="0" sz="1000" u="none" cap="none" strike="noStrike">
              <a:solidFill>
                <a:schemeClr val="dk1"/>
              </a:solidFill>
              <a:latin typeface="Calibri"/>
              <a:ea typeface="Calibri"/>
              <a:cs typeface="Calibri"/>
              <a:sym typeface="Calibri"/>
            </a:endParaRPr>
          </a:p>
        </p:txBody>
      </p:sp>
      <p:sp>
        <p:nvSpPr>
          <p:cNvPr id="244" name="Google Shape;244;p10"/>
          <p:cNvSpPr/>
          <p:nvPr/>
        </p:nvSpPr>
        <p:spPr>
          <a:xfrm>
            <a:off x="1828800" y="3337560"/>
            <a:ext cx="118872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900"/>
              <a:buFont typeface="Consolas"/>
              <a:buNone/>
            </a:pPr>
            <a:r>
              <a:rPr b="0" i="0" lang="en-US" sz="900" u="none" cap="none" strike="noStrike">
                <a:solidFill>
                  <a:srgbClr val="64748B"/>
                </a:solidFill>
                <a:latin typeface="Consolas"/>
                <a:ea typeface="Consolas"/>
                <a:cs typeface="Consolas"/>
                <a:sym typeface="Consolas"/>
              </a:rPr>
              <a:t>BOOLEAN</a:t>
            </a:r>
            <a:endParaRPr b="0" i="0" sz="900" u="none" cap="none" strike="noStrike">
              <a:solidFill>
                <a:schemeClr val="dk1"/>
              </a:solidFill>
              <a:latin typeface="Calibri"/>
              <a:ea typeface="Calibri"/>
              <a:cs typeface="Calibri"/>
              <a:sym typeface="Calibri"/>
            </a:endParaRPr>
          </a:p>
        </p:txBody>
      </p:sp>
      <p:sp>
        <p:nvSpPr>
          <p:cNvPr id="245" name="Google Shape;245;p10"/>
          <p:cNvSpPr/>
          <p:nvPr/>
        </p:nvSpPr>
        <p:spPr>
          <a:xfrm>
            <a:off x="3017520" y="3337560"/>
            <a:ext cx="100584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B82F6"/>
              </a:buClr>
              <a:buSzPts val="900"/>
              <a:buFont typeface="Calibri"/>
              <a:buNone/>
            </a:pPr>
            <a:r>
              <a:rPr b="0" i="0" lang="en-US" sz="900" u="none" cap="none" strike="noStrike">
                <a:solidFill>
                  <a:srgbClr val="3B82F6"/>
                </a:solidFill>
                <a:latin typeface="Calibri"/>
                <a:ea typeface="Calibri"/>
                <a:cs typeface="Calibri"/>
                <a:sym typeface="Calibri"/>
              </a:rPr>
              <a:t>DEFAULT FALSE</a:t>
            </a:r>
            <a:endParaRPr b="0" i="0" sz="900" u="none" cap="none" strike="noStrike">
              <a:solidFill>
                <a:schemeClr val="dk1"/>
              </a:solidFill>
              <a:latin typeface="Calibri"/>
              <a:ea typeface="Calibri"/>
              <a:cs typeface="Calibri"/>
              <a:sym typeface="Calibri"/>
            </a:endParaRPr>
          </a:p>
        </p:txBody>
      </p:sp>
      <p:sp>
        <p:nvSpPr>
          <p:cNvPr id="246" name="Google Shape;246;p10"/>
          <p:cNvSpPr/>
          <p:nvPr/>
        </p:nvSpPr>
        <p:spPr>
          <a:xfrm>
            <a:off x="548640" y="3657600"/>
            <a:ext cx="3566160" cy="292608"/>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10"/>
          <p:cNvSpPr/>
          <p:nvPr/>
        </p:nvSpPr>
        <p:spPr>
          <a:xfrm>
            <a:off x="640080" y="3657600"/>
            <a:ext cx="118872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000"/>
              <a:buFont typeface="Consolas"/>
              <a:buNone/>
            </a:pPr>
            <a:r>
              <a:rPr b="1" i="0" lang="en-US" sz="1000" u="none" cap="none" strike="noStrike">
                <a:solidFill>
                  <a:srgbClr val="1E293B"/>
                </a:solidFill>
                <a:latin typeface="Consolas"/>
                <a:ea typeface="Consolas"/>
                <a:cs typeface="Consolas"/>
                <a:sym typeface="Consolas"/>
              </a:rPr>
              <a:t>created_at</a:t>
            </a:r>
            <a:endParaRPr b="0" i="0" sz="1000" u="none" cap="none" strike="noStrike">
              <a:solidFill>
                <a:schemeClr val="dk1"/>
              </a:solidFill>
              <a:latin typeface="Calibri"/>
              <a:ea typeface="Calibri"/>
              <a:cs typeface="Calibri"/>
              <a:sym typeface="Calibri"/>
            </a:endParaRPr>
          </a:p>
        </p:txBody>
      </p:sp>
      <p:sp>
        <p:nvSpPr>
          <p:cNvPr id="248" name="Google Shape;248;p10"/>
          <p:cNvSpPr/>
          <p:nvPr/>
        </p:nvSpPr>
        <p:spPr>
          <a:xfrm>
            <a:off x="1828800" y="3657600"/>
            <a:ext cx="118872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900"/>
              <a:buFont typeface="Consolas"/>
              <a:buNone/>
            </a:pPr>
            <a:r>
              <a:rPr b="0" i="0" lang="en-US" sz="900" u="none" cap="none" strike="noStrike">
                <a:solidFill>
                  <a:srgbClr val="64748B"/>
                </a:solidFill>
                <a:latin typeface="Consolas"/>
                <a:ea typeface="Consolas"/>
                <a:cs typeface="Consolas"/>
                <a:sym typeface="Consolas"/>
              </a:rPr>
              <a:t>TIMESTAMP</a:t>
            </a:r>
            <a:endParaRPr b="0" i="0" sz="900" u="none" cap="none" strike="noStrike">
              <a:solidFill>
                <a:schemeClr val="dk1"/>
              </a:solidFill>
              <a:latin typeface="Calibri"/>
              <a:ea typeface="Calibri"/>
              <a:cs typeface="Calibri"/>
              <a:sym typeface="Calibri"/>
            </a:endParaRPr>
          </a:p>
        </p:txBody>
      </p:sp>
      <p:sp>
        <p:nvSpPr>
          <p:cNvPr id="249" name="Google Shape;249;p10"/>
          <p:cNvSpPr/>
          <p:nvPr/>
        </p:nvSpPr>
        <p:spPr>
          <a:xfrm>
            <a:off x="3017520" y="3657600"/>
            <a:ext cx="100584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B82F6"/>
              </a:buClr>
              <a:buSzPts val="900"/>
              <a:buFont typeface="Calibri"/>
              <a:buNone/>
            </a:pPr>
            <a:r>
              <a:rPr b="0" i="0" lang="en-US" sz="900" u="none" cap="none" strike="noStrike">
                <a:solidFill>
                  <a:srgbClr val="3B82F6"/>
                </a:solidFill>
                <a:latin typeface="Calibri"/>
                <a:ea typeface="Calibri"/>
                <a:cs typeface="Calibri"/>
                <a:sym typeface="Calibri"/>
              </a:rPr>
              <a:t>WITH TZ</a:t>
            </a:r>
            <a:endParaRPr b="0" i="0" sz="900" u="none" cap="none" strike="noStrike">
              <a:solidFill>
                <a:schemeClr val="dk1"/>
              </a:solidFill>
              <a:latin typeface="Calibri"/>
              <a:ea typeface="Calibri"/>
              <a:cs typeface="Calibri"/>
              <a:sym typeface="Calibri"/>
            </a:endParaRPr>
          </a:p>
        </p:txBody>
      </p:sp>
      <p:sp>
        <p:nvSpPr>
          <p:cNvPr id="250" name="Google Shape;250;p10"/>
          <p:cNvSpPr/>
          <p:nvPr/>
        </p:nvSpPr>
        <p:spPr>
          <a:xfrm>
            <a:off x="548640" y="3977640"/>
            <a:ext cx="3566160" cy="292608"/>
          </a:xfrm>
          <a:prstGeom prst="rect">
            <a:avLst/>
          </a:prstGeom>
          <a:solidFill>
            <a:srgbClr val="F4F6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10"/>
          <p:cNvSpPr/>
          <p:nvPr/>
        </p:nvSpPr>
        <p:spPr>
          <a:xfrm>
            <a:off x="640080" y="3977640"/>
            <a:ext cx="118872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000"/>
              <a:buFont typeface="Consolas"/>
              <a:buNone/>
            </a:pPr>
            <a:r>
              <a:rPr b="1" i="0" lang="en-US" sz="1000" u="none" cap="none" strike="noStrike">
                <a:solidFill>
                  <a:srgbClr val="1E293B"/>
                </a:solidFill>
                <a:latin typeface="Consolas"/>
                <a:ea typeface="Consolas"/>
                <a:cs typeface="Consolas"/>
                <a:sym typeface="Consolas"/>
              </a:rPr>
              <a:t>updated_at</a:t>
            </a:r>
            <a:endParaRPr b="0" i="0" sz="1000" u="none" cap="none" strike="noStrike">
              <a:solidFill>
                <a:schemeClr val="dk1"/>
              </a:solidFill>
              <a:latin typeface="Calibri"/>
              <a:ea typeface="Calibri"/>
              <a:cs typeface="Calibri"/>
              <a:sym typeface="Calibri"/>
            </a:endParaRPr>
          </a:p>
        </p:txBody>
      </p:sp>
      <p:sp>
        <p:nvSpPr>
          <p:cNvPr id="252" name="Google Shape;252;p10"/>
          <p:cNvSpPr/>
          <p:nvPr/>
        </p:nvSpPr>
        <p:spPr>
          <a:xfrm>
            <a:off x="1828800" y="3977640"/>
            <a:ext cx="118872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900"/>
              <a:buFont typeface="Consolas"/>
              <a:buNone/>
            </a:pPr>
            <a:r>
              <a:rPr b="0" i="0" lang="en-US" sz="900" u="none" cap="none" strike="noStrike">
                <a:solidFill>
                  <a:srgbClr val="64748B"/>
                </a:solidFill>
                <a:latin typeface="Consolas"/>
                <a:ea typeface="Consolas"/>
                <a:cs typeface="Consolas"/>
                <a:sym typeface="Consolas"/>
              </a:rPr>
              <a:t>TIMESTAMP</a:t>
            </a:r>
            <a:endParaRPr b="0" i="0" sz="900" u="none" cap="none" strike="noStrike">
              <a:solidFill>
                <a:schemeClr val="dk1"/>
              </a:solidFill>
              <a:latin typeface="Calibri"/>
              <a:ea typeface="Calibri"/>
              <a:cs typeface="Calibri"/>
              <a:sym typeface="Calibri"/>
            </a:endParaRPr>
          </a:p>
        </p:txBody>
      </p:sp>
      <p:sp>
        <p:nvSpPr>
          <p:cNvPr id="253" name="Google Shape;253;p10"/>
          <p:cNvSpPr/>
          <p:nvPr/>
        </p:nvSpPr>
        <p:spPr>
          <a:xfrm>
            <a:off x="3017520" y="3977640"/>
            <a:ext cx="100584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B82F6"/>
              </a:buClr>
              <a:buSzPts val="900"/>
              <a:buFont typeface="Calibri"/>
              <a:buNone/>
            </a:pPr>
            <a:r>
              <a:rPr b="0" i="0" lang="en-US" sz="900" u="none" cap="none" strike="noStrike">
                <a:solidFill>
                  <a:srgbClr val="3B82F6"/>
                </a:solidFill>
                <a:latin typeface="Calibri"/>
                <a:ea typeface="Calibri"/>
                <a:cs typeface="Calibri"/>
                <a:sym typeface="Calibri"/>
              </a:rPr>
              <a:t>WITH TZ</a:t>
            </a:r>
            <a:endParaRPr b="0" i="0" sz="900" u="none" cap="none" strike="noStrike">
              <a:solidFill>
                <a:schemeClr val="dk1"/>
              </a:solidFill>
              <a:latin typeface="Calibri"/>
              <a:ea typeface="Calibri"/>
              <a:cs typeface="Calibri"/>
              <a:sym typeface="Calibri"/>
            </a:endParaRPr>
          </a:p>
        </p:txBody>
      </p:sp>
      <p:sp>
        <p:nvSpPr>
          <p:cNvPr id="254" name="Google Shape;254;p10"/>
          <p:cNvSpPr/>
          <p:nvPr/>
        </p:nvSpPr>
        <p:spPr>
          <a:xfrm>
            <a:off x="4846320" y="1188720"/>
            <a:ext cx="3840480" cy="2743200"/>
          </a:xfrm>
          <a:prstGeom prst="rect">
            <a:avLst/>
          </a:prstGeom>
          <a:solidFill>
            <a:srgbClr val="F4F6FA"/>
          </a:solidFill>
          <a:ln>
            <a:noFill/>
          </a:ln>
          <a:effectLst>
            <a:outerShdw blurRad="508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10"/>
          <p:cNvSpPr/>
          <p:nvPr/>
        </p:nvSpPr>
        <p:spPr>
          <a:xfrm>
            <a:off x="4846320" y="1188720"/>
            <a:ext cx="3840480" cy="411480"/>
          </a:xfrm>
          <a:prstGeom prst="rect">
            <a:avLst/>
          </a:prstGeom>
          <a:solidFill>
            <a:srgbClr val="3B82F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56" name="Google Shape;256;p10"/>
          <p:cNvPicPr preferRelativeResize="0"/>
          <p:nvPr/>
        </p:nvPicPr>
        <p:blipFill rotWithShape="1">
          <a:blip r:embed="rId4">
            <a:alphaModFix/>
          </a:blip>
          <a:srcRect b="0" l="0" r="0" t="0"/>
          <a:stretch/>
        </p:blipFill>
        <p:spPr>
          <a:xfrm>
            <a:off x="4983480" y="1234440"/>
            <a:ext cx="274320" cy="274320"/>
          </a:xfrm>
          <a:prstGeom prst="rect">
            <a:avLst/>
          </a:prstGeom>
          <a:noFill/>
          <a:ln>
            <a:noFill/>
          </a:ln>
        </p:spPr>
      </p:pic>
      <p:sp>
        <p:nvSpPr>
          <p:cNvPr id="257" name="Google Shape;257;p10"/>
          <p:cNvSpPr/>
          <p:nvPr/>
        </p:nvSpPr>
        <p:spPr>
          <a:xfrm>
            <a:off x="5303520" y="1188720"/>
            <a:ext cx="27432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500"/>
              <a:buFont typeface="Consolas"/>
              <a:buNone/>
            </a:pPr>
            <a:r>
              <a:rPr b="1" i="0" lang="en-US" sz="1500" u="none" cap="none" strike="noStrike">
                <a:solidFill>
                  <a:srgbClr val="FFFFFF"/>
                </a:solidFill>
                <a:latin typeface="Consolas"/>
                <a:ea typeface="Consolas"/>
                <a:cs typeface="Consolas"/>
                <a:sym typeface="Consolas"/>
              </a:rPr>
              <a:t>analysis_history</a:t>
            </a:r>
            <a:endParaRPr b="0" i="0" sz="1500" u="none" cap="none" strike="noStrike">
              <a:solidFill>
                <a:schemeClr val="dk1"/>
              </a:solidFill>
              <a:latin typeface="Calibri"/>
              <a:ea typeface="Calibri"/>
              <a:cs typeface="Calibri"/>
              <a:sym typeface="Calibri"/>
            </a:endParaRPr>
          </a:p>
        </p:txBody>
      </p:sp>
      <p:sp>
        <p:nvSpPr>
          <p:cNvPr id="258" name="Google Shape;258;p10"/>
          <p:cNvSpPr/>
          <p:nvPr/>
        </p:nvSpPr>
        <p:spPr>
          <a:xfrm>
            <a:off x="4937760" y="1737360"/>
            <a:ext cx="3566160" cy="292608"/>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10"/>
          <p:cNvSpPr/>
          <p:nvPr/>
        </p:nvSpPr>
        <p:spPr>
          <a:xfrm>
            <a:off x="5029200" y="1737360"/>
            <a:ext cx="12801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000"/>
              <a:buFont typeface="Consolas"/>
              <a:buNone/>
            </a:pPr>
            <a:r>
              <a:rPr b="1" i="0" lang="en-US" sz="1000" u="none" cap="none" strike="noStrike">
                <a:solidFill>
                  <a:srgbClr val="1E293B"/>
                </a:solidFill>
                <a:latin typeface="Consolas"/>
                <a:ea typeface="Consolas"/>
                <a:cs typeface="Consolas"/>
                <a:sym typeface="Consolas"/>
              </a:rPr>
              <a:t>id</a:t>
            </a:r>
            <a:endParaRPr b="0" i="0" sz="1000" u="none" cap="none" strike="noStrike">
              <a:solidFill>
                <a:schemeClr val="dk1"/>
              </a:solidFill>
              <a:latin typeface="Calibri"/>
              <a:ea typeface="Calibri"/>
              <a:cs typeface="Calibri"/>
              <a:sym typeface="Calibri"/>
            </a:endParaRPr>
          </a:p>
        </p:txBody>
      </p:sp>
      <p:sp>
        <p:nvSpPr>
          <p:cNvPr id="260" name="Google Shape;260;p10"/>
          <p:cNvSpPr/>
          <p:nvPr/>
        </p:nvSpPr>
        <p:spPr>
          <a:xfrm>
            <a:off x="6309360" y="1737360"/>
            <a:ext cx="109728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900"/>
              <a:buFont typeface="Consolas"/>
              <a:buNone/>
            </a:pPr>
            <a:r>
              <a:rPr b="0" i="0" lang="en-US" sz="900" u="none" cap="none" strike="noStrike">
                <a:solidFill>
                  <a:srgbClr val="64748B"/>
                </a:solidFill>
                <a:latin typeface="Consolas"/>
                <a:ea typeface="Consolas"/>
                <a:cs typeface="Consolas"/>
                <a:sym typeface="Consolas"/>
              </a:rPr>
              <a:t>UUID</a:t>
            </a:r>
            <a:endParaRPr b="0" i="0" sz="900" u="none" cap="none" strike="noStrike">
              <a:solidFill>
                <a:schemeClr val="dk1"/>
              </a:solidFill>
              <a:latin typeface="Calibri"/>
              <a:ea typeface="Calibri"/>
              <a:cs typeface="Calibri"/>
              <a:sym typeface="Calibri"/>
            </a:endParaRPr>
          </a:p>
        </p:txBody>
      </p:sp>
      <p:sp>
        <p:nvSpPr>
          <p:cNvPr id="261" name="Google Shape;261;p10"/>
          <p:cNvSpPr/>
          <p:nvPr/>
        </p:nvSpPr>
        <p:spPr>
          <a:xfrm>
            <a:off x="7406640" y="1737360"/>
            <a:ext cx="100584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B82F6"/>
              </a:buClr>
              <a:buSzPts val="900"/>
              <a:buFont typeface="Calibri"/>
              <a:buNone/>
            </a:pPr>
            <a:r>
              <a:rPr b="0" i="0" lang="en-US" sz="900" u="none" cap="none" strike="noStrike">
                <a:solidFill>
                  <a:srgbClr val="3B82F6"/>
                </a:solidFill>
                <a:latin typeface="Calibri"/>
                <a:ea typeface="Calibri"/>
                <a:cs typeface="Calibri"/>
                <a:sym typeface="Calibri"/>
              </a:rPr>
              <a:t>PK</a:t>
            </a:r>
            <a:endParaRPr b="0" i="0" sz="900" u="none" cap="none" strike="noStrike">
              <a:solidFill>
                <a:schemeClr val="dk1"/>
              </a:solidFill>
              <a:latin typeface="Calibri"/>
              <a:ea typeface="Calibri"/>
              <a:cs typeface="Calibri"/>
              <a:sym typeface="Calibri"/>
            </a:endParaRPr>
          </a:p>
        </p:txBody>
      </p:sp>
      <p:sp>
        <p:nvSpPr>
          <p:cNvPr id="262" name="Google Shape;262;p10"/>
          <p:cNvSpPr/>
          <p:nvPr/>
        </p:nvSpPr>
        <p:spPr>
          <a:xfrm>
            <a:off x="4937760" y="2057400"/>
            <a:ext cx="3566160" cy="292608"/>
          </a:xfrm>
          <a:prstGeom prst="rect">
            <a:avLst/>
          </a:prstGeom>
          <a:solidFill>
            <a:srgbClr val="F4F6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10"/>
          <p:cNvSpPr/>
          <p:nvPr/>
        </p:nvSpPr>
        <p:spPr>
          <a:xfrm>
            <a:off x="5029200" y="2057400"/>
            <a:ext cx="12801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000"/>
              <a:buFont typeface="Consolas"/>
              <a:buNone/>
            </a:pPr>
            <a:r>
              <a:rPr b="1" i="0" lang="en-US" sz="1000" u="none" cap="none" strike="noStrike">
                <a:solidFill>
                  <a:srgbClr val="1E293B"/>
                </a:solidFill>
                <a:latin typeface="Consolas"/>
                <a:ea typeface="Consolas"/>
                <a:cs typeface="Consolas"/>
                <a:sym typeface="Consolas"/>
              </a:rPr>
              <a:t>user_id</a:t>
            </a:r>
            <a:endParaRPr b="0" i="0" sz="1000" u="none" cap="none" strike="noStrike">
              <a:solidFill>
                <a:schemeClr val="dk1"/>
              </a:solidFill>
              <a:latin typeface="Calibri"/>
              <a:ea typeface="Calibri"/>
              <a:cs typeface="Calibri"/>
              <a:sym typeface="Calibri"/>
            </a:endParaRPr>
          </a:p>
        </p:txBody>
      </p:sp>
      <p:sp>
        <p:nvSpPr>
          <p:cNvPr id="264" name="Google Shape;264;p10"/>
          <p:cNvSpPr/>
          <p:nvPr/>
        </p:nvSpPr>
        <p:spPr>
          <a:xfrm>
            <a:off x="6309360" y="2057400"/>
            <a:ext cx="109728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900"/>
              <a:buFont typeface="Consolas"/>
              <a:buNone/>
            </a:pPr>
            <a:r>
              <a:rPr b="0" i="0" lang="en-US" sz="900" u="none" cap="none" strike="noStrike">
                <a:solidFill>
                  <a:srgbClr val="64748B"/>
                </a:solidFill>
                <a:latin typeface="Consolas"/>
                <a:ea typeface="Consolas"/>
                <a:cs typeface="Consolas"/>
                <a:sym typeface="Consolas"/>
              </a:rPr>
              <a:t>UUID</a:t>
            </a:r>
            <a:endParaRPr b="0" i="0" sz="900" u="none" cap="none" strike="noStrike">
              <a:solidFill>
                <a:schemeClr val="dk1"/>
              </a:solidFill>
              <a:latin typeface="Calibri"/>
              <a:ea typeface="Calibri"/>
              <a:cs typeface="Calibri"/>
              <a:sym typeface="Calibri"/>
            </a:endParaRPr>
          </a:p>
        </p:txBody>
      </p:sp>
      <p:sp>
        <p:nvSpPr>
          <p:cNvPr id="265" name="Google Shape;265;p10"/>
          <p:cNvSpPr/>
          <p:nvPr/>
        </p:nvSpPr>
        <p:spPr>
          <a:xfrm>
            <a:off x="7406640" y="2057400"/>
            <a:ext cx="100584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B82F6"/>
              </a:buClr>
              <a:buSzPts val="900"/>
              <a:buFont typeface="Calibri"/>
              <a:buNone/>
            </a:pPr>
            <a:r>
              <a:rPr b="0" i="0" lang="en-US" sz="900" u="none" cap="none" strike="noStrike">
                <a:solidFill>
                  <a:srgbClr val="3B82F6"/>
                </a:solidFill>
                <a:latin typeface="Calibri"/>
                <a:ea typeface="Calibri"/>
                <a:cs typeface="Calibri"/>
                <a:sym typeface="Calibri"/>
              </a:rPr>
              <a:t>FK → users.id</a:t>
            </a:r>
            <a:endParaRPr b="0" i="0" sz="900" u="none" cap="none" strike="noStrike">
              <a:solidFill>
                <a:schemeClr val="dk1"/>
              </a:solidFill>
              <a:latin typeface="Calibri"/>
              <a:ea typeface="Calibri"/>
              <a:cs typeface="Calibri"/>
              <a:sym typeface="Calibri"/>
            </a:endParaRPr>
          </a:p>
        </p:txBody>
      </p:sp>
      <p:sp>
        <p:nvSpPr>
          <p:cNvPr id="266" name="Google Shape;266;p10"/>
          <p:cNvSpPr/>
          <p:nvPr/>
        </p:nvSpPr>
        <p:spPr>
          <a:xfrm>
            <a:off x="4937760" y="2377440"/>
            <a:ext cx="3566160" cy="292608"/>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10"/>
          <p:cNvSpPr/>
          <p:nvPr/>
        </p:nvSpPr>
        <p:spPr>
          <a:xfrm>
            <a:off x="5029200" y="2377440"/>
            <a:ext cx="12801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000"/>
              <a:buFont typeface="Consolas"/>
              <a:buNone/>
            </a:pPr>
            <a:r>
              <a:rPr b="1" i="0" lang="en-US" sz="1000" u="none" cap="none" strike="noStrike">
                <a:solidFill>
                  <a:srgbClr val="1E293B"/>
                </a:solidFill>
                <a:latin typeface="Consolas"/>
                <a:ea typeface="Consolas"/>
                <a:cs typeface="Consolas"/>
                <a:sym typeface="Consolas"/>
              </a:rPr>
              <a:t>image_filename</a:t>
            </a:r>
            <a:endParaRPr b="0" i="0" sz="1000" u="none" cap="none" strike="noStrike">
              <a:solidFill>
                <a:schemeClr val="dk1"/>
              </a:solidFill>
              <a:latin typeface="Calibri"/>
              <a:ea typeface="Calibri"/>
              <a:cs typeface="Calibri"/>
              <a:sym typeface="Calibri"/>
            </a:endParaRPr>
          </a:p>
        </p:txBody>
      </p:sp>
      <p:sp>
        <p:nvSpPr>
          <p:cNvPr id="268" name="Google Shape;268;p10"/>
          <p:cNvSpPr/>
          <p:nvPr/>
        </p:nvSpPr>
        <p:spPr>
          <a:xfrm>
            <a:off x="6309360" y="2377440"/>
            <a:ext cx="109728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900"/>
              <a:buFont typeface="Consolas"/>
              <a:buNone/>
            </a:pPr>
            <a:r>
              <a:rPr b="0" i="0" lang="en-US" sz="900" u="none" cap="none" strike="noStrike">
                <a:solidFill>
                  <a:srgbClr val="64748B"/>
                </a:solidFill>
                <a:latin typeface="Consolas"/>
                <a:ea typeface="Consolas"/>
                <a:cs typeface="Consolas"/>
                <a:sym typeface="Consolas"/>
              </a:rPr>
              <a:t>VARCHAR(255)</a:t>
            </a:r>
            <a:endParaRPr b="0" i="0" sz="900" u="none" cap="none" strike="noStrike">
              <a:solidFill>
                <a:schemeClr val="dk1"/>
              </a:solidFill>
              <a:latin typeface="Calibri"/>
              <a:ea typeface="Calibri"/>
              <a:cs typeface="Calibri"/>
              <a:sym typeface="Calibri"/>
            </a:endParaRPr>
          </a:p>
        </p:txBody>
      </p:sp>
      <p:sp>
        <p:nvSpPr>
          <p:cNvPr id="269" name="Google Shape;269;p10"/>
          <p:cNvSpPr/>
          <p:nvPr/>
        </p:nvSpPr>
        <p:spPr>
          <a:xfrm>
            <a:off x="7406640" y="2377440"/>
            <a:ext cx="100584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900"/>
              <a:buFont typeface="Calibri"/>
              <a:buNone/>
            </a:pPr>
            <a:r>
              <a:t/>
            </a:r>
            <a:endParaRPr b="0" i="0" sz="900" u="none" cap="none" strike="noStrike">
              <a:solidFill>
                <a:schemeClr val="dk1"/>
              </a:solidFill>
              <a:latin typeface="Calibri"/>
              <a:ea typeface="Calibri"/>
              <a:cs typeface="Calibri"/>
              <a:sym typeface="Calibri"/>
            </a:endParaRPr>
          </a:p>
        </p:txBody>
      </p:sp>
      <p:sp>
        <p:nvSpPr>
          <p:cNvPr id="270" name="Google Shape;270;p10"/>
          <p:cNvSpPr/>
          <p:nvPr/>
        </p:nvSpPr>
        <p:spPr>
          <a:xfrm>
            <a:off x="4937760" y="2697480"/>
            <a:ext cx="3566160" cy="292608"/>
          </a:xfrm>
          <a:prstGeom prst="rect">
            <a:avLst/>
          </a:prstGeom>
          <a:solidFill>
            <a:srgbClr val="F4F6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10"/>
          <p:cNvSpPr/>
          <p:nvPr/>
        </p:nvSpPr>
        <p:spPr>
          <a:xfrm>
            <a:off x="5029200" y="2697480"/>
            <a:ext cx="12801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000"/>
              <a:buFont typeface="Consolas"/>
              <a:buNone/>
            </a:pPr>
            <a:r>
              <a:rPr b="1" i="0" lang="en-US" sz="1000" u="none" cap="none" strike="noStrike">
                <a:solidFill>
                  <a:srgbClr val="1E293B"/>
                </a:solidFill>
                <a:latin typeface="Consolas"/>
                <a:ea typeface="Consolas"/>
                <a:cs typeface="Consolas"/>
                <a:sym typeface="Consolas"/>
              </a:rPr>
              <a:t>caption</a:t>
            </a:r>
            <a:endParaRPr b="0" i="0" sz="1000" u="none" cap="none" strike="noStrike">
              <a:solidFill>
                <a:schemeClr val="dk1"/>
              </a:solidFill>
              <a:latin typeface="Calibri"/>
              <a:ea typeface="Calibri"/>
              <a:cs typeface="Calibri"/>
              <a:sym typeface="Calibri"/>
            </a:endParaRPr>
          </a:p>
        </p:txBody>
      </p:sp>
      <p:sp>
        <p:nvSpPr>
          <p:cNvPr id="272" name="Google Shape;272;p10"/>
          <p:cNvSpPr/>
          <p:nvPr/>
        </p:nvSpPr>
        <p:spPr>
          <a:xfrm>
            <a:off x="6309360" y="2697480"/>
            <a:ext cx="109728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900"/>
              <a:buFont typeface="Consolas"/>
              <a:buNone/>
            </a:pPr>
            <a:r>
              <a:rPr b="0" i="0" lang="en-US" sz="900" u="none" cap="none" strike="noStrike">
                <a:solidFill>
                  <a:srgbClr val="64748B"/>
                </a:solidFill>
                <a:latin typeface="Consolas"/>
                <a:ea typeface="Consolas"/>
                <a:cs typeface="Consolas"/>
                <a:sym typeface="Consolas"/>
              </a:rPr>
              <a:t>TEXT</a:t>
            </a:r>
            <a:endParaRPr b="0" i="0" sz="900" u="none" cap="none" strike="noStrike">
              <a:solidFill>
                <a:schemeClr val="dk1"/>
              </a:solidFill>
              <a:latin typeface="Calibri"/>
              <a:ea typeface="Calibri"/>
              <a:cs typeface="Calibri"/>
              <a:sym typeface="Calibri"/>
            </a:endParaRPr>
          </a:p>
        </p:txBody>
      </p:sp>
      <p:sp>
        <p:nvSpPr>
          <p:cNvPr id="273" name="Google Shape;273;p10"/>
          <p:cNvSpPr/>
          <p:nvPr/>
        </p:nvSpPr>
        <p:spPr>
          <a:xfrm>
            <a:off x="7406640" y="2697480"/>
            <a:ext cx="100584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900"/>
              <a:buFont typeface="Calibri"/>
              <a:buNone/>
            </a:pPr>
            <a:r>
              <a:t/>
            </a:r>
            <a:endParaRPr b="0" i="0" sz="900" u="none" cap="none" strike="noStrike">
              <a:solidFill>
                <a:schemeClr val="dk1"/>
              </a:solidFill>
              <a:latin typeface="Calibri"/>
              <a:ea typeface="Calibri"/>
              <a:cs typeface="Calibri"/>
              <a:sym typeface="Calibri"/>
            </a:endParaRPr>
          </a:p>
        </p:txBody>
      </p:sp>
      <p:sp>
        <p:nvSpPr>
          <p:cNvPr id="274" name="Google Shape;274;p10"/>
          <p:cNvSpPr/>
          <p:nvPr/>
        </p:nvSpPr>
        <p:spPr>
          <a:xfrm>
            <a:off x="4937760" y="3017520"/>
            <a:ext cx="3566160" cy="292608"/>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10"/>
          <p:cNvSpPr/>
          <p:nvPr/>
        </p:nvSpPr>
        <p:spPr>
          <a:xfrm>
            <a:off x="5029200" y="3017520"/>
            <a:ext cx="12801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000"/>
              <a:buFont typeface="Consolas"/>
              <a:buNone/>
            </a:pPr>
            <a:r>
              <a:rPr b="1" i="0" lang="en-US" sz="1000" u="none" cap="none" strike="noStrike">
                <a:solidFill>
                  <a:srgbClr val="1E293B"/>
                </a:solidFill>
                <a:latin typeface="Consolas"/>
                <a:ea typeface="Consolas"/>
                <a:cs typeface="Consolas"/>
                <a:sym typeface="Consolas"/>
              </a:rPr>
              <a:t>objects_detected</a:t>
            </a:r>
            <a:endParaRPr b="0" i="0" sz="1000" u="none" cap="none" strike="noStrike">
              <a:solidFill>
                <a:schemeClr val="dk1"/>
              </a:solidFill>
              <a:latin typeface="Calibri"/>
              <a:ea typeface="Calibri"/>
              <a:cs typeface="Calibri"/>
              <a:sym typeface="Calibri"/>
            </a:endParaRPr>
          </a:p>
        </p:txBody>
      </p:sp>
      <p:sp>
        <p:nvSpPr>
          <p:cNvPr id="276" name="Google Shape;276;p10"/>
          <p:cNvSpPr/>
          <p:nvPr/>
        </p:nvSpPr>
        <p:spPr>
          <a:xfrm>
            <a:off x="6309360" y="3017520"/>
            <a:ext cx="109728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900"/>
              <a:buFont typeface="Consolas"/>
              <a:buNone/>
            </a:pPr>
            <a:r>
              <a:rPr b="0" i="0" lang="en-US" sz="900" u="none" cap="none" strike="noStrike">
                <a:solidFill>
                  <a:srgbClr val="64748B"/>
                </a:solidFill>
                <a:latin typeface="Consolas"/>
                <a:ea typeface="Consolas"/>
                <a:cs typeface="Consolas"/>
                <a:sym typeface="Consolas"/>
              </a:rPr>
              <a:t>JSONB</a:t>
            </a:r>
            <a:endParaRPr b="0" i="0" sz="900" u="none" cap="none" strike="noStrike">
              <a:solidFill>
                <a:schemeClr val="dk1"/>
              </a:solidFill>
              <a:latin typeface="Calibri"/>
              <a:ea typeface="Calibri"/>
              <a:cs typeface="Calibri"/>
              <a:sym typeface="Calibri"/>
            </a:endParaRPr>
          </a:p>
        </p:txBody>
      </p:sp>
      <p:sp>
        <p:nvSpPr>
          <p:cNvPr id="277" name="Google Shape;277;p10"/>
          <p:cNvSpPr/>
          <p:nvPr/>
        </p:nvSpPr>
        <p:spPr>
          <a:xfrm>
            <a:off x="7406640" y="3017520"/>
            <a:ext cx="100584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900"/>
              <a:buFont typeface="Calibri"/>
              <a:buNone/>
            </a:pPr>
            <a:r>
              <a:t/>
            </a:r>
            <a:endParaRPr b="0" i="0" sz="900" u="none" cap="none" strike="noStrike">
              <a:solidFill>
                <a:schemeClr val="dk1"/>
              </a:solidFill>
              <a:latin typeface="Calibri"/>
              <a:ea typeface="Calibri"/>
              <a:cs typeface="Calibri"/>
              <a:sym typeface="Calibri"/>
            </a:endParaRPr>
          </a:p>
        </p:txBody>
      </p:sp>
      <p:sp>
        <p:nvSpPr>
          <p:cNvPr id="278" name="Google Shape;278;p10"/>
          <p:cNvSpPr/>
          <p:nvPr/>
        </p:nvSpPr>
        <p:spPr>
          <a:xfrm>
            <a:off x="4937760" y="3337560"/>
            <a:ext cx="3566160" cy="292608"/>
          </a:xfrm>
          <a:prstGeom prst="rect">
            <a:avLst/>
          </a:prstGeom>
          <a:solidFill>
            <a:srgbClr val="F4F6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10"/>
          <p:cNvSpPr/>
          <p:nvPr/>
        </p:nvSpPr>
        <p:spPr>
          <a:xfrm>
            <a:off x="5029200" y="3337560"/>
            <a:ext cx="12801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000"/>
              <a:buFont typeface="Consolas"/>
              <a:buNone/>
            </a:pPr>
            <a:r>
              <a:rPr b="1" i="0" lang="en-US" sz="1000" u="none" cap="none" strike="noStrike">
                <a:solidFill>
                  <a:srgbClr val="1E293B"/>
                </a:solidFill>
                <a:latin typeface="Consolas"/>
                <a:ea typeface="Consolas"/>
                <a:cs typeface="Consolas"/>
                <a:sym typeface="Consolas"/>
              </a:rPr>
              <a:t>created_at</a:t>
            </a:r>
            <a:endParaRPr b="0" i="0" sz="1000" u="none" cap="none" strike="noStrike">
              <a:solidFill>
                <a:schemeClr val="dk1"/>
              </a:solidFill>
              <a:latin typeface="Calibri"/>
              <a:ea typeface="Calibri"/>
              <a:cs typeface="Calibri"/>
              <a:sym typeface="Calibri"/>
            </a:endParaRPr>
          </a:p>
        </p:txBody>
      </p:sp>
      <p:sp>
        <p:nvSpPr>
          <p:cNvPr id="280" name="Google Shape;280;p10"/>
          <p:cNvSpPr/>
          <p:nvPr/>
        </p:nvSpPr>
        <p:spPr>
          <a:xfrm>
            <a:off x="6309360" y="3337560"/>
            <a:ext cx="109728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900"/>
              <a:buFont typeface="Consolas"/>
              <a:buNone/>
            </a:pPr>
            <a:r>
              <a:rPr b="0" i="0" lang="en-US" sz="900" u="none" cap="none" strike="noStrike">
                <a:solidFill>
                  <a:srgbClr val="64748B"/>
                </a:solidFill>
                <a:latin typeface="Consolas"/>
                <a:ea typeface="Consolas"/>
                <a:cs typeface="Consolas"/>
                <a:sym typeface="Consolas"/>
              </a:rPr>
              <a:t>TIMESTAMP</a:t>
            </a:r>
            <a:endParaRPr b="0" i="0" sz="900" u="none" cap="none" strike="noStrike">
              <a:solidFill>
                <a:schemeClr val="dk1"/>
              </a:solidFill>
              <a:latin typeface="Calibri"/>
              <a:ea typeface="Calibri"/>
              <a:cs typeface="Calibri"/>
              <a:sym typeface="Calibri"/>
            </a:endParaRPr>
          </a:p>
        </p:txBody>
      </p:sp>
      <p:sp>
        <p:nvSpPr>
          <p:cNvPr id="281" name="Google Shape;281;p10"/>
          <p:cNvSpPr/>
          <p:nvPr/>
        </p:nvSpPr>
        <p:spPr>
          <a:xfrm>
            <a:off x="7406640" y="3337560"/>
            <a:ext cx="100584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B82F6"/>
              </a:buClr>
              <a:buSzPts val="900"/>
              <a:buFont typeface="Calibri"/>
              <a:buNone/>
            </a:pPr>
            <a:r>
              <a:rPr b="0" i="0" lang="en-US" sz="900" u="none" cap="none" strike="noStrike">
                <a:solidFill>
                  <a:srgbClr val="3B82F6"/>
                </a:solidFill>
                <a:latin typeface="Calibri"/>
                <a:ea typeface="Calibri"/>
                <a:cs typeface="Calibri"/>
                <a:sym typeface="Calibri"/>
              </a:rPr>
              <a:t>WITH TZ</a:t>
            </a:r>
            <a:endParaRPr b="0" i="0" sz="900" u="none" cap="none" strike="noStrike">
              <a:solidFill>
                <a:schemeClr val="dk1"/>
              </a:solidFill>
              <a:latin typeface="Calibri"/>
              <a:ea typeface="Calibri"/>
              <a:cs typeface="Calibri"/>
              <a:sym typeface="Calibri"/>
            </a:endParaRPr>
          </a:p>
        </p:txBody>
      </p:sp>
      <p:sp>
        <p:nvSpPr>
          <p:cNvPr id="282" name="Google Shape;282;p10"/>
          <p:cNvSpPr/>
          <p:nvPr/>
        </p:nvSpPr>
        <p:spPr>
          <a:xfrm>
            <a:off x="4114800" y="2103120"/>
            <a:ext cx="91440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1200"/>
              <a:buFont typeface="Calibri"/>
              <a:buNone/>
            </a:pPr>
            <a:r>
              <a:rPr b="0" i="0" lang="en-US" sz="1200" u="none" cap="none" strike="noStrike">
                <a:solidFill>
                  <a:srgbClr val="64748B"/>
                </a:solidFill>
                <a:latin typeface="Calibri"/>
                <a:ea typeface="Calibri"/>
                <a:cs typeface="Calibri"/>
                <a:sym typeface="Calibri"/>
              </a:rPr>
              <a:t>1 : N</a:t>
            </a:r>
            <a:endParaRPr b="0" i="0" sz="1200" u="none" cap="none" strike="noStrike">
              <a:solidFill>
                <a:schemeClr val="dk1"/>
              </a:solidFill>
              <a:latin typeface="Calibri"/>
              <a:ea typeface="Calibri"/>
              <a:cs typeface="Calibri"/>
              <a:sym typeface="Calibri"/>
            </a:endParaRPr>
          </a:p>
        </p:txBody>
      </p:sp>
      <p:cxnSp>
        <p:nvCxnSpPr>
          <p:cNvPr id="283" name="Google Shape;283;p10"/>
          <p:cNvCxnSpPr/>
          <p:nvPr/>
        </p:nvCxnSpPr>
        <p:spPr>
          <a:xfrm>
            <a:off x="4297680" y="1828800"/>
            <a:ext cx="0" cy="274320"/>
          </a:xfrm>
          <a:prstGeom prst="straightConnector1">
            <a:avLst/>
          </a:prstGeom>
          <a:noFill/>
          <a:ln cap="flat" cmpd="sng" w="25400">
            <a:solidFill>
              <a:srgbClr val="64748B"/>
            </a:solidFill>
            <a:prstDash val="solid"/>
            <a:round/>
            <a:headEnd len="sm" w="sm" type="none"/>
            <a:tailEnd len="sm" w="sm" type="none"/>
          </a:ln>
        </p:spPr>
      </p:cxnSp>
      <p:cxnSp>
        <p:nvCxnSpPr>
          <p:cNvPr id="284" name="Google Shape;284;p10"/>
          <p:cNvCxnSpPr/>
          <p:nvPr/>
        </p:nvCxnSpPr>
        <p:spPr>
          <a:xfrm>
            <a:off x="4297680" y="2377440"/>
            <a:ext cx="0" cy="274320"/>
          </a:xfrm>
          <a:prstGeom prst="straightConnector1">
            <a:avLst/>
          </a:prstGeom>
          <a:noFill/>
          <a:ln cap="flat" cmpd="sng" w="25400">
            <a:solidFill>
              <a:srgbClr val="64748B"/>
            </a:solidFill>
            <a:prstDash val="solid"/>
            <a:round/>
            <a:headEnd len="sm" w="sm" type="none"/>
            <a:tailEnd len="sm" w="sm" type="none"/>
          </a:ln>
        </p:spPr>
      </p:cxn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89" name="Shape 289"/>
        <p:cNvGrpSpPr/>
        <p:nvPr/>
      </p:nvGrpSpPr>
      <p:grpSpPr>
        <a:xfrm>
          <a:off x="0" y="0"/>
          <a:ext cx="0" cy="0"/>
          <a:chOff x="0" y="0"/>
          <a:chExt cx="0" cy="0"/>
        </a:xfrm>
      </p:grpSpPr>
      <p:sp>
        <p:nvSpPr>
          <p:cNvPr id="290" name="Google Shape;290;p11"/>
          <p:cNvSpPr/>
          <p:nvPr/>
        </p:nvSpPr>
        <p:spPr>
          <a:xfrm>
            <a:off x="0" y="0"/>
            <a:ext cx="9144000" cy="54864"/>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11"/>
          <p:cNvSpPr/>
          <p:nvPr/>
        </p:nvSpPr>
        <p:spPr>
          <a:xfrm>
            <a:off x="731520" y="320040"/>
            <a:ext cx="768096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4A"/>
              </a:buClr>
              <a:buSzPts val="3200"/>
              <a:buFont typeface="Georgia"/>
              <a:buNone/>
            </a:pPr>
            <a:r>
              <a:rPr b="1" i="0" lang="en-US" sz="3200" u="none" cap="none" strike="noStrike">
                <a:solidFill>
                  <a:srgbClr val="1B2A4A"/>
                </a:solidFill>
                <a:latin typeface="Georgia"/>
                <a:ea typeface="Georgia"/>
                <a:cs typeface="Georgia"/>
                <a:sym typeface="Georgia"/>
              </a:rPr>
              <a:t>Frontend Component Structure</a:t>
            </a:r>
            <a:endParaRPr b="0" i="0" sz="3200" u="none" cap="none" strike="noStrike">
              <a:solidFill>
                <a:schemeClr val="dk1"/>
              </a:solidFill>
              <a:latin typeface="Calibri"/>
              <a:ea typeface="Calibri"/>
              <a:cs typeface="Calibri"/>
              <a:sym typeface="Calibri"/>
            </a:endParaRPr>
          </a:p>
        </p:txBody>
      </p:sp>
      <p:sp>
        <p:nvSpPr>
          <p:cNvPr id="292" name="Google Shape;292;p11"/>
          <p:cNvSpPr/>
          <p:nvPr/>
        </p:nvSpPr>
        <p:spPr>
          <a:xfrm>
            <a:off x="457200" y="1097280"/>
            <a:ext cx="8229600" cy="3657600"/>
          </a:xfrm>
          <a:prstGeom prst="rect">
            <a:avLst/>
          </a:prstGeom>
          <a:solidFill>
            <a:srgbClr val="F4F6FA"/>
          </a:solidFill>
          <a:ln cap="flat" cmpd="sng" w="25400">
            <a:solidFill>
              <a:srgbClr val="3B82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11"/>
          <p:cNvSpPr/>
          <p:nvPr/>
        </p:nvSpPr>
        <p:spPr>
          <a:xfrm>
            <a:off x="457200" y="1115568"/>
            <a:ext cx="822960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B82F6"/>
              </a:buClr>
              <a:buSzPts val="1100"/>
              <a:buFont typeface="Consolas"/>
              <a:buNone/>
            </a:pPr>
            <a:r>
              <a:rPr b="1" i="0" lang="en-US" sz="1100" u="none" cap="none" strike="noStrike">
                <a:solidFill>
                  <a:srgbClr val="3B82F6"/>
                </a:solidFill>
                <a:latin typeface="Consolas"/>
                <a:ea typeface="Consolas"/>
                <a:cs typeface="Consolas"/>
                <a:sym typeface="Consolas"/>
              </a:rPr>
              <a:t>App.jsx  (React Router)</a:t>
            </a:r>
            <a:endParaRPr b="0" i="0" sz="1100" u="none" cap="none" strike="noStrike">
              <a:solidFill>
                <a:schemeClr val="dk1"/>
              </a:solidFill>
              <a:latin typeface="Calibri"/>
              <a:ea typeface="Calibri"/>
              <a:cs typeface="Calibri"/>
              <a:sym typeface="Calibri"/>
            </a:endParaRPr>
          </a:p>
        </p:txBody>
      </p:sp>
      <p:sp>
        <p:nvSpPr>
          <p:cNvPr id="294" name="Google Shape;294;p11"/>
          <p:cNvSpPr/>
          <p:nvPr/>
        </p:nvSpPr>
        <p:spPr>
          <a:xfrm>
            <a:off x="640080" y="1463040"/>
            <a:ext cx="18288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000"/>
              <a:buFont typeface="Calibri"/>
              <a:buNone/>
            </a:pPr>
            <a:r>
              <a:rPr b="1" i="0" lang="en-US" sz="1000" u="none" cap="none" strike="noStrike">
                <a:solidFill>
                  <a:srgbClr val="64748B"/>
                </a:solidFill>
                <a:latin typeface="Calibri"/>
                <a:ea typeface="Calibri"/>
                <a:cs typeface="Calibri"/>
                <a:sym typeface="Calibri"/>
              </a:rPr>
              <a:t>Shared Components</a:t>
            </a:r>
            <a:endParaRPr b="0" i="0" sz="1000" u="none" cap="none" strike="noStrike">
              <a:solidFill>
                <a:schemeClr val="dk1"/>
              </a:solidFill>
              <a:latin typeface="Calibri"/>
              <a:ea typeface="Calibri"/>
              <a:cs typeface="Calibri"/>
              <a:sym typeface="Calibri"/>
            </a:endParaRPr>
          </a:p>
        </p:txBody>
      </p:sp>
      <p:sp>
        <p:nvSpPr>
          <p:cNvPr id="295" name="Google Shape;295;p11"/>
          <p:cNvSpPr/>
          <p:nvPr/>
        </p:nvSpPr>
        <p:spPr>
          <a:xfrm>
            <a:off x="640080" y="1737360"/>
            <a:ext cx="1737360" cy="365760"/>
          </a:xfrm>
          <a:prstGeom prst="rect">
            <a:avLst/>
          </a:prstGeom>
          <a:solidFill>
            <a:srgbClr val="FFFFFF"/>
          </a:solidFill>
          <a:ln>
            <a:noFill/>
          </a:ln>
          <a:effectLst>
            <a:outerShdw blurRad="508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11"/>
          <p:cNvSpPr/>
          <p:nvPr/>
        </p:nvSpPr>
        <p:spPr>
          <a:xfrm>
            <a:off x="640080" y="1737360"/>
            <a:ext cx="173736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93B"/>
              </a:buClr>
              <a:buSzPts val="1000"/>
              <a:buFont typeface="Consolas"/>
              <a:buNone/>
            </a:pPr>
            <a:r>
              <a:rPr b="0" i="0" lang="en-US" sz="1000" u="none" cap="none" strike="noStrike">
                <a:solidFill>
                  <a:srgbClr val="1E293B"/>
                </a:solidFill>
                <a:latin typeface="Consolas"/>
                <a:ea typeface="Consolas"/>
                <a:cs typeface="Consolas"/>
                <a:sym typeface="Consolas"/>
              </a:rPr>
              <a:t>Navbar.jsx</a:t>
            </a:r>
            <a:endParaRPr b="0" i="0" sz="1000" u="none" cap="none" strike="noStrike">
              <a:solidFill>
                <a:schemeClr val="dk1"/>
              </a:solidFill>
              <a:latin typeface="Calibri"/>
              <a:ea typeface="Calibri"/>
              <a:cs typeface="Calibri"/>
              <a:sym typeface="Calibri"/>
            </a:endParaRPr>
          </a:p>
        </p:txBody>
      </p:sp>
      <p:sp>
        <p:nvSpPr>
          <p:cNvPr id="297" name="Google Shape;297;p11"/>
          <p:cNvSpPr/>
          <p:nvPr/>
        </p:nvSpPr>
        <p:spPr>
          <a:xfrm>
            <a:off x="2560320" y="1737360"/>
            <a:ext cx="1737360" cy="365760"/>
          </a:xfrm>
          <a:prstGeom prst="rect">
            <a:avLst/>
          </a:prstGeom>
          <a:solidFill>
            <a:srgbClr val="FFFFFF"/>
          </a:solidFill>
          <a:ln>
            <a:noFill/>
          </a:ln>
          <a:effectLst>
            <a:outerShdw blurRad="508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11"/>
          <p:cNvSpPr/>
          <p:nvPr/>
        </p:nvSpPr>
        <p:spPr>
          <a:xfrm>
            <a:off x="2560320" y="1737360"/>
            <a:ext cx="173736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93B"/>
              </a:buClr>
              <a:buSzPts val="1000"/>
              <a:buFont typeface="Consolas"/>
              <a:buNone/>
            </a:pPr>
            <a:r>
              <a:rPr b="0" i="0" lang="en-US" sz="1000" u="none" cap="none" strike="noStrike">
                <a:solidFill>
                  <a:srgbClr val="1E293B"/>
                </a:solidFill>
                <a:latin typeface="Consolas"/>
                <a:ea typeface="Consolas"/>
                <a:cs typeface="Consolas"/>
                <a:sym typeface="Consolas"/>
              </a:rPr>
              <a:t>Footer.jsx</a:t>
            </a:r>
            <a:endParaRPr b="0" i="0" sz="1000" u="none" cap="none" strike="noStrike">
              <a:solidFill>
                <a:schemeClr val="dk1"/>
              </a:solidFill>
              <a:latin typeface="Calibri"/>
              <a:ea typeface="Calibri"/>
              <a:cs typeface="Calibri"/>
              <a:sym typeface="Calibri"/>
            </a:endParaRPr>
          </a:p>
        </p:txBody>
      </p:sp>
      <p:sp>
        <p:nvSpPr>
          <p:cNvPr id="299" name="Google Shape;299;p11"/>
          <p:cNvSpPr/>
          <p:nvPr/>
        </p:nvSpPr>
        <p:spPr>
          <a:xfrm>
            <a:off x="4480560" y="1737360"/>
            <a:ext cx="1737360" cy="365760"/>
          </a:xfrm>
          <a:prstGeom prst="rect">
            <a:avLst/>
          </a:prstGeom>
          <a:solidFill>
            <a:srgbClr val="FFFFFF"/>
          </a:solidFill>
          <a:ln>
            <a:noFill/>
          </a:ln>
          <a:effectLst>
            <a:outerShdw blurRad="508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11"/>
          <p:cNvSpPr/>
          <p:nvPr/>
        </p:nvSpPr>
        <p:spPr>
          <a:xfrm>
            <a:off x="4480560" y="1737360"/>
            <a:ext cx="173736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93B"/>
              </a:buClr>
              <a:buSzPts val="1000"/>
              <a:buFont typeface="Consolas"/>
              <a:buNone/>
            </a:pPr>
            <a:r>
              <a:rPr b="0" i="0" lang="en-US" sz="1000" u="none" cap="none" strike="noStrike">
                <a:solidFill>
                  <a:srgbClr val="1E293B"/>
                </a:solidFill>
                <a:latin typeface="Consolas"/>
                <a:ea typeface="Consolas"/>
                <a:cs typeface="Consolas"/>
                <a:sym typeface="Consolas"/>
              </a:rPr>
              <a:t>ProtectedRoute.jsx</a:t>
            </a:r>
            <a:endParaRPr b="0" i="0" sz="1000" u="none" cap="none" strike="noStrike">
              <a:solidFill>
                <a:schemeClr val="dk1"/>
              </a:solidFill>
              <a:latin typeface="Calibri"/>
              <a:ea typeface="Calibri"/>
              <a:cs typeface="Calibri"/>
              <a:sym typeface="Calibri"/>
            </a:endParaRPr>
          </a:p>
        </p:txBody>
      </p:sp>
      <p:sp>
        <p:nvSpPr>
          <p:cNvPr id="301" name="Google Shape;301;p11"/>
          <p:cNvSpPr/>
          <p:nvPr/>
        </p:nvSpPr>
        <p:spPr>
          <a:xfrm>
            <a:off x="640080" y="2286000"/>
            <a:ext cx="18288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000"/>
              <a:buFont typeface="Calibri"/>
              <a:buNone/>
            </a:pPr>
            <a:r>
              <a:rPr b="1" i="0" lang="en-US" sz="1000" u="none" cap="none" strike="noStrike">
                <a:solidFill>
                  <a:srgbClr val="64748B"/>
                </a:solidFill>
                <a:latin typeface="Calibri"/>
                <a:ea typeface="Calibri"/>
                <a:cs typeface="Calibri"/>
                <a:sym typeface="Calibri"/>
              </a:rPr>
              <a:t>Pages (routes)</a:t>
            </a:r>
            <a:endParaRPr b="0" i="0" sz="1000" u="none" cap="none" strike="noStrike">
              <a:solidFill>
                <a:schemeClr val="dk1"/>
              </a:solidFill>
              <a:latin typeface="Calibri"/>
              <a:ea typeface="Calibri"/>
              <a:cs typeface="Calibri"/>
              <a:sym typeface="Calibri"/>
            </a:endParaRPr>
          </a:p>
        </p:txBody>
      </p:sp>
      <p:sp>
        <p:nvSpPr>
          <p:cNvPr id="302" name="Google Shape;302;p11"/>
          <p:cNvSpPr/>
          <p:nvPr/>
        </p:nvSpPr>
        <p:spPr>
          <a:xfrm>
            <a:off x="640080" y="2606040"/>
            <a:ext cx="2423160" cy="411480"/>
          </a:xfrm>
          <a:prstGeom prst="rect">
            <a:avLst/>
          </a:prstGeom>
          <a:solidFill>
            <a:srgbClr val="FFFFFF"/>
          </a:solidFill>
          <a:ln>
            <a:noFill/>
          </a:ln>
          <a:effectLst>
            <a:outerShdw blurRad="508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11"/>
          <p:cNvSpPr/>
          <p:nvPr/>
        </p:nvSpPr>
        <p:spPr>
          <a:xfrm>
            <a:off x="731520" y="2606040"/>
            <a:ext cx="146304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900"/>
              <a:buFont typeface="Consolas"/>
              <a:buNone/>
            </a:pPr>
            <a:r>
              <a:rPr b="0" i="0" lang="en-US" sz="900" u="none" cap="none" strike="noStrike">
                <a:solidFill>
                  <a:srgbClr val="1E293B"/>
                </a:solidFill>
                <a:latin typeface="Consolas"/>
                <a:ea typeface="Consolas"/>
                <a:cs typeface="Consolas"/>
                <a:sym typeface="Consolas"/>
              </a:rPr>
              <a:t>LandingPage</a:t>
            </a:r>
            <a:endParaRPr b="0" i="0" sz="900" u="none" cap="none" strike="noStrike">
              <a:solidFill>
                <a:schemeClr val="dk1"/>
              </a:solidFill>
              <a:latin typeface="Calibri"/>
              <a:ea typeface="Calibri"/>
              <a:cs typeface="Calibri"/>
              <a:sym typeface="Calibri"/>
            </a:endParaRPr>
          </a:p>
        </p:txBody>
      </p:sp>
      <p:sp>
        <p:nvSpPr>
          <p:cNvPr id="304" name="Google Shape;304;p11"/>
          <p:cNvSpPr/>
          <p:nvPr/>
        </p:nvSpPr>
        <p:spPr>
          <a:xfrm>
            <a:off x="2103120" y="2606040"/>
            <a:ext cx="868680" cy="4114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3B82F6"/>
              </a:buClr>
              <a:buSzPts val="800"/>
              <a:buFont typeface="Consolas"/>
              <a:buNone/>
            </a:pPr>
            <a:r>
              <a:rPr b="0" i="0" lang="en-US" sz="800" u="none" cap="none" strike="noStrike">
                <a:solidFill>
                  <a:srgbClr val="3B82F6"/>
                </a:solidFill>
                <a:latin typeface="Consolas"/>
                <a:ea typeface="Consolas"/>
                <a:cs typeface="Consolas"/>
                <a:sym typeface="Consolas"/>
              </a:rPr>
              <a:t>/</a:t>
            </a:r>
            <a:endParaRPr b="0" i="0" sz="800" u="none" cap="none" strike="noStrike">
              <a:solidFill>
                <a:schemeClr val="dk1"/>
              </a:solidFill>
              <a:latin typeface="Calibri"/>
              <a:ea typeface="Calibri"/>
              <a:cs typeface="Calibri"/>
              <a:sym typeface="Calibri"/>
            </a:endParaRPr>
          </a:p>
        </p:txBody>
      </p:sp>
      <p:sp>
        <p:nvSpPr>
          <p:cNvPr id="305" name="Google Shape;305;p11"/>
          <p:cNvSpPr/>
          <p:nvPr/>
        </p:nvSpPr>
        <p:spPr>
          <a:xfrm>
            <a:off x="3246120" y="2606040"/>
            <a:ext cx="2423160" cy="411480"/>
          </a:xfrm>
          <a:prstGeom prst="rect">
            <a:avLst/>
          </a:prstGeom>
          <a:solidFill>
            <a:srgbClr val="FFFFFF"/>
          </a:solidFill>
          <a:ln>
            <a:noFill/>
          </a:ln>
          <a:effectLst>
            <a:outerShdw blurRad="508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11"/>
          <p:cNvSpPr/>
          <p:nvPr/>
        </p:nvSpPr>
        <p:spPr>
          <a:xfrm>
            <a:off x="3337560" y="2606040"/>
            <a:ext cx="146304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900"/>
              <a:buFont typeface="Consolas"/>
              <a:buNone/>
            </a:pPr>
            <a:r>
              <a:rPr b="0" i="0" lang="en-US" sz="900" u="none" cap="none" strike="noStrike">
                <a:solidFill>
                  <a:srgbClr val="1E293B"/>
                </a:solidFill>
                <a:latin typeface="Consolas"/>
                <a:ea typeface="Consolas"/>
                <a:cs typeface="Consolas"/>
                <a:sym typeface="Consolas"/>
              </a:rPr>
              <a:t>LoginPage</a:t>
            </a:r>
            <a:endParaRPr b="0" i="0" sz="900" u="none" cap="none" strike="noStrike">
              <a:solidFill>
                <a:schemeClr val="dk1"/>
              </a:solidFill>
              <a:latin typeface="Calibri"/>
              <a:ea typeface="Calibri"/>
              <a:cs typeface="Calibri"/>
              <a:sym typeface="Calibri"/>
            </a:endParaRPr>
          </a:p>
        </p:txBody>
      </p:sp>
      <p:sp>
        <p:nvSpPr>
          <p:cNvPr id="307" name="Google Shape;307;p11"/>
          <p:cNvSpPr/>
          <p:nvPr/>
        </p:nvSpPr>
        <p:spPr>
          <a:xfrm>
            <a:off x="4709160" y="2606040"/>
            <a:ext cx="868680" cy="4114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3B82F6"/>
              </a:buClr>
              <a:buSzPts val="800"/>
              <a:buFont typeface="Consolas"/>
              <a:buNone/>
            </a:pPr>
            <a:r>
              <a:rPr b="0" i="0" lang="en-US" sz="800" u="none" cap="none" strike="noStrike">
                <a:solidFill>
                  <a:srgbClr val="3B82F6"/>
                </a:solidFill>
                <a:latin typeface="Consolas"/>
                <a:ea typeface="Consolas"/>
                <a:cs typeface="Consolas"/>
                <a:sym typeface="Consolas"/>
              </a:rPr>
              <a:t>/login</a:t>
            </a:r>
            <a:endParaRPr b="0" i="0" sz="800" u="none" cap="none" strike="noStrike">
              <a:solidFill>
                <a:schemeClr val="dk1"/>
              </a:solidFill>
              <a:latin typeface="Calibri"/>
              <a:ea typeface="Calibri"/>
              <a:cs typeface="Calibri"/>
              <a:sym typeface="Calibri"/>
            </a:endParaRPr>
          </a:p>
        </p:txBody>
      </p:sp>
      <p:sp>
        <p:nvSpPr>
          <p:cNvPr id="308" name="Google Shape;308;p11"/>
          <p:cNvSpPr/>
          <p:nvPr/>
        </p:nvSpPr>
        <p:spPr>
          <a:xfrm>
            <a:off x="5852160" y="2606040"/>
            <a:ext cx="2423160" cy="411480"/>
          </a:xfrm>
          <a:prstGeom prst="rect">
            <a:avLst/>
          </a:prstGeom>
          <a:solidFill>
            <a:srgbClr val="FFFFFF"/>
          </a:solidFill>
          <a:ln>
            <a:noFill/>
          </a:ln>
          <a:effectLst>
            <a:outerShdw blurRad="508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11"/>
          <p:cNvSpPr/>
          <p:nvPr/>
        </p:nvSpPr>
        <p:spPr>
          <a:xfrm>
            <a:off x="5943600" y="2606040"/>
            <a:ext cx="146304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900"/>
              <a:buFont typeface="Consolas"/>
              <a:buNone/>
            </a:pPr>
            <a:r>
              <a:rPr b="0" i="0" lang="en-US" sz="900" u="none" cap="none" strike="noStrike">
                <a:solidFill>
                  <a:srgbClr val="1E293B"/>
                </a:solidFill>
                <a:latin typeface="Consolas"/>
                <a:ea typeface="Consolas"/>
                <a:cs typeface="Consolas"/>
                <a:sym typeface="Consolas"/>
              </a:rPr>
              <a:t>RegisterPage</a:t>
            </a:r>
            <a:endParaRPr b="0" i="0" sz="900" u="none" cap="none" strike="noStrike">
              <a:solidFill>
                <a:schemeClr val="dk1"/>
              </a:solidFill>
              <a:latin typeface="Calibri"/>
              <a:ea typeface="Calibri"/>
              <a:cs typeface="Calibri"/>
              <a:sym typeface="Calibri"/>
            </a:endParaRPr>
          </a:p>
        </p:txBody>
      </p:sp>
      <p:sp>
        <p:nvSpPr>
          <p:cNvPr id="310" name="Google Shape;310;p11"/>
          <p:cNvSpPr/>
          <p:nvPr/>
        </p:nvSpPr>
        <p:spPr>
          <a:xfrm>
            <a:off x="7315200" y="2606040"/>
            <a:ext cx="868680" cy="4114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3B82F6"/>
              </a:buClr>
              <a:buSzPts val="800"/>
              <a:buFont typeface="Consolas"/>
              <a:buNone/>
            </a:pPr>
            <a:r>
              <a:rPr b="0" i="0" lang="en-US" sz="800" u="none" cap="none" strike="noStrike">
                <a:solidFill>
                  <a:srgbClr val="3B82F6"/>
                </a:solidFill>
                <a:latin typeface="Consolas"/>
                <a:ea typeface="Consolas"/>
                <a:cs typeface="Consolas"/>
                <a:sym typeface="Consolas"/>
              </a:rPr>
              <a:t>/register</a:t>
            </a:r>
            <a:endParaRPr b="0" i="0" sz="800" u="none" cap="none" strike="noStrike">
              <a:solidFill>
                <a:schemeClr val="dk1"/>
              </a:solidFill>
              <a:latin typeface="Calibri"/>
              <a:ea typeface="Calibri"/>
              <a:cs typeface="Calibri"/>
              <a:sym typeface="Calibri"/>
            </a:endParaRPr>
          </a:p>
        </p:txBody>
      </p:sp>
      <p:sp>
        <p:nvSpPr>
          <p:cNvPr id="311" name="Google Shape;311;p11"/>
          <p:cNvSpPr/>
          <p:nvPr/>
        </p:nvSpPr>
        <p:spPr>
          <a:xfrm>
            <a:off x="640080" y="3108960"/>
            <a:ext cx="2423160" cy="411480"/>
          </a:xfrm>
          <a:prstGeom prst="rect">
            <a:avLst/>
          </a:prstGeom>
          <a:solidFill>
            <a:srgbClr val="FFFFFF"/>
          </a:solidFill>
          <a:ln>
            <a:noFill/>
          </a:ln>
          <a:effectLst>
            <a:outerShdw blurRad="508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11"/>
          <p:cNvSpPr/>
          <p:nvPr/>
        </p:nvSpPr>
        <p:spPr>
          <a:xfrm>
            <a:off x="731520" y="3108960"/>
            <a:ext cx="146304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900"/>
              <a:buFont typeface="Consolas"/>
              <a:buNone/>
            </a:pPr>
            <a:r>
              <a:rPr b="0" i="0" lang="en-US" sz="900" u="none" cap="none" strike="noStrike">
                <a:solidFill>
                  <a:srgbClr val="1E293B"/>
                </a:solidFill>
                <a:latin typeface="Consolas"/>
                <a:ea typeface="Consolas"/>
                <a:cs typeface="Consolas"/>
                <a:sym typeface="Consolas"/>
              </a:rPr>
              <a:t>DashboardPage</a:t>
            </a:r>
            <a:endParaRPr b="0" i="0" sz="900" u="none" cap="none" strike="noStrike">
              <a:solidFill>
                <a:schemeClr val="dk1"/>
              </a:solidFill>
              <a:latin typeface="Calibri"/>
              <a:ea typeface="Calibri"/>
              <a:cs typeface="Calibri"/>
              <a:sym typeface="Calibri"/>
            </a:endParaRPr>
          </a:p>
        </p:txBody>
      </p:sp>
      <p:sp>
        <p:nvSpPr>
          <p:cNvPr id="313" name="Google Shape;313;p11"/>
          <p:cNvSpPr/>
          <p:nvPr/>
        </p:nvSpPr>
        <p:spPr>
          <a:xfrm>
            <a:off x="2103120" y="3108960"/>
            <a:ext cx="868680" cy="4114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3B82F6"/>
              </a:buClr>
              <a:buSzPts val="800"/>
              <a:buFont typeface="Consolas"/>
              <a:buNone/>
            </a:pPr>
            <a:r>
              <a:rPr b="0" i="0" lang="en-US" sz="800" u="none" cap="none" strike="noStrike">
                <a:solidFill>
                  <a:srgbClr val="3B82F6"/>
                </a:solidFill>
                <a:latin typeface="Consolas"/>
                <a:ea typeface="Consolas"/>
                <a:cs typeface="Consolas"/>
                <a:sym typeface="Consolas"/>
              </a:rPr>
              <a:t>/dashboard</a:t>
            </a:r>
            <a:endParaRPr b="0" i="0" sz="800" u="none" cap="none" strike="noStrike">
              <a:solidFill>
                <a:schemeClr val="dk1"/>
              </a:solidFill>
              <a:latin typeface="Calibri"/>
              <a:ea typeface="Calibri"/>
              <a:cs typeface="Calibri"/>
              <a:sym typeface="Calibri"/>
            </a:endParaRPr>
          </a:p>
        </p:txBody>
      </p:sp>
      <p:sp>
        <p:nvSpPr>
          <p:cNvPr id="314" name="Google Shape;314;p11"/>
          <p:cNvSpPr/>
          <p:nvPr/>
        </p:nvSpPr>
        <p:spPr>
          <a:xfrm>
            <a:off x="3246120" y="3108960"/>
            <a:ext cx="2423160" cy="411480"/>
          </a:xfrm>
          <a:prstGeom prst="rect">
            <a:avLst/>
          </a:prstGeom>
          <a:solidFill>
            <a:srgbClr val="FFFFFF"/>
          </a:solidFill>
          <a:ln>
            <a:noFill/>
          </a:ln>
          <a:effectLst>
            <a:outerShdw blurRad="508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11"/>
          <p:cNvSpPr/>
          <p:nvPr/>
        </p:nvSpPr>
        <p:spPr>
          <a:xfrm>
            <a:off x="3337560" y="3108960"/>
            <a:ext cx="146304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900"/>
              <a:buFont typeface="Consolas"/>
              <a:buNone/>
            </a:pPr>
            <a:r>
              <a:rPr b="0" i="0" lang="en-US" sz="900" u="none" cap="none" strike="noStrike">
                <a:solidFill>
                  <a:srgbClr val="1E293B"/>
                </a:solidFill>
                <a:latin typeface="Consolas"/>
                <a:ea typeface="Consolas"/>
                <a:cs typeface="Consolas"/>
                <a:sym typeface="Consolas"/>
              </a:rPr>
              <a:t>UploadPage</a:t>
            </a:r>
            <a:endParaRPr b="0" i="0" sz="900" u="none" cap="none" strike="noStrike">
              <a:solidFill>
                <a:schemeClr val="dk1"/>
              </a:solidFill>
              <a:latin typeface="Calibri"/>
              <a:ea typeface="Calibri"/>
              <a:cs typeface="Calibri"/>
              <a:sym typeface="Calibri"/>
            </a:endParaRPr>
          </a:p>
        </p:txBody>
      </p:sp>
      <p:sp>
        <p:nvSpPr>
          <p:cNvPr id="316" name="Google Shape;316;p11"/>
          <p:cNvSpPr/>
          <p:nvPr/>
        </p:nvSpPr>
        <p:spPr>
          <a:xfrm>
            <a:off x="4709160" y="3108960"/>
            <a:ext cx="868680" cy="4114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3B82F6"/>
              </a:buClr>
              <a:buSzPts val="800"/>
              <a:buFont typeface="Consolas"/>
              <a:buNone/>
            </a:pPr>
            <a:r>
              <a:rPr b="0" i="0" lang="en-US" sz="800" u="none" cap="none" strike="noStrike">
                <a:solidFill>
                  <a:srgbClr val="3B82F6"/>
                </a:solidFill>
                <a:latin typeface="Consolas"/>
                <a:ea typeface="Consolas"/>
                <a:cs typeface="Consolas"/>
                <a:sym typeface="Consolas"/>
              </a:rPr>
              <a:t>/upload</a:t>
            </a:r>
            <a:endParaRPr b="0" i="0" sz="800" u="none" cap="none" strike="noStrike">
              <a:solidFill>
                <a:schemeClr val="dk1"/>
              </a:solidFill>
              <a:latin typeface="Calibri"/>
              <a:ea typeface="Calibri"/>
              <a:cs typeface="Calibri"/>
              <a:sym typeface="Calibri"/>
            </a:endParaRPr>
          </a:p>
        </p:txBody>
      </p:sp>
      <p:sp>
        <p:nvSpPr>
          <p:cNvPr id="317" name="Google Shape;317;p11"/>
          <p:cNvSpPr/>
          <p:nvPr/>
        </p:nvSpPr>
        <p:spPr>
          <a:xfrm>
            <a:off x="5852160" y="3108960"/>
            <a:ext cx="2423160" cy="411480"/>
          </a:xfrm>
          <a:prstGeom prst="rect">
            <a:avLst/>
          </a:prstGeom>
          <a:solidFill>
            <a:srgbClr val="FFFFFF"/>
          </a:solidFill>
          <a:ln>
            <a:noFill/>
          </a:ln>
          <a:effectLst>
            <a:outerShdw blurRad="508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11"/>
          <p:cNvSpPr/>
          <p:nvPr/>
        </p:nvSpPr>
        <p:spPr>
          <a:xfrm>
            <a:off x="5943600" y="3108960"/>
            <a:ext cx="146304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900"/>
              <a:buFont typeface="Consolas"/>
              <a:buNone/>
            </a:pPr>
            <a:r>
              <a:rPr b="0" i="0" lang="en-US" sz="900" u="none" cap="none" strike="noStrike">
                <a:solidFill>
                  <a:srgbClr val="1E293B"/>
                </a:solidFill>
                <a:latin typeface="Consolas"/>
                <a:ea typeface="Consolas"/>
                <a:cs typeface="Consolas"/>
                <a:sym typeface="Consolas"/>
              </a:rPr>
              <a:t>ProfilePage</a:t>
            </a:r>
            <a:endParaRPr b="0" i="0" sz="900" u="none" cap="none" strike="noStrike">
              <a:solidFill>
                <a:schemeClr val="dk1"/>
              </a:solidFill>
              <a:latin typeface="Calibri"/>
              <a:ea typeface="Calibri"/>
              <a:cs typeface="Calibri"/>
              <a:sym typeface="Calibri"/>
            </a:endParaRPr>
          </a:p>
        </p:txBody>
      </p:sp>
      <p:sp>
        <p:nvSpPr>
          <p:cNvPr id="319" name="Google Shape;319;p11"/>
          <p:cNvSpPr/>
          <p:nvPr/>
        </p:nvSpPr>
        <p:spPr>
          <a:xfrm>
            <a:off x="7315200" y="3108960"/>
            <a:ext cx="868680" cy="4114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3B82F6"/>
              </a:buClr>
              <a:buSzPts val="800"/>
              <a:buFont typeface="Consolas"/>
              <a:buNone/>
            </a:pPr>
            <a:r>
              <a:rPr b="0" i="0" lang="en-US" sz="800" u="none" cap="none" strike="noStrike">
                <a:solidFill>
                  <a:srgbClr val="3B82F6"/>
                </a:solidFill>
                <a:latin typeface="Consolas"/>
                <a:ea typeface="Consolas"/>
                <a:cs typeface="Consolas"/>
                <a:sym typeface="Consolas"/>
              </a:rPr>
              <a:t>/profile</a:t>
            </a:r>
            <a:endParaRPr b="0" i="0" sz="800" u="none" cap="none" strike="noStrike">
              <a:solidFill>
                <a:schemeClr val="dk1"/>
              </a:solidFill>
              <a:latin typeface="Calibri"/>
              <a:ea typeface="Calibri"/>
              <a:cs typeface="Calibri"/>
              <a:sym typeface="Calibri"/>
            </a:endParaRPr>
          </a:p>
        </p:txBody>
      </p:sp>
      <p:sp>
        <p:nvSpPr>
          <p:cNvPr id="320" name="Google Shape;320;p11"/>
          <p:cNvSpPr/>
          <p:nvPr/>
        </p:nvSpPr>
        <p:spPr>
          <a:xfrm>
            <a:off x="640080" y="3611880"/>
            <a:ext cx="2423160" cy="411480"/>
          </a:xfrm>
          <a:prstGeom prst="rect">
            <a:avLst/>
          </a:prstGeom>
          <a:solidFill>
            <a:srgbClr val="FFFFFF"/>
          </a:solidFill>
          <a:ln>
            <a:noFill/>
          </a:ln>
          <a:effectLst>
            <a:outerShdw blurRad="508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11"/>
          <p:cNvSpPr/>
          <p:nvPr/>
        </p:nvSpPr>
        <p:spPr>
          <a:xfrm>
            <a:off x="731520" y="3611880"/>
            <a:ext cx="146304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900"/>
              <a:buFont typeface="Consolas"/>
              <a:buNone/>
            </a:pPr>
            <a:r>
              <a:rPr b="0" i="0" lang="en-US" sz="900" u="none" cap="none" strike="noStrike">
                <a:solidFill>
                  <a:srgbClr val="1E293B"/>
                </a:solidFill>
                <a:latin typeface="Consolas"/>
                <a:ea typeface="Consolas"/>
                <a:cs typeface="Consolas"/>
                <a:sym typeface="Consolas"/>
              </a:rPr>
              <a:t>PrivacyPolicy</a:t>
            </a:r>
            <a:endParaRPr b="0" i="0" sz="900" u="none" cap="none" strike="noStrike">
              <a:solidFill>
                <a:schemeClr val="dk1"/>
              </a:solidFill>
              <a:latin typeface="Calibri"/>
              <a:ea typeface="Calibri"/>
              <a:cs typeface="Calibri"/>
              <a:sym typeface="Calibri"/>
            </a:endParaRPr>
          </a:p>
        </p:txBody>
      </p:sp>
      <p:sp>
        <p:nvSpPr>
          <p:cNvPr id="322" name="Google Shape;322;p11"/>
          <p:cNvSpPr/>
          <p:nvPr/>
        </p:nvSpPr>
        <p:spPr>
          <a:xfrm>
            <a:off x="2103120" y="3611880"/>
            <a:ext cx="868680" cy="4114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3B82F6"/>
              </a:buClr>
              <a:buSzPts val="800"/>
              <a:buFont typeface="Consolas"/>
              <a:buNone/>
            </a:pPr>
            <a:r>
              <a:rPr b="0" i="0" lang="en-US" sz="800" u="none" cap="none" strike="noStrike">
                <a:solidFill>
                  <a:srgbClr val="3B82F6"/>
                </a:solidFill>
                <a:latin typeface="Consolas"/>
                <a:ea typeface="Consolas"/>
                <a:cs typeface="Consolas"/>
                <a:sym typeface="Consolas"/>
              </a:rPr>
              <a:t>/privacy</a:t>
            </a:r>
            <a:endParaRPr b="0" i="0" sz="800" u="none" cap="none" strike="noStrike">
              <a:solidFill>
                <a:schemeClr val="dk1"/>
              </a:solidFill>
              <a:latin typeface="Calibri"/>
              <a:ea typeface="Calibri"/>
              <a:cs typeface="Calibri"/>
              <a:sym typeface="Calibri"/>
            </a:endParaRPr>
          </a:p>
        </p:txBody>
      </p:sp>
      <p:sp>
        <p:nvSpPr>
          <p:cNvPr id="323" name="Google Shape;323;p11"/>
          <p:cNvSpPr/>
          <p:nvPr/>
        </p:nvSpPr>
        <p:spPr>
          <a:xfrm>
            <a:off x="3246120" y="3611880"/>
            <a:ext cx="2423160" cy="411480"/>
          </a:xfrm>
          <a:prstGeom prst="rect">
            <a:avLst/>
          </a:prstGeom>
          <a:solidFill>
            <a:srgbClr val="FFFFFF"/>
          </a:solidFill>
          <a:ln>
            <a:noFill/>
          </a:ln>
          <a:effectLst>
            <a:outerShdw blurRad="508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11"/>
          <p:cNvSpPr/>
          <p:nvPr/>
        </p:nvSpPr>
        <p:spPr>
          <a:xfrm>
            <a:off x="3337560" y="3611880"/>
            <a:ext cx="146304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900"/>
              <a:buFont typeface="Consolas"/>
              <a:buNone/>
            </a:pPr>
            <a:r>
              <a:rPr b="0" i="0" lang="en-US" sz="900" u="none" cap="none" strike="noStrike">
                <a:solidFill>
                  <a:srgbClr val="1E293B"/>
                </a:solidFill>
                <a:latin typeface="Consolas"/>
                <a:ea typeface="Consolas"/>
                <a:cs typeface="Consolas"/>
                <a:sym typeface="Consolas"/>
              </a:rPr>
              <a:t>Terms</a:t>
            </a:r>
            <a:endParaRPr b="0" i="0" sz="900" u="none" cap="none" strike="noStrike">
              <a:solidFill>
                <a:schemeClr val="dk1"/>
              </a:solidFill>
              <a:latin typeface="Calibri"/>
              <a:ea typeface="Calibri"/>
              <a:cs typeface="Calibri"/>
              <a:sym typeface="Calibri"/>
            </a:endParaRPr>
          </a:p>
        </p:txBody>
      </p:sp>
      <p:sp>
        <p:nvSpPr>
          <p:cNvPr id="325" name="Google Shape;325;p11"/>
          <p:cNvSpPr/>
          <p:nvPr/>
        </p:nvSpPr>
        <p:spPr>
          <a:xfrm>
            <a:off x="4709160" y="3611880"/>
            <a:ext cx="868680" cy="4114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3B82F6"/>
              </a:buClr>
              <a:buSzPts val="800"/>
              <a:buFont typeface="Consolas"/>
              <a:buNone/>
            </a:pPr>
            <a:r>
              <a:rPr b="0" i="0" lang="en-US" sz="800" u="none" cap="none" strike="noStrike">
                <a:solidFill>
                  <a:srgbClr val="3B82F6"/>
                </a:solidFill>
                <a:latin typeface="Consolas"/>
                <a:ea typeface="Consolas"/>
                <a:cs typeface="Consolas"/>
                <a:sym typeface="Consolas"/>
              </a:rPr>
              <a:t>/terms</a:t>
            </a:r>
            <a:endParaRPr b="0" i="0" sz="800" u="none" cap="none" strike="noStrike">
              <a:solidFill>
                <a:schemeClr val="dk1"/>
              </a:solidFill>
              <a:latin typeface="Calibri"/>
              <a:ea typeface="Calibri"/>
              <a:cs typeface="Calibri"/>
              <a:sym typeface="Calibri"/>
            </a:endParaRPr>
          </a:p>
        </p:txBody>
      </p:sp>
      <p:sp>
        <p:nvSpPr>
          <p:cNvPr id="326" name="Google Shape;326;p11"/>
          <p:cNvSpPr/>
          <p:nvPr/>
        </p:nvSpPr>
        <p:spPr>
          <a:xfrm>
            <a:off x="5852160" y="3611880"/>
            <a:ext cx="2423160" cy="411480"/>
          </a:xfrm>
          <a:prstGeom prst="rect">
            <a:avLst/>
          </a:prstGeom>
          <a:solidFill>
            <a:srgbClr val="FFFFFF"/>
          </a:solidFill>
          <a:ln>
            <a:noFill/>
          </a:ln>
          <a:effectLst>
            <a:outerShdw blurRad="508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11"/>
          <p:cNvSpPr/>
          <p:nvPr/>
        </p:nvSpPr>
        <p:spPr>
          <a:xfrm>
            <a:off x="5943600" y="3611880"/>
            <a:ext cx="146304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900"/>
              <a:buFont typeface="Consolas"/>
              <a:buNone/>
            </a:pPr>
            <a:r>
              <a:rPr b="0" i="0" lang="en-US" sz="900" u="none" cap="none" strike="noStrike">
                <a:solidFill>
                  <a:srgbClr val="1E293B"/>
                </a:solidFill>
                <a:latin typeface="Consolas"/>
                <a:ea typeface="Consolas"/>
                <a:cs typeface="Consolas"/>
                <a:sym typeface="Consolas"/>
              </a:rPr>
              <a:t>Accessibility</a:t>
            </a:r>
            <a:endParaRPr b="0" i="0" sz="900" u="none" cap="none" strike="noStrike">
              <a:solidFill>
                <a:schemeClr val="dk1"/>
              </a:solidFill>
              <a:latin typeface="Calibri"/>
              <a:ea typeface="Calibri"/>
              <a:cs typeface="Calibri"/>
              <a:sym typeface="Calibri"/>
            </a:endParaRPr>
          </a:p>
        </p:txBody>
      </p:sp>
      <p:sp>
        <p:nvSpPr>
          <p:cNvPr id="328" name="Google Shape;328;p11"/>
          <p:cNvSpPr/>
          <p:nvPr/>
        </p:nvSpPr>
        <p:spPr>
          <a:xfrm>
            <a:off x="7315200" y="3611880"/>
            <a:ext cx="868680" cy="4114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3B82F6"/>
              </a:buClr>
              <a:buSzPts val="800"/>
              <a:buFont typeface="Consolas"/>
              <a:buNone/>
            </a:pPr>
            <a:r>
              <a:rPr b="0" i="0" lang="en-US" sz="800" u="none" cap="none" strike="noStrike">
                <a:solidFill>
                  <a:srgbClr val="3B82F6"/>
                </a:solidFill>
                <a:latin typeface="Consolas"/>
                <a:ea typeface="Consolas"/>
                <a:cs typeface="Consolas"/>
                <a:sym typeface="Consolas"/>
              </a:rPr>
              <a:t>/access...</a:t>
            </a:r>
            <a:endParaRPr b="0" i="0" sz="800" u="none" cap="none" strike="noStrike">
              <a:solidFill>
                <a:schemeClr val="dk1"/>
              </a:solidFill>
              <a:latin typeface="Calibri"/>
              <a:ea typeface="Calibri"/>
              <a:cs typeface="Calibri"/>
              <a:sym typeface="Calibri"/>
            </a:endParaRPr>
          </a:p>
        </p:txBody>
      </p:sp>
      <p:sp>
        <p:nvSpPr>
          <p:cNvPr id="329" name="Google Shape;329;p11"/>
          <p:cNvSpPr/>
          <p:nvPr/>
        </p:nvSpPr>
        <p:spPr>
          <a:xfrm>
            <a:off x="6217920" y="1463040"/>
            <a:ext cx="22860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000"/>
              <a:buFont typeface="Calibri"/>
              <a:buNone/>
            </a:pPr>
            <a:r>
              <a:rPr b="1" i="0" lang="en-US" sz="1000" u="none" cap="none" strike="noStrike">
                <a:solidFill>
                  <a:srgbClr val="64748B"/>
                </a:solidFill>
                <a:latin typeface="Calibri"/>
                <a:ea typeface="Calibri"/>
                <a:cs typeface="Calibri"/>
                <a:sym typeface="Calibri"/>
              </a:rPr>
              <a:t>Services / Context</a:t>
            </a:r>
            <a:endParaRPr b="0" i="0" sz="1000" u="none" cap="none" strike="noStrike">
              <a:solidFill>
                <a:schemeClr val="dk1"/>
              </a:solidFill>
              <a:latin typeface="Calibri"/>
              <a:ea typeface="Calibri"/>
              <a:cs typeface="Calibri"/>
              <a:sym typeface="Calibri"/>
            </a:endParaRPr>
          </a:p>
        </p:txBody>
      </p:sp>
      <p:sp>
        <p:nvSpPr>
          <p:cNvPr id="330" name="Google Shape;330;p11"/>
          <p:cNvSpPr/>
          <p:nvPr/>
        </p:nvSpPr>
        <p:spPr>
          <a:xfrm>
            <a:off x="6400800" y="1737360"/>
            <a:ext cx="2103120" cy="365760"/>
          </a:xfrm>
          <a:prstGeom prst="rect">
            <a:avLst/>
          </a:prstGeom>
          <a:solidFill>
            <a:srgbClr val="FFFFFF"/>
          </a:solidFill>
          <a:ln>
            <a:noFill/>
          </a:ln>
          <a:effectLst>
            <a:outerShdw blurRad="508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11"/>
          <p:cNvSpPr/>
          <p:nvPr/>
        </p:nvSpPr>
        <p:spPr>
          <a:xfrm>
            <a:off x="6400800" y="1737360"/>
            <a:ext cx="210312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93B"/>
              </a:buClr>
              <a:buSzPts val="1000"/>
              <a:buFont typeface="Consolas"/>
              <a:buNone/>
            </a:pPr>
            <a:r>
              <a:rPr b="0" i="0" lang="en-US" sz="1000" u="none" cap="none" strike="noStrike">
                <a:solidFill>
                  <a:srgbClr val="1E293B"/>
                </a:solidFill>
                <a:latin typeface="Consolas"/>
                <a:ea typeface="Consolas"/>
                <a:cs typeface="Consolas"/>
                <a:sym typeface="Consolas"/>
              </a:rPr>
              <a:t>api.js (real API)</a:t>
            </a:r>
            <a:endParaRPr b="0" i="0" sz="1000" u="none" cap="none" strike="noStrike">
              <a:solidFill>
                <a:schemeClr val="dk1"/>
              </a:solidFill>
              <a:latin typeface="Calibri"/>
              <a:ea typeface="Calibri"/>
              <a:cs typeface="Calibri"/>
              <a:sym typeface="Calibri"/>
            </a:endParaRPr>
          </a:p>
        </p:txBody>
      </p:sp>
      <p:sp>
        <p:nvSpPr>
          <p:cNvPr id="332" name="Google Shape;332;p11"/>
          <p:cNvSpPr/>
          <p:nvPr/>
        </p:nvSpPr>
        <p:spPr>
          <a:xfrm>
            <a:off x="6400800" y="2194560"/>
            <a:ext cx="2103120" cy="365760"/>
          </a:xfrm>
          <a:prstGeom prst="rect">
            <a:avLst/>
          </a:prstGeom>
          <a:solidFill>
            <a:srgbClr val="FFFFFF"/>
          </a:solidFill>
          <a:ln>
            <a:noFill/>
          </a:ln>
          <a:effectLst>
            <a:outerShdw blurRad="508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11"/>
          <p:cNvSpPr/>
          <p:nvPr/>
        </p:nvSpPr>
        <p:spPr>
          <a:xfrm>
            <a:off x="6400800" y="2194560"/>
            <a:ext cx="210312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93B"/>
              </a:buClr>
              <a:buSzPts val="1000"/>
              <a:buFont typeface="Consolas"/>
              <a:buNone/>
            </a:pPr>
            <a:r>
              <a:rPr b="0" i="0" lang="en-US" sz="1000" u="none" cap="none" strike="noStrike">
                <a:solidFill>
                  <a:srgbClr val="1E293B"/>
                </a:solidFill>
                <a:latin typeface="Consolas"/>
                <a:ea typeface="Consolas"/>
                <a:cs typeface="Consolas"/>
                <a:sym typeface="Consolas"/>
              </a:rPr>
              <a:t>AuthContext.jsx</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38" name="Shape 338"/>
        <p:cNvGrpSpPr/>
        <p:nvPr/>
      </p:nvGrpSpPr>
      <p:grpSpPr>
        <a:xfrm>
          <a:off x="0" y="0"/>
          <a:ext cx="0" cy="0"/>
          <a:chOff x="0" y="0"/>
          <a:chExt cx="0" cy="0"/>
        </a:xfrm>
      </p:grpSpPr>
      <p:sp>
        <p:nvSpPr>
          <p:cNvPr id="339" name="Google Shape;339;p12"/>
          <p:cNvSpPr/>
          <p:nvPr/>
        </p:nvSpPr>
        <p:spPr>
          <a:xfrm>
            <a:off x="0" y="0"/>
            <a:ext cx="9144000" cy="54864"/>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12"/>
          <p:cNvSpPr/>
          <p:nvPr/>
        </p:nvSpPr>
        <p:spPr>
          <a:xfrm>
            <a:off x="731520" y="320040"/>
            <a:ext cx="768096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4A"/>
              </a:buClr>
              <a:buSzPts val="3200"/>
              <a:buFont typeface="Georgia"/>
              <a:buNone/>
            </a:pPr>
            <a:r>
              <a:rPr b="1" i="0" lang="en-US" sz="3200" u="none" cap="none" strike="noStrike">
                <a:solidFill>
                  <a:srgbClr val="1B2A4A"/>
                </a:solidFill>
                <a:latin typeface="Georgia"/>
                <a:ea typeface="Georgia"/>
                <a:cs typeface="Georgia"/>
                <a:sym typeface="Georgia"/>
              </a:rPr>
              <a:t>Live Demo</a:t>
            </a:r>
            <a:endParaRPr b="0" i="0" sz="3200" u="none" cap="none" strike="noStrike">
              <a:solidFill>
                <a:schemeClr val="dk1"/>
              </a:solidFill>
              <a:latin typeface="Calibri"/>
              <a:ea typeface="Calibri"/>
              <a:cs typeface="Calibri"/>
              <a:sym typeface="Calibri"/>
            </a:endParaRPr>
          </a:p>
        </p:txBody>
      </p:sp>
      <p:pic>
        <p:nvPicPr>
          <p:cNvPr descr="/home/claude/ss_landing.png" id="341" name="Google Shape;341;p12"/>
          <p:cNvPicPr preferRelativeResize="0"/>
          <p:nvPr/>
        </p:nvPicPr>
        <p:blipFill rotWithShape="1">
          <a:blip r:embed="rId3">
            <a:alphaModFix/>
          </a:blip>
          <a:srcRect b="0" l="0" r="0" t="0"/>
          <a:stretch/>
        </p:blipFill>
        <p:spPr>
          <a:xfrm>
            <a:off x="696900" y="1097275"/>
            <a:ext cx="3692225" cy="1828800"/>
          </a:xfrm>
          <a:prstGeom prst="rect">
            <a:avLst/>
          </a:prstGeom>
          <a:noFill/>
          <a:ln>
            <a:noFill/>
          </a:ln>
        </p:spPr>
      </p:pic>
      <p:pic>
        <p:nvPicPr>
          <p:cNvPr descr="/home/claude/ss_analysis_desktop.png" id="342" name="Google Shape;342;p12"/>
          <p:cNvPicPr preferRelativeResize="0"/>
          <p:nvPr/>
        </p:nvPicPr>
        <p:blipFill rotWithShape="1">
          <a:blip r:embed="rId4">
            <a:alphaModFix/>
          </a:blip>
          <a:srcRect b="0" l="0" r="0" t="0"/>
          <a:stretch/>
        </p:blipFill>
        <p:spPr>
          <a:xfrm>
            <a:off x="5348475" y="1024925"/>
            <a:ext cx="3513975" cy="1828801"/>
          </a:xfrm>
          <a:prstGeom prst="rect">
            <a:avLst/>
          </a:prstGeom>
          <a:noFill/>
          <a:ln>
            <a:noFill/>
          </a:ln>
        </p:spPr>
      </p:pic>
      <p:pic>
        <p:nvPicPr>
          <p:cNvPr descr="/home/claude/ss_howitworks.png" id="343" name="Google Shape;343;p12"/>
          <p:cNvPicPr preferRelativeResize="0"/>
          <p:nvPr/>
        </p:nvPicPr>
        <p:blipFill rotWithShape="1">
          <a:blip r:embed="rId5">
            <a:alphaModFix/>
          </a:blip>
          <a:srcRect b="0" l="0" r="0" t="0"/>
          <a:stretch/>
        </p:blipFill>
        <p:spPr>
          <a:xfrm>
            <a:off x="848800" y="3063250"/>
            <a:ext cx="3450725" cy="1828801"/>
          </a:xfrm>
          <a:prstGeom prst="rect">
            <a:avLst/>
          </a:prstGeom>
          <a:noFill/>
          <a:ln>
            <a:noFill/>
          </a:ln>
        </p:spPr>
      </p:pic>
      <p:pic>
        <p:nvPicPr>
          <p:cNvPr descr="/home/claude/ss_qa_desktop.png" id="344" name="Google Shape;344;p12"/>
          <p:cNvPicPr preferRelativeResize="0"/>
          <p:nvPr/>
        </p:nvPicPr>
        <p:blipFill rotWithShape="1">
          <a:blip r:embed="rId6">
            <a:alphaModFix/>
          </a:blip>
          <a:srcRect b="0" l="0" r="0" t="0"/>
          <a:stretch/>
        </p:blipFill>
        <p:spPr>
          <a:xfrm>
            <a:off x="5348475" y="3005375"/>
            <a:ext cx="3513975" cy="1828801"/>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49" name="Shape 349"/>
        <p:cNvGrpSpPr/>
        <p:nvPr/>
      </p:nvGrpSpPr>
      <p:grpSpPr>
        <a:xfrm>
          <a:off x="0" y="0"/>
          <a:ext cx="0" cy="0"/>
          <a:chOff x="0" y="0"/>
          <a:chExt cx="0" cy="0"/>
        </a:xfrm>
      </p:grpSpPr>
      <p:sp>
        <p:nvSpPr>
          <p:cNvPr id="350" name="Google Shape;350;p13"/>
          <p:cNvSpPr/>
          <p:nvPr/>
        </p:nvSpPr>
        <p:spPr>
          <a:xfrm>
            <a:off x="0" y="0"/>
            <a:ext cx="9144000" cy="54864"/>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13"/>
          <p:cNvSpPr/>
          <p:nvPr/>
        </p:nvSpPr>
        <p:spPr>
          <a:xfrm>
            <a:off x="731520" y="320040"/>
            <a:ext cx="768096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4A"/>
              </a:buClr>
              <a:buSzPts val="3200"/>
              <a:buFont typeface="Georgia"/>
              <a:buNone/>
            </a:pPr>
            <a:r>
              <a:rPr b="1" i="0" lang="en-US" sz="3200" u="none" cap="none" strike="noStrike">
                <a:solidFill>
                  <a:srgbClr val="1B2A4A"/>
                </a:solidFill>
                <a:latin typeface="Georgia"/>
                <a:ea typeface="Georgia"/>
                <a:cs typeface="Georgia"/>
                <a:sym typeface="Georgia"/>
              </a:rPr>
              <a:t>External Libraries &amp; Services</a:t>
            </a:r>
            <a:endParaRPr b="0" i="0" sz="3200" u="none" cap="none" strike="noStrike">
              <a:solidFill>
                <a:schemeClr val="dk1"/>
              </a:solidFill>
              <a:latin typeface="Calibri"/>
              <a:ea typeface="Calibri"/>
              <a:cs typeface="Calibri"/>
              <a:sym typeface="Calibri"/>
            </a:endParaRPr>
          </a:p>
        </p:txBody>
      </p:sp>
      <p:sp>
        <p:nvSpPr>
          <p:cNvPr id="352" name="Google Shape;352;p13"/>
          <p:cNvSpPr/>
          <p:nvPr/>
        </p:nvSpPr>
        <p:spPr>
          <a:xfrm>
            <a:off x="457200" y="1097280"/>
            <a:ext cx="3931920" cy="3657600"/>
          </a:xfrm>
          <a:prstGeom prst="rect">
            <a:avLst/>
          </a:prstGeom>
          <a:solidFill>
            <a:srgbClr val="F4F6FA"/>
          </a:solidFill>
          <a:ln>
            <a:noFill/>
          </a:ln>
          <a:effectLst>
            <a:outerShdw blurRad="508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13"/>
          <p:cNvSpPr/>
          <p:nvPr/>
        </p:nvSpPr>
        <p:spPr>
          <a:xfrm>
            <a:off x="457200" y="1143000"/>
            <a:ext cx="393192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B82F6"/>
              </a:buClr>
              <a:buSzPts val="1400"/>
              <a:buFont typeface="Calibri"/>
              <a:buNone/>
            </a:pPr>
            <a:r>
              <a:rPr b="1" i="0" lang="en-US" sz="1400" u="none" cap="none" strike="noStrike">
                <a:solidFill>
                  <a:srgbClr val="3B82F6"/>
                </a:solidFill>
                <a:latin typeface="Calibri"/>
                <a:ea typeface="Calibri"/>
                <a:cs typeface="Calibri"/>
                <a:sym typeface="Calibri"/>
              </a:rPr>
              <a:t>Backend Libraries</a:t>
            </a:r>
            <a:endParaRPr b="0" i="0" sz="1400" u="none" cap="none" strike="noStrike">
              <a:solidFill>
                <a:schemeClr val="dk1"/>
              </a:solidFill>
              <a:latin typeface="Calibri"/>
              <a:ea typeface="Calibri"/>
              <a:cs typeface="Calibri"/>
              <a:sym typeface="Calibri"/>
            </a:endParaRPr>
          </a:p>
        </p:txBody>
      </p:sp>
      <p:sp>
        <p:nvSpPr>
          <p:cNvPr id="354" name="Google Shape;354;p13"/>
          <p:cNvSpPr/>
          <p:nvPr/>
        </p:nvSpPr>
        <p:spPr>
          <a:xfrm>
            <a:off x="640080" y="1554480"/>
            <a:ext cx="1463040" cy="3017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000"/>
              <a:buFont typeface="Consolas"/>
              <a:buNone/>
            </a:pPr>
            <a:r>
              <a:rPr b="1" i="0" lang="en-US" sz="1000" u="none" cap="none" strike="noStrike">
                <a:solidFill>
                  <a:srgbClr val="1E293B"/>
                </a:solidFill>
                <a:latin typeface="Consolas"/>
                <a:ea typeface="Consolas"/>
                <a:cs typeface="Consolas"/>
                <a:sym typeface="Consolas"/>
              </a:rPr>
              <a:t>groq</a:t>
            </a:r>
            <a:endParaRPr b="0" i="0" sz="1000" u="none" cap="none" strike="noStrike">
              <a:solidFill>
                <a:schemeClr val="dk1"/>
              </a:solidFill>
              <a:latin typeface="Calibri"/>
              <a:ea typeface="Calibri"/>
              <a:cs typeface="Calibri"/>
              <a:sym typeface="Calibri"/>
            </a:endParaRPr>
          </a:p>
        </p:txBody>
      </p:sp>
      <p:sp>
        <p:nvSpPr>
          <p:cNvPr id="355" name="Google Shape;355;p13"/>
          <p:cNvSpPr/>
          <p:nvPr/>
        </p:nvSpPr>
        <p:spPr>
          <a:xfrm>
            <a:off x="2103120" y="1554480"/>
            <a:ext cx="2011680" cy="3017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000"/>
              <a:buFont typeface="Calibri"/>
              <a:buNone/>
            </a:pPr>
            <a:r>
              <a:rPr b="0" i="0" lang="en-US" sz="1000" u="none" cap="none" strike="noStrike">
                <a:solidFill>
                  <a:srgbClr val="64748B"/>
                </a:solidFill>
                <a:latin typeface="Calibri"/>
                <a:ea typeface="Calibri"/>
                <a:cs typeface="Calibri"/>
                <a:sym typeface="Calibri"/>
              </a:rPr>
              <a:t>Groq Cloud API client</a:t>
            </a:r>
            <a:endParaRPr b="0" i="0" sz="1000" u="none" cap="none" strike="noStrike">
              <a:solidFill>
                <a:schemeClr val="dk1"/>
              </a:solidFill>
              <a:latin typeface="Calibri"/>
              <a:ea typeface="Calibri"/>
              <a:cs typeface="Calibri"/>
              <a:sym typeface="Calibri"/>
            </a:endParaRPr>
          </a:p>
        </p:txBody>
      </p:sp>
      <p:sp>
        <p:nvSpPr>
          <p:cNvPr id="356" name="Google Shape;356;p13"/>
          <p:cNvSpPr/>
          <p:nvPr/>
        </p:nvSpPr>
        <p:spPr>
          <a:xfrm>
            <a:off x="640080" y="1901952"/>
            <a:ext cx="1463040" cy="3017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000"/>
              <a:buFont typeface="Consolas"/>
              <a:buNone/>
            </a:pPr>
            <a:r>
              <a:rPr b="1" i="0" lang="en-US" sz="1000" u="none" cap="none" strike="noStrike">
                <a:solidFill>
                  <a:srgbClr val="1E293B"/>
                </a:solidFill>
                <a:latin typeface="Consolas"/>
                <a:ea typeface="Consolas"/>
                <a:cs typeface="Consolas"/>
                <a:sym typeface="Consolas"/>
              </a:rPr>
              <a:t>Pillow</a:t>
            </a:r>
            <a:endParaRPr b="0" i="0" sz="1000" u="none" cap="none" strike="noStrike">
              <a:solidFill>
                <a:schemeClr val="dk1"/>
              </a:solidFill>
              <a:latin typeface="Calibri"/>
              <a:ea typeface="Calibri"/>
              <a:cs typeface="Calibri"/>
              <a:sym typeface="Calibri"/>
            </a:endParaRPr>
          </a:p>
        </p:txBody>
      </p:sp>
      <p:sp>
        <p:nvSpPr>
          <p:cNvPr id="357" name="Google Shape;357;p13"/>
          <p:cNvSpPr/>
          <p:nvPr/>
        </p:nvSpPr>
        <p:spPr>
          <a:xfrm>
            <a:off x="2103120" y="1901952"/>
            <a:ext cx="2011680" cy="3017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000"/>
              <a:buFont typeface="Calibri"/>
              <a:buNone/>
            </a:pPr>
            <a:r>
              <a:rPr b="0" i="0" lang="en-US" sz="1000" u="none" cap="none" strike="noStrike">
                <a:solidFill>
                  <a:srgbClr val="64748B"/>
                </a:solidFill>
                <a:latin typeface="Calibri"/>
                <a:ea typeface="Calibri"/>
                <a:cs typeface="Calibri"/>
                <a:sym typeface="Calibri"/>
              </a:rPr>
              <a:t>Image processing (PIL)</a:t>
            </a:r>
            <a:endParaRPr b="0" i="0" sz="1000" u="none" cap="none" strike="noStrike">
              <a:solidFill>
                <a:schemeClr val="dk1"/>
              </a:solidFill>
              <a:latin typeface="Calibri"/>
              <a:ea typeface="Calibri"/>
              <a:cs typeface="Calibri"/>
              <a:sym typeface="Calibri"/>
            </a:endParaRPr>
          </a:p>
        </p:txBody>
      </p:sp>
      <p:sp>
        <p:nvSpPr>
          <p:cNvPr id="358" name="Google Shape;358;p13"/>
          <p:cNvSpPr/>
          <p:nvPr/>
        </p:nvSpPr>
        <p:spPr>
          <a:xfrm>
            <a:off x="640080" y="2249424"/>
            <a:ext cx="1463040" cy="3017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000"/>
              <a:buFont typeface="Consolas"/>
              <a:buNone/>
            </a:pPr>
            <a:r>
              <a:rPr b="1" i="0" lang="en-US" sz="1000" u="none" cap="none" strike="noStrike">
                <a:solidFill>
                  <a:srgbClr val="1E293B"/>
                </a:solidFill>
                <a:latin typeface="Consolas"/>
                <a:ea typeface="Consolas"/>
                <a:cs typeface="Consolas"/>
                <a:sym typeface="Consolas"/>
              </a:rPr>
              <a:t>python-jose</a:t>
            </a:r>
            <a:endParaRPr b="0" i="0" sz="1000" u="none" cap="none" strike="noStrike">
              <a:solidFill>
                <a:schemeClr val="dk1"/>
              </a:solidFill>
              <a:latin typeface="Calibri"/>
              <a:ea typeface="Calibri"/>
              <a:cs typeface="Calibri"/>
              <a:sym typeface="Calibri"/>
            </a:endParaRPr>
          </a:p>
        </p:txBody>
      </p:sp>
      <p:sp>
        <p:nvSpPr>
          <p:cNvPr id="359" name="Google Shape;359;p13"/>
          <p:cNvSpPr/>
          <p:nvPr/>
        </p:nvSpPr>
        <p:spPr>
          <a:xfrm>
            <a:off x="2103120" y="2249424"/>
            <a:ext cx="2011680" cy="3017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000"/>
              <a:buFont typeface="Calibri"/>
              <a:buNone/>
            </a:pPr>
            <a:r>
              <a:rPr b="0" i="0" lang="en-US" sz="1000" u="none" cap="none" strike="noStrike">
                <a:solidFill>
                  <a:srgbClr val="64748B"/>
                </a:solidFill>
                <a:latin typeface="Calibri"/>
                <a:ea typeface="Calibri"/>
                <a:cs typeface="Calibri"/>
                <a:sym typeface="Calibri"/>
              </a:rPr>
              <a:t>JWT token creation/verification</a:t>
            </a:r>
            <a:endParaRPr b="0" i="0" sz="1000" u="none" cap="none" strike="noStrike">
              <a:solidFill>
                <a:schemeClr val="dk1"/>
              </a:solidFill>
              <a:latin typeface="Calibri"/>
              <a:ea typeface="Calibri"/>
              <a:cs typeface="Calibri"/>
              <a:sym typeface="Calibri"/>
            </a:endParaRPr>
          </a:p>
        </p:txBody>
      </p:sp>
      <p:sp>
        <p:nvSpPr>
          <p:cNvPr id="360" name="Google Shape;360;p13"/>
          <p:cNvSpPr/>
          <p:nvPr/>
        </p:nvSpPr>
        <p:spPr>
          <a:xfrm>
            <a:off x="640080" y="2596896"/>
            <a:ext cx="1463040" cy="3017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000"/>
              <a:buFont typeface="Consolas"/>
              <a:buNone/>
            </a:pPr>
            <a:r>
              <a:rPr b="1" i="0" lang="en-US" sz="1000" u="none" cap="none" strike="noStrike">
                <a:solidFill>
                  <a:srgbClr val="1E293B"/>
                </a:solidFill>
                <a:latin typeface="Consolas"/>
                <a:ea typeface="Consolas"/>
                <a:cs typeface="Consolas"/>
                <a:sym typeface="Consolas"/>
              </a:rPr>
              <a:t>bcrypt</a:t>
            </a:r>
            <a:endParaRPr b="0" i="0" sz="1000" u="none" cap="none" strike="noStrike">
              <a:solidFill>
                <a:schemeClr val="dk1"/>
              </a:solidFill>
              <a:latin typeface="Calibri"/>
              <a:ea typeface="Calibri"/>
              <a:cs typeface="Calibri"/>
              <a:sym typeface="Calibri"/>
            </a:endParaRPr>
          </a:p>
        </p:txBody>
      </p:sp>
      <p:sp>
        <p:nvSpPr>
          <p:cNvPr id="361" name="Google Shape;361;p13"/>
          <p:cNvSpPr/>
          <p:nvPr/>
        </p:nvSpPr>
        <p:spPr>
          <a:xfrm>
            <a:off x="2103120" y="2596896"/>
            <a:ext cx="2011680" cy="3017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000"/>
              <a:buFont typeface="Calibri"/>
              <a:buNone/>
            </a:pPr>
            <a:r>
              <a:rPr b="0" i="0" lang="en-US" sz="1000" u="none" cap="none" strike="noStrike">
                <a:solidFill>
                  <a:srgbClr val="64748B"/>
                </a:solidFill>
                <a:latin typeface="Calibri"/>
                <a:ea typeface="Calibri"/>
                <a:cs typeface="Calibri"/>
                <a:sym typeface="Calibri"/>
              </a:rPr>
              <a:t>Password hashing</a:t>
            </a:r>
            <a:endParaRPr b="0" i="0" sz="1000" u="none" cap="none" strike="noStrike">
              <a:solidFill>
                <a:schemeClr val="dk1"/>
              </a:solidFill>
              <a:latin typeface="Calibri"/>
              <a:ea typeface="Calibri"/>
              <a:cs typeface="Calibri"/>
              <a:sym typeface="Calibri"/>
            </a:endParaRPr>
          </a:p>
        </p:txBody>
      </p:sp>
      <p:sp>
        <p:nvSpPr>
          <p:cNvPr id="362" name="Google Shape;362;p13"/>
          <p:cNvSpPr/>
          <p:nvPr/>
        </p:nvSpPr>
        <p:spPr>
          <a:xfrm>
            <a:off x="640080" y="2944368"/>
            <a:ext cx="1463040" cy="3017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000"/>
              <a:buFont typeface="Consolas"/>
              <a:buNone/>
            </a:pPr>
            <a:r>
              <a:rPr b="1" i="0" lang="en-US" sz="1000" u="none" cap="none" strike="noStrike">
                <a:solidFill>
                  <a:srgbClr val="1E293B"/>
                </a:solidFill>
                <a:latin typeface="Consolas"/>
                <a:ea typeface="Consolas"/>
                <a:cs typeface="Consolas"/>
                <a:sym typeface="Consolas"/>
              </a:rPr>
              <a:t>python-multipart</a:t>
            </a:r>
            <a:endParaRPr b="0" i="0" sz="1000" u="none" cap="none" strike="noStrike">
              <a:solidFill>
                <a:schemeClr val="dk1"/>
              </a:solidFill>
              <a:latin typeface="Calibri"/>
              <a:ea typeface="Calibri"/>
              <a:cs typeface="Calibri"/>
              <a:sym typeface="Calibri"/>
            </a:endParaRPr>
          </a:p>
        </p:txBody>
      </p:sp>
      <p:sp>
        <p:nvSpPr>
          <p:cNvPr id="363" name="Google Shape;363;p13"/>
          <p:cNvSpPr/>
          <p:nvPr/>
        </p:nvSpPr>
        <p:spPr>
          <a:xfrm>
            <a:off x="2103120" y="2944368"/>
            <a:ext cx="2011680" cy="3017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000"/>
              <a:buFont typeface="Calibri"/>
              <a:buNone/>
            </a:pPr>
            <a:r>
              <a:rPr b="0" i="0" lang="en-US" sz="1000" u="none" cap="none" strike="noStrike">
                <a:solidFill>
                  <a:srgbClr val="64748B"/>
                </a:solidFill>
                <a:latin typeface="Calibri"/>
                <a:ea typeface="Calibri"/>
                <a:cs typeface="Calibri"/>
                <a:sym typeface="Calibri"/>
              </a:rPr>
              <a:t>File upload handling</a:t>
            </a:r>
            <a:endParaRPr b="0" i="0" sz="1000" u="none" cap="none" strike="noStrike">
              <a:solidFill>
                <a:schemeClr val="dk1"/>
              </a:solidFill>
              <a:latin typeface="Calibri"/>
              <a:ea typeface="Calibri"/>
              <a:cs typeface="Calibri"/>
              <a:sym typeface="Calibri"/>
            </a:endParaRPr>
          </a:p>
        </p:txBody>
      </p:sp>
      <p:sp>
        <p:nvSpPr>
          <p:cNvPr id="364" name="Google Shape;364;p13"/>
          <p:cNvSpPr/>
          <p:nvPr/>
        </p:nvSpPr>
        <p:spPr>
          <a:xfrm>
            <a:off x="640080" y="3291840"/>
            <a:ext cx="1463040" cy="3017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000"/>
              <a:buFont typeface="Consolas"/>
              <a:buNone/>
            </a:pPr>
            <a:r>
              <a:rPr b="1" i="0" lang="en-US" sz="1000" u="none" cap="none" strike="noStrike">
                <a:solidFill>
                  <a:srgbClr val="1E293B"/>
                </a:solidFill>
                <a:latin typeface="Consolas"/>
                <a:ea typeface="Consolas"/>
                <a:cs typeface="Consolas"/>
                <a:sym typeface="Consolas"/>
              </a:rPr>
              <a:t>pydantic[email]</a:t>
            </a:r>
            <a:endParaRPr b="0" i="0" sz="1000" u="none" cap="none" strike="noStrike">
              <a:solidFill>
                <a:schemeClr val="dk1"/>
              </a:solidFill>
              <a:latin typeface="Calibri"/>
              <a:ea typeface="Calibri"/>
              <a:cs typeface="Calibri"/>
              <a:sym typeface="Calibri"/>
            </a:endParaRPr>
          </a:p>
        </p:txBody>
      </p:sp>
      <p:sp>
        <p:nvSpPr>
          <p:cNvPr id="365" name="Google Shape;365;p13"/>
          <p:cNvSpPr/>
          <p:nvPr/>
        </p:nvSpPr>
        <p:spPr>
          <a:xfrm>
            <a:off x="2103120" y="3291840"/>
            <a:ext cx="2011680" cy="3017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000"/>
              <a:buFont typeface="Calibri"/>
              <a:buNone/>
            </a:pPr>
            <a:r>
              <a:rPr b="0" i="0" lang="en-US" sz="1000" u="none" cap="none" strike="noStrike">
                <a:solidFill>
                  <a:srgbClr val="64748B"/>
                </a:solidFill>
                <a:latin typeface="Calibri"/>
                <a:ea typeface="Calibri"/>
                <a:cs typeface="Calibri"/>
                <a:sym typeface="Calibri"/>
              </a:rPr>
              <a:t>Request/response validation</a:t>
            </a:r>
            <a:endParaRPr b="0" i="0" sz="1000" u="none" cap="none" strike="noStrike">
              <a:solidFill>
                <a:schemeClr val="dk1"/>
              </a:solidFill>
              <a:latin typeface="Calibri"/>
              <a:ea typeface="Calibri"/>
              <a:cs typeface="Calibri"/>
              <a:sym typeface="Calibri"/>
            </a:endParaRPr>
          </a:p>
        </p:txBody>
      </p:sp>
      <p:sp>
        <p:nvSpPr>
          <p:cNvPr id="366" name="Google Shape;366;p13"/>
          <p:cNvSpPr/>
          <p:nvPr/>
        </p:nvSpPr>
        <p:spPr>
          <a:xfrm>
            <a:off x="640080" y="3639312"/>
            <a:ext cx="1463040" cy="3017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000"/>
              <a:buFont typeface="Consolas"/>
              <a:buNone/>
            </a:pPr>
            <a:r>
              <a:rPr b="1" i="0" lang="en-US" sz="1000" u="none" cap="none" strike="noStrike">
                <a:solidFill>
                  <a:srgbClr val="1E293B"/>
                </a:solidFill>
                <a:latin typeface="Consolas"/>
                <a:ea typeface="Consolas"/>
                <a:cs typeface="Consolas"/>
                <a:sym typeface="Consolas"/>
              </a:rPr>
              <a:t>redis</a:t>
            </a:r>
            <a:endParaRPr b="0" i="0" sz="1000" u="none" cap="none" strike="noStrike">
              <a:solidFill>
                <a:schemeClr val="dk1"/>
              </a:solidFill>
              <a:latin typeface="Calibri"/>
              <a:ea typeface="Calibri"/>
              <a:cs typeface="Calibri"/>
              <a:sym typeface="Calibri"/>
            </a:endParaRPr>
          </a:p>
        </p:txBody>
      </p:sp>
      <p:sp>
        <p:nvSpPr>
          <p:cNvPr id="367" name="Google Shape;367;p13"/>
          <p:cNvSpPr/>
          <p:nvPr/>
        </p:nvSpPr>
        <p:spPr>
          <a:xfrm>
            <a:off x="2103120" y="3639312"/>
            <a:ext cx="2011680" cy="3017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000"/>
              <a:buFont typeface="Calibri"/>
              <a:buNone/>
            </a:pPr>
            <a:r>
              <a:rPr b="0" i="0" lang="en-US" sz="1000" u="none" cap="none" strike="noStrike">
                <a:solidFill>
                  <a:srgbClr val="64748B"/>
                </a:solidFill>
                <a:latin typeface="Calibri"/>
                <a:ea typeface="Calibri"/>
                <a:cs typeface="Calibri"/>
                <a:sym typeface="Calibri"/>
              </a:rPr>
              <a:t>Session cache (configured)</a:t>
            </a:r>
            <a:endParaRPr b="0" i="0" sz="1000" u="none" cap="none" strike="noStrike">
              <a:solidFill>
                <a:schemeClr val="dk1"/>
              </a:solidFill>
              <a:latin typeface="Calibri"/>
              <a:ea typeface="Calibri"/>
              <a:cs typeface="Calibri"/>
              <a:sym typeface="Calibri"/>
            </a:endParaRPr>
          </a:p>
        </p:txBody>
      </p:sp>
      <p:sp>
        <p:nvSpPr>
          <p:cNvPr id="368" name="Google Shape;368;p13"/>
          <p:cNvSpPr/>
          <p:nvPr/>
        </p:nvSpPr>
        <p:spPr>
          <a:xfrm>
            <a:off x="640080" y="3986784"/>
            <a:ext cx="1463040" cy="3017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000"/>
              <a:buFont typeface="Consolas"/>
              <a:buNone/>
            </a:pPr>
            <a:r>
              <a:rPr b="1" i="0" lang="en-US" sz="1000" u="none" cap="none" strike="noStrike">
                <a:solidFill>
                  <a:srgbClr val="1E293B"/>
                </a:solidFill>
                <a:latin typeface="Consolas"/>
                <a:ea typeface="Consolas"/>
                <a:cs typeface="Consolas"/>
                <a:sym typeface="Consolas"/>
              </a:rPr>
              <a:t>python-dotenv</a:t>
            </a:r>
            <a:endParaRPr b="0" i="0" sz="1000" u="none" cap="none" strike="noStrike">
              <a:solidFill>
                <a:schemeClr val="dk1"/>
              </a:solidFill>
              <a:latin typeface="Calibri"/>
              <a:ea typeface="Calibri"/>
              <a:cs typeface="Calibri"/>
              <a:sym typeface="Calibri"/>
            </a:endParaRPr>
          </a:p>
        </p:txBody>
      </p:sp>
      <p:sp>
        <p:nvSpPr>
          <p:cNvPr id="369" name="Google Shape;369;p13"/>
          <p:cNvSpPr/>
          <p:nvPr/>
        </p:nvSpPr>
        <p:spPr>
          <a:xfrm>
            <a:off x="2103120" y="3986784"/>
            <a:ext cx="2011680" cy="3017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000"/>
              <a:buFont typeface="Calibri"/>
              <a:buNone/>
            </a:pPr>
            <a:r>
              <a:rPr b="0" i="0" lang="en-US" sz="1000" u="none" cap="none" strike="noStrike">
                <a:solidFill>
                  <a:srgbClr val="64748B"/>
                </a:solidFill>
                <a:latin typeface="Calibri"/>
                <a:ea typeface="Calibri"/>
                <a:cs typeface="Calibri"/>
                <a:sym typeface="Calibri"/>
              </a:rPr>
              <a:t>Environment variable loading</a:t>
            </a:r>
            <a:endParaRPr b="0" i="0" sz="1000" u="none" cap="none" strike="noStrike">
              <a:solidFill>
                <a:schemeClr val="dk1"/>
              </a:solidFill>
              <a:latin typeface="Calibri"/>
              <a:ea typeface="Calibri"/>
              <a:cs typeface="Calibri"/>
              <a:sym typeface="Calibri"/>
            </a:endParaRPr>
          </a:p>
        </p:txBody>
      </p:sp>
      <p:sp>
        <p:nvSpPr>
          <p:cNvPr id="370" name="Google Shape;370;p13"/>
          <p:cNvSpPr/>
          <p:nvPr/>
        </p:nvSpPr>
        <p:spPr>
          <a:xfrm>
            <a:off x="4754880" y="1097280"/>
            <a:ext cx="3931920" cy="3657600"/>
          </a:xfrm>
          <a:prstGeom prst="rect">
            <a:avLst/>
          </a:prstGeom>
          <a:solidFill>
            <a:srgbClr val="F4F6FA"/>
          </a:solidFill>
          <a:ln>
            <a:noFill/>
          </a:ln>
          <a:effectLst>
            <a:outerShdw blurRad="508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13"/>
          <p:cNvSpPr/>
          <p:nvPr/>
        </p:nvSpPr>
        <p:spPr>
          <a:xfrm>
            <a:off x="4754880" y="1143000"/>
            <a:ext cx="393192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B82F6"/>
              </a:buClr>
              <a:buSzPts val="1400"/>
              <a:buFont typeface="Calibri"/>
              <a:buNone/>
            </a:pPr>
            <a:r>
              <a:rPr b="1" i="0" lang="en-US" sz="1400" u="none" cap="none" strike="noStrike">
                <a:solidFill>
                  <a:srgbClr val="3B82F6"/>
                </a:solidFill>
                <a:latin typeface="Calibri"/>
                <a:ea typeface="Calibri"/>
                <a:cs typeface="Calibri"/>
                <a:sym typeface="Calibri"/>
              </a:rPr>
              <a:t>Frontend &amp; Services</a:t>
            </a:r>
            <a:endParaRPr b="0" i="0" sz="1400" u="none" cap="none" strike="noStrike">
              <a:solidFill>
                <a:schemeClr val="dk1"/>
              </a:solidFill>
              <a:latin typeface="Calibri"/>
              <a:ea typeface="Calibri"/>
              <a:cs typeface="Calibri"/>
              <a:sym typeface="Calibri"/>
            </a:endParaRPr>
          </a:p>
        </p:txBody>
      </p:sp>
      <p:sp>
        <p:nvSpPr>
          <p:cNvPr id="372" name="Google Shape;372;p13"/>
          <p:cNvSpPr/>
          <p:nvPr/>
        </p:nvSpPr>
        <p:spPr>
          <a:xfrm>
            <a:off x="4937760" y="1554480"/>
            <a:ext cx="1645920" cy="3017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000"/>
              <a:buFont typeface="Consolas"/>
              <a:buNone/>
            </a:pPr>
            <a:r>
              <a:rPr b="1" i="0" lang="en-US" sz="1000" u="none" cap="none" strike="noStrike">
                <a:solidFill>
                  <a:srgbClr val="1E293B"/>
                </a:solidFill>
                <a:latin typeface="Consolas"/>
                <a:ea typeface="Consolas"/>
                <a:cs typeface="Consolas"/>
                <a:sym typeface="Consolas"/>
              </a:rPr>
              <a:t>react-router-dom</a:t>
            </a:r>
            <a:endParaRPr b="0" i="0" sz="1000" u="none" cap="none" strike="noStrike">
              <a:solidFill>
                <a:schemeClr val="dk1"/>
              </a:solidFill>
              <a:latin typeface="Calibri"/>
              <a:ea typeface="Calibri"/>
              <a:cs typeface="Calibri"/>
              <a:sym typeface="Calibri"/>
            </a:endParaRPr>
          </a:p>
        </p:txBody>
      </p:sp>
      <p:sp>
        <p:nvSpPr>
          <p:cNvPr id="373" name="Google Shape;373;p13"/>
          <p:cNvSpPr/>
          <p:nvPr/>
        </p:nvSpPr>
        <p:spPr>
          <a:xfrm>
            <a:off x="6583680" y="1554480"/>
            <a:ext cx="1828800" cy="3017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000"/>
              <a:buFont typeface="Calibri"/>
              <a:buNone/>
            </a:pPr>
            <a:r>
              <a:rPr b="0" i="0" lang="en-US" sz="1000" u="none" cap="none" strike="noStrike">
                <a:solidFill>
                  <a:srgbClr val="64748B"/>
                </a:solidFill>
                <a:latin typeface="Calibri"/>
                <a:ea typeface="Calibri"/>
                <a:cs typeface="Calibri"/>
                <a:sym typeface="Calibri"/>
              </a:rPr>
              <a:t>Client-side routing</a:t>
            </a:r>
            <a:endParaRPr b="0" i="0" sz="1000" u="none" cap="none" strike="noStrike">
              <a:solidFill>
                <a:schemeClr val="dk1"/>
              </a:solidFill>
              <a:latin typeface="Calibri"/>
              <a:ea typeface="Calibri"/>
              <a:cs typeface="Calibri"/>
              <a:sym typeface="Calibri"/>
            </a:endParaRPr>
          </a:p>
        </p:txBody>
      </p:sp>
      <p:sp>
        <p:nvSpPr>
          <p:cNvPr id="374" name="Google Shape;374;p13"/>
          <p:cNvSpPr/>
          <p:nvPr/>
        </p:nvSpPr>
        <p:spPr>
          <a:xfrm>
            <a:off x="4937760" y="1901952"/>
            <a:ext cx="1645920" cy="3017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000"/>
              <a:buFont typeface="Consolas"/>
              <a:buNone/>
            </a:pPr>
            <a:r>
              <a:rPr b="1" i="0" lang="en-US" sz="1000" u="none" cap="none" strike="noStrike">
                <a:solidFill>
                  <a:srgbClr val="1E293B"/>
                </a:solidFill>
                <a:latin typeface="Consolas"/>
                <a:ea typeface="Consolas"/>
                <a:cs typeface="Consolas"/>
                <a:sym typeface="Consolas"/>
              </a:rPr>
              <a:t>tailwindcss</a:t>
            </a:r>
            <a:endParaRPr b="0" i="0" sz="1000" u="none" cap="none" strike="noStrike">
              <a:solidFill>
                <a:schemeClr val="dk1"/>
              </a:solidFill>
              <a:latin typeface="Calibri"/>
              <a:ea typeface="Calibri"/>
              <a:cs typeface="Calibri"/>
              <a:sym typeface="Calibri"/>
            </a:endParaRPr>
          </a:p>
        </p:txBody>
      </p:sp>
      <p:sp>
        <p:nvSpPr>
          <p:cNvPr id="375" name="Google Shape;375;p13"/>
          <p:cNvSpPr/>
          <p:nvPr/>
        </p:nvSpPr>
        <p:spPr>
          <a:xfrm>
            <a:off x="6583680" y="1901952"/>
            <a:ext cx="1828800" cy="3017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000"/>
              <a:buFont typeface="Calibri"/>
              <a:buNone/>
            </a:pPr>
            <a:r>
              <a:rPr b="0" i="0" lang="en-US" sz="1000" u="none" cap="none" strike="noStrike">
                <a:solidFill>
                  <a:srgbClr val="64748B"/>
                </a:solidFill>
                <a:latin typeface="Calibri"/>
                <a:ea typeface="Calibri"/>
                <a:cs typeface="Calibri"/>
                <a:sym typeface="Calibri"/>
              </a:rPr>
              <a:t>Utility-first CSS</a:t>
            </a:r>
            <a:endParaRPr b="0" i="0" sz="1000" u="none" cap="none" strike="noStrike">
              <a:solidFill>
                <a:schemeClr val="dk1"/>
              </a:solidFill>
              <a:latin typeface="Calibri"/>
              <a:ea typeface="Calibri"/>
              <a:cs typeface="Calibri"/>
              <a:sym typeface="Calibri"/>
            </a:endParaRPr>
          </a:p>
        </p:txBody>
      </p:sp>
      <p:sp>
        <p:nvSpPr>
          <p:cNvPr id="376" name="Google Shape;376;p13"/>
          <p:cNvSpPr/>
          <p:nvPr/>
        </p:nvSpPr>
        <p:spPr>
          <a:xfrm>
            <a:off x="4937760" y="2249424"/>
            <a:ext cx="1645920" cy="3017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000"/>
              <a:buFont typeface="Consolas"/>
              <a:buNone/>
            </a:pPr>
            <a:r>
              <a:rPr b="1" i="0" lang="en-US" sz="1000" u="none" cap="none" strike="noStrike">
                <a:solidFill>
                  <a:srgbClr val="1E293B"/>
                </a:solidFill>
                <a:latin typeface="Consolas"/>
                <a:ea typeface="Consolas"/>
                <a:cs typeface="Consolas"/>
                <a:sym typeface="Consolas"/>
              </a:rPr>
              <a:t>Web Speech API</a:t>
            </a:r>
            <a:endParaRPr b="0" i="0" sz="1000" u="none" cap="none" strike="noStrike">
              <a:solidFill>
                <a:schemeClr val="dk1"/>
              </a:solidFill>
              <a:latin typeface="Calibri"/>
              <a:ea typeface="Calibri"/>
              <a:cs typeface="Calibri"/>
              <a:sym typeface="Calibri"/>
            </a:endParaRPr>
          </a:p>
        </p:txBody>
      </p:sp>
      <p:sp>
        <p:nvSpPr>
          <p:cNvPr id="377" name="Google Shape;377;p13"/>
          <p:cNvSpPr/>
          <p:nvPr/>
        </p:nvSpPr>
        <p:spPr>
          <a:xfrm>
            <a:off x="6583680" y="2249424"/>
            <a:ext cx="1828800" cy="3017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000"/>
              <a:buFont typeface="Calibri"/>
              <a:buNone/>
            </a:pPr>
            <a:r>
              <a:rPr b="0" i="0" lang="en-US" sz="1000" u="none" cap="none" strike="noStrike">
                <a:solidFill>
                  <a:srgbClr val="64748B"/>
                </a:solidFill>
                <a:latin typeface="Calibri"/>
                <a:ea typeface="Calibri"/>
                <a:cs typeface="Calibri"/>
                <a:sym typeface="Calibri"/>
              </a:rPr>
              <a:t>Browser TTS (built-in)</a:t>
            </a:r>
            <a:endParaRPr b="0" i="0" sz="1000" u="none" cap="none" strike="noStrike">
              <a:solidFill>
                <a:schemeClr val="dk1"/>
              </a:solidFill>
              <a:latin typeface="Calibri"/>
              <a:ea typeface="Calibri"/>
              <a:cs typeface="Calibri"/>
              <a:sym typeface="Calibri"/>
            </a:endParaRPr>
          </a:p>
        </p:txBody>
      </p:sp>
      <p:sp>
        <p:nvSpPr>
          <p:cNvPr id="378" name="Google Shape;378;p13"/>
          <p:cNvSpPr/>
          <p:nvPr/>
        </p:nvSpPr>
        <p:spPr>
          <a:xfrm>
            <a:off x="4937760" y="2596896"/>
            <a:ext cx="1645920" cy="3017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000"/>
              <a:buFont typeface="Consolas"/>
              <a:buNone/>
            </a:pPr>
            <a:r>
              <a:rPr b="1" i="0" lang="en-US" sz="1000" u="none" cap="none" strike="noStrike">
                <a:solidFill>
                  <a:srgbClr val="1E293B"/>
                </a:solidFill>
                <a:latin typeface="Consolas"/>
                <a:ea typeface="Consolas"/>
                <a:cs typeface="Consolas"/>
                <a:sym typeface="Consolas"/>
              </a:rPr>
              <a:t>Groq Cloud</a:t>
            </a:r>
            <a:endParaRPr b="0" i="0" sz="1000" u="none" cap="none" strike="noStrike">
              <a:solidFill>
                <a:schemeClr val="dk1"/>
              </a:solidFill>
              <a:latin typeface="Calibri"/>
              <a:ea typeface="Calibri"/>
              <a:cs typeface="Calibri"/>
              <a:sym typeface="Calibri"/>
            </a:endParaRPr>
          </a:p>
        </p:txBody>
      </p:sp>
      <p:sp>
        <p:nvSpPr>
          <p:cNvPr id="379" name="Google Shape;379;p13"/>
          <p:cNvSpPr/>
          <p:nvPr/>
        </p:nvSpPr>
        <p:spPr>
          <a:xfrm>
            <a:off x="6583680" y="2596896"/>
            <a:ext cx="1828800" cy="3017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000"/>
              <a:buFont typeface="Calibri"/>
              <a:buNone/>
            </a:pPr>
            <a:r>
              <a:rPr b="0" i="0" lang="en-US" sz="1000" u="none" cap="none" strike="noStrike">
                <a:solidFill>
                  <a:srgbClr val="64748B"/>
                </a:solidFill>
                <a:latin typeface="Calibri"/>
                <a:ea typeface="Calibri"/>
                <a:cs typeface="Calibri"/>
                <a:sym typeface="Calibri"/>
              </a:rPr>
              <a:t>AI inference API</a:t>
            </a:r>
            <a:endParaRPr b="0" i="0" sz="1000" u="none" cap="none" strike="noStrike">
              <a:solidFill>
                <a:schemeClr val="dk1"/>
              </a:solidFill>
              <a:latin typeface="Calibri"/>
              <a:ea typeface="Calibri"/>
              <a:cs typeface="Calibri"/>
              <a:sym typeface="Calibri"/>
            </a:endParaRPr>
          </a:p>
        </p:txBody>
      </p:sp>
      <p:sp>
        <p:nvSpPr>
          <p:cNvPr id="380" name="Google Shape;380;p13"/>
          <p:cNvSpPr/>
          <p:nvPr/>
        </p:nvSpPr>
        <p:spPr>
          <a:xfrm>
            <a:off x="4937760" y="2944368"/>
            <a:ext cx="1645920" cy="3017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000"/>
              <a:buFont typeface="Consolas"/>
              <a:buNone/>
            </a:pPr>
            <a:r>
              <a:rPr b="1" i="0" lang="en-US" sz="1000" u="none" cap="none" strike="noStrike">
                <a:solidFill>
                  <a:srgbClr val="1E293B"/>
                </a:solidFill>
                <a:latin typeface="Consolas"/>
                <a:ea typeface="Consolas"/>
                <a:cs typeface="Consolas"/>
                <a:sym typeface="Consolas"/>
              </a:rPr>
              <a:t>Render.com</a:t>
            </a:r>
            <a:endParaRPr b="0" i="0" sz="1000" u="none" cap="none" strike="noStrike">
              <a:solidFill>
                <a:schemeClr val="dk1"/>
              </a:solidFill>
              <a:latin typeface="Calibri"/>
              <a:ea typeface="Calibri"/>
              <a:cs typeface="Calibri"/>
              <a:sym typeface="Calibri"/>
            </a:endParaRPr>
          </a:p>
        </p:txBody>
      </p:sp>
      <p:sp>
        <p:nvSpPr>
          <p:cNvPr id="381" name="Google Shape;381;p13"/>
          <p:cNvSpPr/>
          <p:nvPr/>
        </p:nvSpPr>
        <p:spPr>
          <a:xfrm>
            <a:off x="6583680" y="2944368"/>
            <a:ext cx="1828800" cy="3017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000"/>
              <a:buFont typeface="Calibri"/>
              <a:buNone/>
            </a:pPr>
            <a:r>
              <a:rPr b="0" i="0" lang="en-US" sz="1000" u="none" cap="none" strike="noStrike">
                <a:solidFill>
                  <a:srgbClr val="64748B"/>
                </a:solidFill>
                <a:latin typeface="Calibri"/>
                <a:ea typeface="Calibri"/>
                <a:cs typeface="Calibri"/>
                <a:sym typeface="Calibri"/>
              </a:rPr>
              <a:t>Deployment platform</a:t>
            </a:r>
            <a:endParaRPr b="0" i="0" sz="1000" u="none" cap="none" strike="noStrike">
              <a:solidFill>
                <a:schemeClr val="dk1"/>
              </a:solidFill>
              <a:latin typeface="Calibri"/>
              <a:ea typeface="Calibri"/>
              <a:cs typeface="Calibri"/>
              <a:sym typeface="Calibri"/>
            </a:endParaRPr>
          </a:p>
        </p:txBody>
      </p:sp>
      <p:sp>
        <p:nvSpPr>
          <p:cNvPr id="382" name="Google Shape;382;p13"/>
          <p:cNvSpPr/>
          <p:nvPr/>
        </p:nvSpPr>
        <p:spPr>
          <a:xfrm>
            <a:off x="4937760" y="3291840"/>
            <a:ext cx="1645920" cy="3017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000"/>
              <a:buFont typeface="Consolas"/>
              <a:buNone/>
            </a:pPr>
            <a:r>
              <a:rPr b="1" i="0" lang="en-US" sz="1000" u="none" cap="none" strike="noStrike">
                <a:solidFill>
                  <a:srgbClr val="1E293B"/>
                </a:solidFill>
                <a:latin typeface="Consolas"/>
                <a:ea typeface="Consolas"/>
                <a:cs typeface="Consolas"/>
                <a:sym typeface="Consolas"/>
              </a:rPr>
              <a:t>Docker</a:t>
            </a:r>
            <a:endParaRPr b="0" i="0" sz="1000" u="none" cap="none" strike="noStrike">
              <a:solidFill>
                <a:schemeClr val="dk1"/>
              </a:solidFill>
              <a:latin typeface="Calibri"/>
              <a:ea typeface="Calibri"/>
              <a:cs typeface="Calibri"/>
              <a:sym typeface="Calibri"/>
            </a:endParaRPr>
          </a:p>
        </p:txBody>
      </p:sp>
      <p:sp>
        <p:nvSpPr>
          <p:cNvPr id="383" name="Google Shape;383;p13"/>
          <p:cNvSpPr/>
          <p:nvPr/>
        </p:nvSpPr>
        <p:spPr>
          <a:xfrm>
            <a:off x="6583680" y="3291840"/>
            <a:ext cx="1828800" cy="3017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000"/>
              <a:buFont typeface="Calibri"/>
              <a:buNone/>
            </a:pPr>
            <a:r>
              <a:rPr b="0" i="0" lang="en-US" sz="1000" u="none" cap="none" strike="noStrike">
                <a:solidFill>
                  <a:srgbClr val="64748B"/>
                </a:solidFill>
                <a:latin typeface="Calibri"/>
                <a:ea typeface="Calibri"/>
                <a:cs typeface="Calibri"/>
                <a:sym typeface="Calibri"/>
              </a:rPr>
              <a:t>Containerization</a:t>
            </a:r>
            <a:endParaRPr b="0" i="0" sz="1000" u="none" cap="none" strike="noStrike">
              <a:solidFill>
                <a:schemeClr val="dk1"/>
              </a:solidFill>
              <a:latin typeface="Calibri"/>
              <a:ea typeface="Calibri"/>
              <a:cs typeface="Calibri"/>
              <a:sym typeface="Calibri"/>
            </a:endParaRPr>
          </a:p>
        </p:txBody>
      </p:sp>
      <p:sp>
        <p:nvSpPr>
          <p:cNvPr id="384" name="Google Shape;384;p13"/>
          <p:cNvSpPr/>
          <p:nvPr/>
        </p:nvSpPr>
        <p:spPr>
          <a:xfrm>
            <a:off x="4937760" y="3639312"/>
            <a:ext cx="1645920" cy="3017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000"/>
              <a:buFont typeface="Consolas"/>
              <a:buNone/>
            </a:pPr>
            <a:r>
              <a:rPr b="1" i="0" lang="en-US" sz="1000" u="none" cap="none" strike="noStrike">
                <a:solidFill>
                  <a:srgbClr val="1E293B"/>
                </a:solidFill>
                <a:latin typeface="Consolas"/>
                <a:ea typeface="Consolas"/>
                <a:cs typeface="Consolas"/>
                <a:sym typeface="Consolas"/>
              </a:rPr>
              <a:t>PostgreSQL</a:t>
            </a:r>
            <a:endParaRPr b="0" i="0" sz="1000" u="none" cap="none" strike="noStrike">
              <a:solidFill>
                <a:schemeClr val="dk1"/>
              </a:solidFill>
              <a:latin typeface="Calibri"/>
              <a:ea typeface="Calibri"/>
              <a:cs typeface="Calibri"/>
              <a:sym typeface="Calibri"/>
            </a:endParaRPr>
          </a:p>
        </p:txBody>
      </p:sp>
      <p:sp>
        <p:nvSpPr>
          <p:cNvPr id="385" name="Google Shape;385;p13"/>
          <p:cNvSpPr/>
          <p:nvPr/>
        </p:nvSpPr>
        <p:spPr>
          <a:xfrm>
            <a:off x="6583680" y="3639312"/>
            <a:ext cx="1828800" cy="3017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000"/>
              <a:buFont typeface="Calibri"/>
              <a:buNone/>
            </a:pPr>
            <a:r>
              <a:rPr b="0" i="0" lang="en-US" sz="1000" u="none" cap="none" strike="noStrike">
                <a:solidFill>
                  <a:srgbClr val="64748B"/>
                </a:solidFill>
                <a:latin typeface="Calibri"/>
                <a:ea typeface="Calibri"/>
                <a:cs typeface="Calibri"/>
                <a:sym typeface="Calibri"/>
              </a:rPr>
              <a:t>Managed database</a:t>
            </a:r>
            <a:endParaRPr b="0" i="0" sz="1000" u="none" cap="none" strike="noStrike">
              <a:solidFill>
                <a:schemeClr val="dk1"/>
              </a:solidFill>
              <a:latin typeface="Calibri"/>
              <a:ea typeface="Calibri"/>
              <a:cs typeface="Calibri"/>
              <a:sym typeface="Calibri"/>
            </a:endParaRPr>
          </a:p>
        </p:txBody>
      </p:sp>
      <p:sp>
        <p:nvSpPr>
          <p:cNvPr id="386" name="Google Shape;386;p13"/>
          <p:cNvSpPr/>
          <p:nvPr/>
        </p:nvSpPr>
        <p:spPr>
          <a:xfrm>
            <a:off x="4937760" y="3986784"/>
            <a:ext cx="1645920" cy="3017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000"/>
              <a:buFont typeface="Consolas"/>
              <a:buNone/>
            </a:pPr>
            <a:r>
              <a:rPr b="1" i="0" lang="en-US" sz="1000" u="none" cap="none" strike="noStrike">
                <a:solidFill>
                  <a:srgbClr val="1E293B"/>
                </a:solidFill>
                <a:latin typeface="Consolas"/>
                <a:ea typeface="Consolas"/>
                <a:cs typeface="Consolas"/>
                <a:sym typeface="Consolas"/>
              </a:rPr>
              <a:t>Alembic</a:t>
            </a:r>
            <a:endParaRPr b="0" i="0" sz="1000" u="none" cap="none" strike="noStrike">
              <a:solidFill>
                <a:schemeClr val="dk1"/>
              </a:solidFill>
              <a:latin typeface="Calibri"/>
              <a:ea typeface="Calibri"/>
              <a:cs typeface="Calibri"/>
              <a:sym typeface="Calibri"/>
            </a:endParaRPr>
          </a:p>
        </p:txBody>
      </p:sp>
      <p:sp>
        <p:nvSpPr>
          <p:cNvPr id="387" name="Google Shape;387;p13"/>
          <p:cNvSpPr/>
          <p:nvPr/>
        </p:nvSpPr>
        <p:spPr>
          <a:xfrm>
            <a:off x="6583680" y="3986784"/>
            <a:ext cx="1828800" cy="3017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000"/>
              <a:buFont typeface="Calibri"/>
              <a:buNone/>
            </a:pPr>
            <a:r>
              <a:rPr b="0" i="0" lang="en-US" sz="1000" u="none" cap="none" strike="noStrike">
                <a:solidFill>
                  <a:srgbClr val="64748B"/>
                </a:solidFill>
                <a:latin typeface="Calibri"/>
                <a:ea typeface="Calibri"/>
                <a:cs typeface="Calibri"/>
                <a:sym typeface="Calibri"/>
              </a:rPr>
              <a:t>DB schema migrations</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92" name="Shape 392"/>
        <p:cNvGrpSpPr/>
        <p:nvPr/>
      </p:nvGrpSpPr>
      <p:grpSpPr>
        <a:xfrm>
          <a:off x="0" y="0"/>
          <a:ext cx="0" cy="0"/>
          <a:chOff x="0" y="0"/>
          <a:chExt cx="0" cy="0"/>
        </a:xfrm>
      </p:grpSpPr>
      <p:sp>
        <p:nvSpPr>
          <p:cNvPr id="393" name="Google Shape;393;p14"/>
          <p:cNvSpPr/>
          <p:nvPr/>
        </p:nvSpPr>
        <p:spPr>
          <a:xfrm>
            <a:off x="0" y="0"/>
            <a:ext cx="9144000" cy="54864"/>
          </a:xfrm>
          <a:prstGeom prst="rect">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14"/>
          <p:cNvSpPr/>
          <p:nvPr/>
        </p:nvSpPr>
        <p:spPr>
          <a:xfrm>
            <a:off x="731520" y="320040"/>
            <a:ext cx="768096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4A"/>
              </a:buClr>
              <a:buSzPts val="3200"/>
              <a:buFont typeface="Georgia"/>
              <a:buNone/>
            </a:pPr>
            <a:r>
              <a:rPr b="1" i="0" lang="en-US" sz="3200" u="none" cap="none" strike="noStrike">
                <a:solidFill>
                  <a:srgbClr val="1B2A4A"/>
                </a:solidFill>
                <a:latin typeface="Georgia"/>
                <a:ea typeface="Georgia"/>
                <a:cs typeface="Georgia"/>
                <a:sym typeface="Georgia"/>
              </a:rPr>
              <a:t>Future Vision: Beyond the Browser</a:t>
            </a:r>
            <a:endParaRPr b="0" i="0" sz="3200" u="none" cap="none" strike="noStrike">
              <a:solidFill>
                <a:schemeClr val="dk1"/>
              </a:solidFill>
              <a:latin typeface="Calibri"/>
              <a:ea typeface="Calibri"/>
              <a:cs typeface="Calibri"/>
              <a:sym typeface="Calibri"/>
            </a:endParaRPr>
          </a:p>
        </p:txBody>
      </p:sp>
      <p:sp>
        <p:nvSpPr>
          <p:cNvPr id="395" name="Google Shape;395;p14"/>
          <p:cNvSpPr/>
          <p:nvPr/>
        </p:nvSpPr>
        <p:spPr>
          <a:xfrm>
            <a:off x="731520" y="1005840"/>
            <a:ext cx="76809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300"/>
              <a:buFont typeface="Calibri"/>
              <a:buNone/>
            </a:pPr>
            <a:r>
              <a:rPr b="0" i="0" lang="en-US" sz="1300" u="none" cap="none" strike="noStrike">
                <a:solidFill>
                  <a:srgbClr val="64748B"/>
                </a:solidFill>
                <a:latin typeface="Calibri"/>
                <a:ea typeface="Calibri"/>
                <a:cs typeface="Calibri"/>
                <a:sym typeface="Calibri"/>
              </a:rPr>
              <a:t>SceneIQ’s API-first architecture makes it easy to expand to new devices, modalities, and use cases.</a:t>
            </a:r>
            <a:endParaRPr b="0" i="0" sz="1300" u="none" cap="none" strike="noStrike">
              <a:solidFill>
                <a:schemeClr val="dk1"/>
              </a:solidFill>
              <a:latin typeface="Calibri"/>
              <a:ea typeface="Calibri"/>
              <a:cs typeface="Calibri"/>
              <a:sym typeface="Calibri"/>
            </a:endParaRPr>
          </a:p>
        </p:txBody>
      </p:sp>
      <p:sp>
        <p:nvSpPr>
          <p:cNvPr id="396" name="Google Shape;396;p14"/>
          <p:cNvSpPr/>
          <p:nvPr/>
        </p:nvSpPr>
        <p:spPr>
          <a:xfrm>
            <a:off x="365760" y="1508760"/>
            <a:ext cx="2011680" cy="3200400"/>
          </a:xfrm>
          <a:prstGeom prst="rect">
            <a:avLst/>
          </a:prstGeom>
          <a:solidFill>
            <a:srgbClr val="F4F6FA"/>
          </a:solidFill>
          <a:ln>
            <a:noFill/>
          </a:ln>
          <a:effectLst>
            <a:outerShdw blurRad="508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p14"/>
          <p:cNvSpPr/>
          <p:nvPr/>
        </p:nvSpPr>
        <p:spPr>
          <a:xfrm>
            <a:off x="1051560" y="1645920"/>
            <a:ext cx="502920" cy="502920"/>
          </a:xfrm>
          <a:prstGeom prst="ellipse">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98" name="Google Shape;398;p14"/>
          <p:cNvPicPr preferRelativeResize="0"/>
          <p:nvPr/>
        </p:nvPicPr>
        <p:blipFill rotWithShape="1">
          <a:blip r:embed="rId3">
            <a:alphaModFix/>
          </a:blip>
          <a:srcRect b="0" l="0" r="0" t="0"/>
          <a:stretch/>
        </p:blipFill>
        <p:spPr>
          <a:xfrm>
            <a:off x="1170432" y="1764792"/>
            <a:ext cx="274320" cy="274320"/>
          </a:xfrm>
          <a:prstGeom prst="rect">
            <a:avLst/>
          </a:prstGeom>
          <a:noFill/>
          <a:ln>
            <a:noFill/>
          </a:ln>
        </p:spPr>
      </p:pic>
      <p:sp>
        <p:nvSpPr>
          <p:cNvPr id="399" name="Google Shape;399;p14"/>
          <p:cNvSpPr/>
          <p:nvPr/>
        </p:nvSpPr>
        <p:spPr>
          <a:xfrm>
            <a:off x="457200" y="2240280"/>
            <a:ext cx="182880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93B"/>
              </a:buClr>
              <a:buSzPts val="1300"/>
              <a:buFont typeface="Calibri"/>
              <a:buNone/>
            </a:pPr>
            <a:r>
              <a:rPr b="1" i="0" lang="en-US" sz="1300" u="none" cap="none" strike="noStrike">
                <a:solidFill>
                  <a:srgbClr val="1E293B"/>
                </a:solidFill>
                <a:latin typeface="Calibri"/>
                <a:ea typeface="Calibri"/>
                <a:cs typeface="Calibri"/>
                <a:sym typeface="Calibri"/>
              </a:rPr>
              <a:t>Live Video</a:t>
            </a:r>
            <a:endParaRPr b="0" i="0" sz="13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1E293B"/>
              </a:buClr>
              <a:buSzPts val="1300"/>
              <a:buFont typeface="Calibri"/>
              <a:buNone/>
            </a:pPr>
            <a:r>
              <a:rPr b="1" i="0" lang="en-US" sz="1300" u="none" cap="none" strike="noStrike">
                <a:solidFill>
                  <a:srgbClr val="1E293B"/>
                </a:solidFill>
                <a:latin typeface="Calibri"/>
                <a:ea typeface="Calibri"/>
                <a:cs typeface="Calibri"/>
                <a:sym typeface="Calibri"/>
              </a:rPr>
              <a:t>Captioning</a:t>
            </a:r>
            <a:endParaRPr b="0" i="0" sz="1300" u="none" cap="none" strike="noStrike">
              <a:solidFill>
                <a:schemeClr val="dk1"/>
              </a:solidFill>
              <a:latin typeface="Calibri"/>
              <a:ea typeface="Calibri"/>
              <a:cs typeface="Calibri"/>
              <a:sym typeface="Calibri"/>
            </a:endParaRPr>
          </a:p>
        </p:txBody>
      </p:sp>
      <p:sp>
        <p:nvSpPr>
          <p:cNvPr id="400" name="Google Shape;400;p14"/>
          <p:cNvSpPr/>
          <p:nvPr/>
        </p:nvSpPr>
        <p:spPr>
          <a:xfrm>
            <a:off x="502920" y="2834640"/>
            <a:ext cx="173736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000"/>
              <a:buFont typeface="Calibri"/>
              <a:buNone/>
            </a:pPr>
            <a:r>
              <a:rPr b="0" i="0" lang="en-US" sz="1000" u="none" cap="none" strike="noStrike">
                <a:solidFill>
                  <a:srgbClr val="64748B"/>
                </a:solidFill>
                <a:latin typeface="Calibri"/>
                <a:ea typeface="Calibri"/>
                <a:cs typeface="Calibri"/>
                <a:sym typeface="Calibri"/>
              </a:rPr>
              <a:t>• Stream webcam frames continuously</a:t>
            </a:r>
            <a:endParaRPr b="0" i="0" sz="1000" u="none" cap="none" strike="noStrike">
              <a:solidFill>
                <a:schemeClr val="dk1"/>
              </a:solidFill>
              <a:latin typeface="Calibri"/>
              <a:ea typeface="Calibri"/>
              <a:cs typeface="Calibri"/>
              <a:sym typeface="Calibri"/>
            </a:endParaRPr>
          </a:p>
        </p:txBody>
      </p:sp>
      <p:sp>
        <p:nvSpPr>
          <p:cNvPr id="401" name="Google Shape;401;p14"/>
          <p:cNvSpPr/>
          <p:nvPr/>
        </p:nvSpPr>
        <p:spPr>
          <a:xfrm>
            <a:off x="502920" y="3218688"/>
            <a:ext cx="173736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000"/>
              <a:buFont typeface="Calibri"/>
              <a:buNone/>
            </a:pPr>
            <a:r>
              <a:rPr b="0" i="0" lang="en-US" sz="1000" u="none" cap="none" strike="noStrike">
                <a:solidFill>
                  <a:srgbClr val="64748B"/>
                </a:solidFill>
                <a:latin typeface="Calibri"/>
                <a:ea typeface="Calibri"/>
                <a:cs typeface="Calibri"/>
                <a:sym typeface="Calibri"/>
              </a:rPr>
              <a:t>• Real-time narration of surroundings</a:t>
            </a:r>
            <a:endParaRPr b="0" i="0" sz="1000" u="none" cap="none" strike="noStrike">
              <a:solidFill>
                <a:schemeClr val="dk1"/>
              </a:solidFill>
              <a:latin typeface="Calibri"/>
              <a:ea typeface="Calibri"/>
              <a:cs typeface="Calibri"/>
              <a:sym typeface="Calibri"/>
            </a:endParaRPr>
          </a:p>
        </p:txBody>
      </p:sp>
      <p:sp>
        <p:nvSpPr>
          <p:cNvPr id="402" name="Google Shape;402;p14"/>
          <p:cNvSpPr/>
          <p:nvPr/>
        </p:nvSpPr>
        <p:spPr>
          <a:xfrm>
            <a:off x="502920" y="3602736"/>
            <a:ext cx="173736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000"/>
              <a:buFont typeface="Calibri"/>
              <a:buNone/>
            </a:pPr>
            <a:r>
              <a:rPr b="0" i="0" lang="en-US" sz="1000" u="none" cap="none" strike="noStrike">
                <a:solidFill>
                  <a:srgbClr val="64748B"/>
                </a:solidFill>
                <a:latin typeface="Calibri"/>
                <a:ea typeface="Calibri"/>
                <a:cs typeface="Calibri"/>
                <a:sym typeface="Calibri"/>
              </a:rPr>
              <a:t>• Alert on scene changes or hazards</a:t>
            </a:r>
            <a:endParaRPr b="0" i="0" sz="1000" u="none" cap="none" strike="noStrike">
              <a:solidFill>
                <a:schemeClr val="dk1"/>
              </a:solidFill>
              <a:latin typeface="Calibri"/>
              <a:ea typeface="Calibri"/>
              <a:cs typeface="Calibri"/>
              <a:sym typeface="Calibri"/>
            </a:endParaRPr>
          </a:p>
        </p:txBody>
      </p:sp>
      <p:sp>
        <p:nvSpPr>
          <p:cNvPr id="403" name="Google Shape;403;p14"/>
          <p:cNvSpPr/>
          <p:nvPr/>
        </p:nvSpPr>
        <p:spPr>
          <a:xfrm>
            <a:off x="502920" y="3986784"/>
            <a:ext cx="173736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000"/>
              <a:buFont typeface="Calibri"/>
              <a:buNone/>
            </a:pPr>
            <a:r>
              <a:rPr b="0" i="0" lang="en-US" sz="1000" u="none" cap="none" strike="noStrike">
                <a:solidFill>
                  <a:srgbClr val="64748B"/>
                </a:solidFill>
                <a:latin typeface="Calibri"/>
                <a:ea typeface="Calibri"/>
                <a:cs typeface="Calibri"/>
                <a:sym typeface="Calibri"/>
              </a:rPr>
              <a:t>• WebSocket for low-latency updates</a:t>
            </a:r>
            <a:endParaRPr b="0" i="0" sz="1000" u="none" cap="none" strike="noStrike">
              <a:solidFill>
                <a:schemeClr val="dk1"/>
              </a:solidFill>
              <a:latin typeface="Calibri"/>
              <a:ea typeface="Calibri"/>
              <a:cs typeface="Calibri"/>
              <a:sym typeface="Calibri"/>
            </a:endParaRPr>
          </a:p>
        </p:txBody>
      </p:sp>
      <p:sp>
        <p:nvSpPr>
          <p:cNvPr id="404" name="Google Shape;404;p14"/>
          <p:cNvSpPr/>
          <p:nvPr/>
        </p:nvSpPr>
        <p:spPr>
          <a:xfrm>
            <a:off x="2514600" y="1508760"/>
            <a:ext cx="2011680" cy="3200400"/>
          </a:xfrm>
          <a:prstGeom prst="rect">
            <a:avLst/>
          </a:prstGeom>
          <a:solidFill>
            <a:srgbClr val="F4F6FA"/>
          </a:solidFill>
          <a:ln>
            <a:noFill/>
          </a:ln>
          <a:effectLst>
            <a:outerShdw blurRad="508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p14"/>
          <p:cNvSpPr/>
          <p:nvPr/>
        </p:nvSpPr>
        <p:spPr>
          <a:xfrm>
            <a:off x="3200400" y="1645920"/>
            <a:ext cx="502920" cy="502920"/>
          </a:xfrm>
          <a:prstGeom prst="ellipse">
            <a:avLst/>
          </a:prstGeom>
          <a:solidFill>
            <a:srgbClr val="3B82F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06" name="Google Shape;406;p14"/>
          <p:cNvPicPr preferRelativeResize="0"/>
          <p:nvPr/>
        </p:nvPicPr>
        <p:blipFill rotWithShape="1">
          <a:blip r:embed="rId4">
            <a:alphaModFix/>
          </a:blip>
          <a:srcRect b="0" l="0" r="0" t="0"/>
          <a:stretch/>
        </p:blipFill>
        <p:spPr>
          <a:xfrm>
            <a:off x="3319272" y="1764792"/>
            <a:ext cx="274320" cy="274320"/>
          </a:xfrm>
          <a:prstGeom prst="rect">
            <a:avLst/>
          </a:prstGeom>
          <a:noFill/>
          <a:ln>
            <a:noFill/>
          </a:ln>
        </p:spPr>
      </p:pic>
      <p:sp>
        <p:nvSpPr>
          <p:cNvPr id="407" name="Google Shape;407;p14"/>
          <p:cNvSpPr/>
          <p:nvPr/>
        </p:nvSpPr>
        <p:spPr>
          <a:xfrm>
            <a:off x="2606040" y="2240280"/>
            <a:ext cx="182880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93B"/>
              </a:buClr>
              <a:buSzPts val="1300"/>
              <a:buFont typeface="Calibri"/>
              <a:buNone/>
            </a:pPr>
            <a:r>
              <a:rPr b="1" i="0" lang="en-US" sz="1300" u="none" cap="none" strike="noStrike">
                <a:solidFill>
                  <a:srgbClr val="1E293B"/>
                </a:solidFill>
                <a:latin typeface="Calibri"/>
                <a:ea typeface="Calibri"/>
                <a:cs typeface="Calibri"/>
                <a:sym typeface="Calibri"/>
              </a:rPr>
              <a:t>Smart Walking</a:t>
            </a:r>
            <a:endParaRPr b="0" i="0" sz="13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1E293B"/>
              </a:buClr>
              <a:buSzPts val="1300"/>
              <a:buFont typeface="Calibri"/>
              <a:buNone/>
            </a:pPr>
            <a:r>
              <a:rPr b="1" i="0" lang="en-US" sz="1300" u="none" cap="none" strike="noStrike">
                <a:solidFill>
                  <a:srgbClr val="1E293B"/>
                </a:solidFill>
                <a:latin typeface="Calibri"/>
                <a:ea typeface="Calibri"/>
                <a:cs typeface="Calibri"/>
                <a:sym typeface="Calibri"/>
              </a:rPr>
              <a:t>Stick</a:t>
            </a:r>
            <a:endParaRPr b="0" i="0" sz="1300" u="none" cap="none" strike="noStrike">
              <a:solidFill>
                <a:schemeClr val="dk1"/>
              </a:solidFill>
              <a:latin typeface="Calibri"/>
              <a:ea typeface="Calibri"/>
              <a:cs typeface="Calibri"/>
              <a:sym typeface="Calibri"/>
            </a:endParaRPr>
          </a:p>
        </p:txBody>
      </p:sp>
      <p:sp>
        <p:nvSpPr>
          <p:cNvPr id="408" name="Google Shape;408;p14"/>
          <p:cNvSpPr/>
          <p:nvPr/>
        </p:nvSpPr>
        <p:spPr>
          <a:xfrm>
            <a:off x="2651760" y="2834640"/>
            <a:ext cx="173736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000"/>
              <a:buFont typeface="Calibri"/>
              <a:buNone/>
            </a:pPr>
            <a:r>
              <a:rPr b="0" i="0" lang="en-US" sz="1000" u="none" cap="none" strike="noStrike">
                <a:solidFill>
                  <a:srgbClr val="64748B"/>
                </a:solidFill>
                <a:latin typeface="Calibri"/>
                <a:ea typeface="Calibri"/>
                <a:cs typeface="Calibri"/>
                <a:sym typeface="Calibri"/>
              </a:rPr>
              <a:t>• Embed camera + speaker in cane</a:t>
            </a:r>
            <a:endParaRPr b="0" i="0" sz="1000" u="none" cap="none" strike="noStrike">
              <a:solidFill>
                <a:schemeClr val="dk1"/>
              </a:solidFill>
              <a:latin typeface="Calibri"/>
              <a:ea typeface="Calibri"/>
              <a:cs typeface="Calibri"/>
              <a:sym typeface="Calibri"/>
            </a:endParaRPr>
          </a:p>
        </p:txBody>
      </p:sp>
      <p:sp>
        <p:nvSpPr>
          <p:cNvPr id="409" name="Google Shape;409;p14"/>
          <p:cNvSpPr/>
          <p:nvPr/>
        </p:nvSpPr>
        <p:spPr>
          <a:xfrm>
            <a:off x="2651760" y="3218688"/>
            <a:ext cx="173736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000"/>
              <a:buFont typeface="Calibri"/>
              <a:buNone/>
            </a:pPr>
            <a:r>
              <a:rPr b="0" i="0" lang="en-US" sz="1000" u="none" cap="none" strike="noStrike">
                <a:solidFill>
                  <a:srgbClr val="64748B"/>
                </a:solidFill>
                <a:latin typeface="Calibri"/>
                <a:ea typeface="Calibri"/>
                <a:cs typeface="Calibri"/>
                <a:sym typeface="Calibri"/>
              </a:rPr>
              <a:t>• Raspberry Pi or ESP32 hardware</a:t>
            </a:r>
            <a:endParaRPr b="0" i="0" sz="1000" u="none" cap="none" strike="noStrike">
              <a:solidFill>
                <a:schemeClr val="dk1"/>
              </a:solidFill>
              <a:latin typeface="Calibri"/>
              <a:ea typeface="Calibri"/>
              <a:cs typeface="Calibri"/>
              <a:sym typeface="Calibri"/>
            </a:endParaRPr>
          </a:p>
        </p:txBody>
      </p:sp>
      <p:sp>
        <p:nvSpPr>
          <p:cNvPr id="410" name="Google Shape;410;p14"/>
          <p:cNvSpPr/>
          <p:nvPr/>
        </p:nvSpPr>
        <p:spPr>
          <a:xfrm>
            <a:off x="2651760" y="3602736"/>
            <a:ext cx="173736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000"/>
              <a:buFont typeface="Calibri"/>
              <a:buNone/>
            </a:pPr>
            <a:r>
              <a:rPr b="0" i="0" lang="en-US" sz="1000" u="none" cap="none" strike="noStrike">
                <a:solidFill>
                  <a:srgbClr val="64748B"/>
                </a:solidFill>
                <a:latin typeface="Calibri"/>
                <a:ea typeface="Calibri"/>
                <a:cs typeface="Calibri"/>
                <a:sym typeface="Calibri"/>
              </a:rPr>
              <a:t>• Hit SceneIQ API over Wi-Fi/LTE</a:t>
            </a:r>
            <a:endParaRPr b="0" i="0" sz="1000" u="none" cap="none" strike="noStrike">
              <a:solidFill>
                <a:schemeClr val="dk1"/>
              </a:solidFill>
              <a:latin typeface="Calibri"/>
              <a:ea typeface="Calibri"/>
              <a:cs typeface="Calibri"/>
              <a:sym typeface="Calibri"/>
            </a:endParaRPr>
          </a:p>
        </p:txBody>
      </p:sp>
      <p:sp>
        <p:nvSpPr>
          <p:cNvPr id="411" name="Google Shape;411;p14"/>
          <p:cNvSpPr/>
          <p:nvPr/>
        </p:nvSpPr>
        <p:spPr>
          <a:xfrm>
            <a:off x="2651760" y="3986784"/>
            <a:ext cx="173736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000"/>
              <a:buFont typeface="Calibri"/>
              <a:buNone/>
            </a:pPr>
            <a:r>
              <a:rPr b="0" i="0" lang="en-US" sz="1000" u="none" cap="none" strike="noStrike">
                <a:solidFill>
                  <a:srgbClr val="64748B"/>
                </a:solidFill>
                <a:latin typeface="Calibri"/>
                <a:ea typeface="Calibri"/>
                <a:cs typeface="Calibri"/>
                <a:sym typeface="Calibri"/>
              </a:rPr>
              <a:t>• Haptic feedback for obstacles</a:t>
            </a:r>
            <a:endParaRPr b="0" i="0" sz="1000" u="none" cap="none" strike="noStrike">
              <a:solidFill>
                <a:schemeClr val="dk1"/>
              </a:solidFill>
              <a:latin typeface="Calibri"/>
              <a:ea typeface="Calibri"/>
              <a:cs typeface="Calibri"/>
              <a:sym typeface="Calibri"/>
            </a:endParaRPr>
          </a:p>
        </p:txBody>
      </p:sp>
      <p:sp>
        <p:nvSpPr>
          <p:cNvPr id="412" name="Google Shape;412;p14"/>
          <p:cNvSpPr/>
          <p:nvPr/>
        </p:nvSpPr>
        <p:spPr>
          <a:xfrm>
            <a:off x="4663440" y="1508760"/>
            <a:ext cx="2011680" cy="3200400"/>
          </a:xfrm>
          <a:prstGeom prst="rect">
            <a:avLst/>
          </a:prstGeom>
          <a:solidFill>
            <a:srgbClr val="F4F6FA"/>
          </a:solidFill>
          <a:ln>
            <a:noFill/>
          </a:ln>
          <a:effectLst>
            <a:outerShdw blurRad="508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p14"/>
          <p:cNvSpPr/>
          <p:nvPr/>
        </p:nvSpPr>
        <p:spPr>
          <a:xfrm>
            <a:off x="5349240" y="1645920"/>
            <a:ext cx="502920" cy="502920"/>
          </a:xfrm>
          <a:prstGeom prst="ellipse">
            <a:avLst/>
          </a:prstGeom>
          <a:solidFill>
            <a:srgbClr val="2C4A7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14" name="Google Shape;414;p14"/>
          <p:cNvPicPr preferRelativeResize="0"/>
          <p:nvPr/>
        </p:nvPicPr>
        <p:blipFill rotWithShape="1">
          <a:blip r:embed="rId5">
            <a:alphaModFix/>
          </a:blip>
          <a:srcRect b="0" l="0" r="0" t="0"/>
          <a:stretch/>
        </p:blipFill>
        <p:spPr>
          <a:xfrm>
            <a:off x="5468112" y="1764792"/>
            <a:ext cx="274320" cy="274320"/>
          </a:xfrm>
          <a:prstGeom prst="rect">
            <a:avLst/>
          </a:prstGeom>
          <a:noFill/>
          <a:ln>
            <a:noFill/>
          </a:ln>
        </p:spPr>
      </p:pic>
      <p:sp>
        <p:nvSpPr>
          <p:cNvPr id="415" name="Google Shape;415;p14"/>
          <p:cNvSpPr/>
          <p:nvPr/>
        </p:nvSpPr>
        <p:spPr>
          <a:xfrm>
            <a:off x="4754880" y="2240280"/>
            <a:ext cx="182880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93B"/>
              </a:buClr>
              <a:buSzPts val="1300"/>
              <a:buFont typeface="Calibri"/>
              <a:buNone/>
            </a:pPr>
            <a:r>
              <a:rPr b="1" i="0" lang="en-US" sz="1300" u="none" cap="none" strike="noStrike">
                <a:solidFill>
                  <a:srgbClr val="1E293B"/>
                </a:solidFill>
                <a:latin typeface="Calibri"/>
                <a:ea typeface="Calibri"/>
                <a:cs typeface="Calibri"/>
                <a:sym typeface="Calibri"/>
              </a:rPr>
              <a:t>Wearable</a:t>
            </a:r>
            <a:endParaRPr b="0" i="0" sz="13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1E293B"/>
              </a:buClr>
              <a:buSzPts val="1300"/>
              <a:buFont typeface="Calibri"/>
              <a:buNone/>
            </a:pPr>
            <a:r>
              <a:rPr b="1" i="0" lang="en-US" sz="1300" u="none" cap="none" strike="noStrike">
                <a:solidFill>
                  <a:srgbClr val="1E293B"/>
                </a:solidFill>
                <a:latin typeface="Calibri"/>
                <a:ea typeface="Calibri"/>
                <a:cs typeface="Calibri"/>
                <a:sym typeface="Calibri"/>
              </a:rPr>
              <a:t>Devices</a:t>
            </a:r>
            <a:endParaRPr b="0" i="0" sz="1300" u="none" cap="none" strike="noStrike">
              <a:solidFill>
                <a:schemeClr val="dk1"/>
              </a:solidFill>
              <a:latin typeface="Calibri"/>
              <a:ea typeface="Calibri"/>
              <a:cs typeface="Calibri"/>
              <a:sym typeface="Calibri"/>
            </a:endParaRPr>
          </a:p>
        </p:txBody>
      </p:sp>
      <p:sp>
        <p:nvSpPr>
          <p:cNvPr id="416" name="Google Shape;416;p14"/>
          <p:cNvSpPr/>
          <p:nvPr/>
        </p:nvSpPr>
        <p:spPr>
          <a:xfrm>
            <a:off x="4800600" y="2834640"/>
            <a:ext cx="173736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000"/>
              <a:buFont typeface="Calibri"/>
              <a:buNone/>
            </a:pPr>
            <a:r>
              <a:rPr b="0" i="0" lang="en-US" sz="1000" u="none" cap="none" strike="noStrike">
                <a:solidFill>
                  <a:srgbClr val="64748B"/>
                </a:solidFill>
                <a:latin typeface="Calibri"/>
                <a:ea typeface="Calibri"/>
                <a:cs typeface="Calibri"/>
                <a:sym typeface="Calibri"/>
              </a:rPr>
              <a:t>• Smart glasses with bone conduction</a:t>
            </a:r>
            <a:endParaRPr b="0" i="0" sz="1000" u="none" cap="none" strike="noStrike">
              <a:solidFill>
                <a:schemeClr val="dk1"/>
              </a:solidFill>
              <a:latin typeface="Calibri"/>
              <a:ea typeface="Calibri"/>
              <a:cs typeface="Calibri"/>
              <a:sym typeface="Calibri"/>
            </a:endParaRPr>
          </a:p>
        </p:txBody>
      </p:sp>
      <p:sp>
        <p:nvSpPr>
          <p:cNvPr id="417" name="Google Shape;417;p14"/>
          <p:cNvSpPr/>
          <p:nvPr/>
        </p:nvSpPr>
        <p:spPr>
          <a:xfrm>
            <a:off x="4800600" y="3218688"/>
            <a:ext cx="173736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000"/>
              <a:buFont typeface="Calibri"/>
              <a:buNone/>
            </a:pPr>
            <a:r>
              <a:rPr b="0" i="0" lang="en-US" sz="1000" u="none" cap="none" strike="noStrike">
                <a:solidFill>
                  <a:srgbClr val="64748B"/>
                </a:solidFill>
                <a:latin typeface="Calibri"/>
                <a:ea typeface="Calibri"/>
                <a:cs typeface="Calibri"/>
                <a:sym typeface="Calibri"/>
              </a:rPr>
              <a:t>• Clip-on camera for clothing</a:t>
            </a:r>
            <a:endParaRPr b="0" i="0" sz="1000" u="none" cap="none" strike="noStrike">
              <a:solidFill>
                <a:schemeClr val="dk1"/>
              </a:solidFill>
              <a:latin typeface="Calibri"/>
              <a:ea typeface="Calibri"/>
              <a:cs typeface="Calibri"/>
              <a:sym typeface="Calibri"/>
            </a:endParaRPr>
          </a:p>
        </p:txBody>
      </p:sp>
      <p:sp>
        <p:nvSpPr>
          <p:cNvPr id="418" name="Google Shape;418;p14"/>
          <p:cNvSpPr/>
          <p:nvPr/>
        </p:nvSpPr>
        <p:spPr>
          <a:xfrm>
            <a:off x="4800600" y="3602736"/>
            <a:ext cx="173736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000"/>
              <a:buFont typeface="Calibri"/>
              <a:buNone/>
            </a:pPr>
            <a:r>
              <a:rPr b="0" i="0" lang="en-US" sz="1000" u="none" cap="none" strike="noStrike">
                <a:solidFill>
                  <a:srgbClr val="64748B"/>
                </a:solidFill>
                <a:latin typeface="Calibri"/>
                <a:ea typeface="Calibri"/>
                <a:cs typeface="Calibri"/>
                <a:sym typeface="Calibri"/>
              </a:rPr>
              <a:t>• Smartwatch companion app</a:t>
            </a:r>
            <a:endParaRPr b="0" i="0" sz="1000" u="none" cap="none" strike="noStrike">
              <a:solidFill>
                <a:schemeClr val="dk1"/>
              </a:solidFill>
              <a:latin typeface="Calibri"/>
              <a:ea typeface="Calibri"/>
              <a:cs typeface="Calibri"/>
              <a:sym typeface="Calibri"/>
            </a:endParaRPr>
          </a:p>
        </p:txBody>
      </p:sp>
      <p:sp>
        <p:nvSpPr>
          <p:cNvPr id="419" name="Google Shape;419;p14"/>
          <p:cNvSpPr/>
          <p:nvPr/>
        </p:nvSpPr>
        <p:spPr>
          <a:xfrm>
            <a:off x="4800600" y="3986784"/>
            <a:ext cx="173736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000"/>
              <a:buFont typeface="Calibri"/>
              <a:buNone/>
            </a:pPr>
            <a:r>
              <a:rPr b="0" i="0" lang="en-US" sz="1000" u="none" cap="none" strike="noStrike">
                <a:solidFill>
                  <a:srgbClr val="64748B"/>
                </a:solidFill>
                <a:latin typeface="Calibri"/>
                <a:ea typeface="Calibri"/>
                <a:cs typeface="Calibri"/>
                <a:sym typeface="Calibri"/>
              </a:rPr>
              <a:t>• Bluetooth earpiece audio output</a:t>
            </a:r>
            <a:endParaRPr b="0" i="0" sz="1000" u="none" cap="none" strike="noStrike">
              <a:solidFill>
                <a:schemeClr val="dk1"/>
              </a:solidFill>
              <a:latin typeface="Calibri"/>
              <a:ea typeface="Calibri"/>
              <a:cs typeface="Calibri"/>
              <a:sym typeface="Calibri"/>
            </a:endParaRPr>
          </a:p>
        </p:txBody>
      </p:sp>
      <p:sp>
        <p:nvSpPr>
          <p:cNvPr id="420" name="Google Shape;420;p14"/>
          <p:cNvSpPr/>
          <p:nvPr/>
        </p:nvSpPr>
        <p:spPr>
          <a:xfrm>
            <a:off x="6812280" y="1508760"/>
            <a:ext cx="2011680" cy="3200400"/>
          </a:xfrm>
          <a:prstGeom prst="rect">
            <a:avLst/>
          </a:prstGeom>
          <a:solidFill>
            <a:srgbClr val="F4F6FA"/>
          </a:solidFill>
          <a:ln>
            <a:noFill/>
          </a:ln>
          <a:effectLst>
            <a:outerShdw blurRad="508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14"/>
          <p:cNvSpPr/>
          <p:nvPr/>
        </p:nvSpPr>
        <p:spPr>
          <a:xfrm>
            <a:off x="7498080" y="1645920"/>
            <a:ext cx="502920" cy="502920"/>
          </a:xfrm>
          <a:prstGeom prst="ellipse">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22" name="Google Shape;422;p14"/>
          <p:cNvPicPr preferRelativeResize="0"/>
          <p:nvPr/>
        </p:nvPicPr>
        <p:blipFill rotWithShape="1">
          <a:blip r:embed="rId6">
            <a:alphaModFix/>
          </a:blip>
          <a:srcRect b="0" l="0" r="0" t="0"/>
          <a:stretch/>
        </p:blipFill>
        <p:spPr>
          <a:xfrm>
            <a:off x="7616952" y="1764792"/>
            <a:ext cx="274320" cy="274320"/>
          </a:xfrm>
          <a:prstGeom prst="rect">
            <a:avLst/>
          </a:prstGeom>
          <a:noFill/>
          <a:ln>
            <a:noFill/>
          </a:ln>
        </p:spPr>
      </p:pic>
      <p:sp>
        <p:nvSpPr>
          <p:cNvPr id="423" name="Google Shape;423;p14"/>
          <p:cNvSpPr/>
          <p:nvPr/>
        </p:nvSpPr>
        <p:spPr>
          <a:xfrm>
            <a:off x="6903720" y="2240280"/>
            <a:ext cx="182880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93B"/>
              </a:buClr>
              <a:buSzPts val="1300"/>
              <a:buFont typeface="Calibri"/>
              <a:buNone/>
            </a:pPr>
            <a:r>
              <a:rPr b="1" i="0" lang="en-US" sz="1300" u="none" cap="none" strike="noStrike">
                <a:solidFill>
                  <a:srgbClr val="1E293B"/>
                </a:solidFill>
                <a:latin typeface="Calibri"/>
                <a:ea typeface="Calibri"/>
                <a:cs typeface="Calibri"/>
                <a:sym typeface="Calibri"/>
              </a:rPr>
              <a:t>Advanced</a:t>
            </a:r>
            <a:endParaRPr b="0" i="0" sz="13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1E293B"/>
              </a:buClr>
              <a:buSzPts val="1300"/>
              <a:buFont typeface="Calibri"/>
              <a:buNone/>
            </a:pPr>
            <a:r>
              <a:rPr b="1" i="0" lang="en-US" sz="1300" u="none" cap="none" strike="noStrike">
                <a:solidFill>
                  <a:srgbClr val="1E293B"/>
                </a:solidFill>
                <a:latin typeface="Calibri"/>
                <a:ea typeface="Calibri"/>
                <a:cs typeface="Calibri"/>
                <a:sym typeface="Calibri"/>
              </a:rPr>
              <a:t>AI Features</a:t>
            </a:r>
            <a:endParaRPr b="0" i="0" sz="1300" u="none" cap="none" strike="noStrike">
              <a:solidFill>
                <a:schemeClr val="dk1"/>
              </a:solidFill>
              <a:latin typeface="Calibri"/>
              <a:ea typeface="Calibri"/>
              <a:cs typeface="Calibri"/>
              <a:sym typeface="Calibri"/>
            </a:endParaRPr>
          </a:p>
        </p:txBody>
      </p:sp>
      <p:sp>
        <p:nvSpPr>
          <p:cNvPr id="424" name="Google Shape;424;p14"/>
          <p:cNvSpPr/>
          <p:nvPr/>
        </p:nvSpPr>
        <p:spPr>
          <a:xfrm>
            <a:off x="6949440" y="2834640"/>
            <a:ext cx="173736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000"/>
              <a:buFont typeface="Calibri"/>
              <a:buNone/>
            </a:pPr>
            <a:r>
              <a:rPr b="0" i="0" lang="en-US" sz="1000" u="none" cap="none" strike="noStrike">
                <a:solidFill>
                  <a:srgbClr val="64748B"/>
                </a:solidFill>
                <a:latin typeface="Calibri"/>
                <a:ea typeface="Calibri"/>
                <a:cs typeface="Calibri"/>
                <a:sym typeface="Calibri"/>
              </a:rPr>
              <a:t>• OCR for reading text and signs</a:t>
            </a:r>
            <a:endParaRPr b="0" i="0" sz="1000" u="none" cap="none" strike="noStrike">
              <a:solidFill>
                <a:schemeClr val="dk1"/>
              </a:solidFill>
              <a:latin typeface="Calibri"/>
              <a:ea typeface="Calibri"/>
              <a:cs typeface="Calibri"/>
              <a:sym typeface="Calibri"/>
            </a:endParaRPr>
          </a:p>
        </p:txBody>
      </p:sp>
      <p:sp>
        <p:nvSpPr>
          <p:cNvPr id="425" name="Google Shape;425;p14"/>
          <p:cNvSpPr/>
          <p:nvPr/>
        </p:nvSpPr>
        <p:spPr>
          <a:xfrm>
            <a:off x="6949440" y="3218688"/>
            <a:ext cx="173736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000"/>
              <a:buFont typeface="Calibri"/>
              <a:buNone/>
            </a:pPr>
            <a:r>
              <a:rPr b="0" i="0" lang="en-US" sz="1000" u="none" cap="none" strike="noStrike">
                <a:solidFill>
                  <a:srgbClr val="64748B"/>
                </a:solidFill>
                <a:latin typeface="Calibri"/>
                <a:ea typeface="Calibri"/>
                <a:cs typeface="Calibri"/>
                <a:sym typeface="Calibri"/>
              </a:rPr>
              <a:t>• Face recognition for known people</a:t>
            </a:r>
            <a:endParaRPr b="0" i="0" sz="1000" u="none" cap="none" strike="noStrike">
              <a:solidFill>
                <a:schemeClr val="dk1"/>
              </a:solidFill>
              <a:latin typeface="Calibri"/>
              <a:ea typeface="Calibri"/>
              <a:cs typeface="Calibri"/>
              <a:sym typeface="Calibri"/>
            </a:endParaRPr>
          </a:p>
        </p:txBody>
      </p:sp>
      <p:sp>
        <p:nvSpPr>
          <p:cNvPr id="426" name="Google Shape;426;p14"/>
          <p:cNvSpPr/>
          <p:nvPr/>
        </p:nvSpPr>
        <p:spPr>
          <a:xfrm>
            <a:off x="6949440" y="3602736"/>
            <a:ext cx="173736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000"/>
              <a:buFont typeface="Calibri"/>
              <a:buNone/>
            </a:pPr>
            <a:r>
              <a:rPr b="0" i="0" lang="en-US" sz="1000" u="none" cap="none" strike="noStrike">
                <a:solidFill>
                  <a:srgbClr val="64748B"/>
                </a:solidFill>
                <a:latin typeface="Calibri"/>
                <a:ea typeface="Calibri"/>
                <a:cs typeface="Calibri"/>
                <a:sym typeface="Calibri"/>
              </a:rPr>
              <a:t>• Navigation and wayfinding</a:t>
            </a:r>
            <a:endParaRPr b="0" i="0" sz="1000" u="none" cap="none" strike="noStrike">
              <a:solidFill>
                <a:schemeClr val="dk1"/>
              </a:solidFill>
              <a:latin typeface="Calibri"/>
              <a:ea typeface="Calibri"/>
              <a:cs typeface="Calibri"/>
              <a:sym typeface="Calibri"/>
            </a:endParaRPr>
          </a:p>
        </p:txBody>
      </p:sp>
      <p:sp>
        <p:nvSpPr>
          <p:cNvPr id="427" name="Google Shape;427;p14"/>
          <p:cNvSpPr/>
          <p:nvPr/>
        </p:nvSpPr>
        <p:spPr>
          <a:xfrm>
            <a:off x="6949440" y="3986784"/>
            <a:ext cx="173736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000"/>
              <a:buFont typeface="Calibri"/>
              <a:buNone/>
            </a:pPr>
            <a:r>
              <a:rPr b="0" i="0" lang="en-US" sz="1000" u="none" cap="none" strike="noStrike">
                <a:solidFill>
                  <a:srgbClr val="64748B"/>
                </a:solidFill>
                <a:latin typeface="Calibri"/>
                <a:ea typeface="Calibri"/>
                <a:cs typeface="Calibri"/>
                <a:sym typeface="Calibri"/>
              </a:rPr>
              <a:t>• Multi-language scene descriptions</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2A4A"/>
        </a:solidFill>
      </p:bgPr>
    </p:bg>
    <p:spTree>
      <p:nvGrpSpPr>
        <p:cNvPr id="432" name="Shape 432"/>
        <p:cNvGrpSpPr/>
        <p:nvPr/>
      </p:nvGrpSpPr>
      <p:grpSpPr>
        <a:xfrm>
          <a:off x="0" y="0"/>
          <a:ext cx="0" cy="0"/>
          <a:chOff x="0" y="0"/>
          <a:chExt cx="0" cy="0"/>
        </a:xfrm>
      </p:grpSpPr>
      <p:sp>
        <p:nvSpPr>
          <p:cNvPr id="433" name="Google Shape;433;p15"/>
          <p:cNvSpPr/>
          <p:nvPr/>
        </p:nvSpPr>
        <p:spPr>
          <a:xfrm>
            <a:off x="0" y="0"/>
            <a:ext cx="9144000" cy="73152"/>
          </a:xfrm>
          <a:prstGeom prst="rect">
            <a:avLst/>
          </a:prstGeom>
          <a:solidFill>
            <a:srgbClr val="3B82F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p15"/>
          <p:cNvSpPr/>
          <p:nvPr/>
        </p:nvSpPr>
        <p:spPr>
          <a:xfrm>
            <a:off x="0" y="5070348"/>
            <a:ext cx="9144000" cy="73152"/>
          </a:xfrm>
          <a:prstGeom prst="rect">
            <a:avLst/>
          </a:prstGeom>
          <a:solidFill>
            <a:srgbClr val="3B82F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 name="Google Shape;435;p15"/>
          <p:cNvSpPr/>
          <p:nvPr/>
        </p:nvSpPr>
        <p:spPr>
          <a:xfrm>
            <a:off x="731520" y="1280160"/>
            <a:ext cx="7680960" cy="914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4800"/>
              <a:buFont typeface="Georgia"/>
              <a:buNone/>
            </a:pPr>
            <a:r>
              <a:rPr b="1" i="0" lang="en-US" sz="4800" u="none" cap="none" strike="noStrike">
                <a:solidFill>
                  <a:srgbClr val="FFFFFF"/>
                </a:solidFill>
                <a:latin typeface="Georgia"/>
                <a:ea typeface="Georgia"/>
                <a:cs typeface="Georgia"/>
                <a:sym typeface="Georgia"/>
              </a:rPr>
              <a:t>Thank You</a:t>
            </a:r>
            <a:endParaRPr b="0" i="0" sz="4800" u="none" cap="none" strike="noStrike">
              <a:solidFill>
                <a:schemeClr val="dk1"/>
              </a:solidFill>
              <a:latin typeface="Calibri"/>
              <a:ea typeface="Calibri"/>
              <a:cs typeface="Calibri"/>
              <a:sym typeface="Calibri"/>
            </a:endParaRPr>
          </a:p>
        </p:txBody>
      </p:sp>
      <p:sp>
        <p:nvSpPr>
          <p:cNvPr id="436" name="Google Shape;436;p15"/>
          <p:cNvSpPr/>
          <p:nvPr/>
        </p:nvSpPr>
        <p:spPr>
          <a:xfrm>
            <a:off x="731520" y="2194560"/>
            <a:ext cx="768096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B82F6"/>
              </a:buClr>
              <a:buSzPts val="2200"/>
              <a:buFont typeface="Calibri"/>
              <a:buNone/>
            </a:pPr>
            <a:r>
              <a:rPr b="0" i="0" lang="en-US" sz="2200" u="none" cap="none" strike="noStrike">
                <a:solidFill>
                  <a:srgbClr val="3B82F6"/>
                </a:solidFill>
                <a:latin typeface="Calibri"/>
                <a:ea typeface="Calibri"/>
                <a:cs typeface="Calibri"/>
                <a:sym typeface="Calibri"/>
              </a:rPr>
              <a:t>Questions &amp; Live Demo</a:t>
            </a:r>
            <a:endParaRPr b="0" i="0" sz="2200" u="none" cap="none" strike="noStrike">
              <a:solidFill>
                <a:schemeClr val="dk1"/>
              </a:solidFill>
              <a:latin typeface="Calibri"/>
              <a:ea typeface="Calibri"/>
              <a:cs typeface="Calibri"/>
              <a:sym typeface="Calibri"/>
            </a:endParaRPr>
          </a:p>
        </p:txBody>
      </p:sp>
      <p:sp>
        <p:nvSpPr>
          <p:cNvPr id="437" name="Google Shape;437;p15"/>
          <p:cNvSpPr/>
          <p:nvPr/>
        </p:nvSpPr>
        <p:spPr>
          <a:xfrm>
            <a:off x="3886200" y="2834640"/>
            <a:ext cx="1371600" cy="36576"/>
          </a:xfrm>
          <a:prstGeom prst="rect">
            <a:avLst/>
          </a:prstGeom>
          <a:solidFill>
            <a:srgbClr val="3B82F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 name="Google Shape;438;p15"/>
          <p:cNvSpPr/>
          <p:nvPr/>
        </p:nvSpPr>
        <p:spPr>
          <a:xfrm>
            <a:off x="731520" y="3108960"/>
            <a:ext cx="768096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Prachi </a:t>
            </a:r>
            <a:r>
              <a:rPr b="0" i="0" lang="en-US" sz="1600" u="none" cap="none" strike="noStrike">
                <a:solidFill>
                  <a:srgbClr val="64748B"/>
                </a:solidFill>
                <a:latin typeface="Calibri"/>
                <a:ea typeface="Calibri"/>
                <a:cs typeface="Calibri"/>
                <a:sym typeface="Calibri"/>
              </a:rPr>
              <a:t>&amp; </a:t>
            </a:r>
            <a:r>
              <a:rPr b="1" i="0" lang="en-US" sz="1600" u="none" cap="none" strike="noStrike">
                <a:solidFill>
                  <a:srgbClr val="FFFFFF"/>
                </a:solidFill>
                <a:latin typeface="Calibri"/>
                <a:ea typeface="Calibri"/>
                <a:cs typeface="Calibri"/>
                <a:sym typeface="Calibri"/>
              </a:rPr>
              <a:t>Shingirai</a:t>
            </a:r>
            <a:endParaRPr b="0" i="0" sz="1600" u="none" cap="none" strike="noStrike">
              <a:solidFill>
                <a:schemeClr val="dk1"/>
              </a:solidFill>
              <a:latin typeface="Calibri"/>
              <a:ea typeface="Calibri"/>
              <a:cs typeface="Calibri"/>
              <a:sym typeface="Calibri"/>
            </a:endParaRPr>
          </a:p>
        </p:txBody>
      </p:sp>
      <p:sp>
        <p:nvSpPr>
          <p:cNvPr id="439" name="Google Shape;439;p15"/>
          <p:cNvSpPr/>
          <p:nvPr/>
        </p:nvSpPr>
        <p:spPr>
          <a:xfrm>
            <a:off x="731520" y="3749040"/>
            <a:ext cx="768096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1400"/>
              <a:buFont typeface="Calibri"/>
              <a:buNone/>
            </a:pPr>
            <a:r>
              <a:rPr b="0" i="0" lang="en-US" sz="1400" u="none" cap="none" strike="noStrike">
                <a:solidFill>
                  <a:srgbClr val="64748B"/>
                </a:solidFill>
                <a:latin typeface="Calibri"/>
                <a:ea typeface="Calibri"/>
                <a:cs typeface="Calibri"/>
                <a:sym typeface="Calibri"/>
              </a:rPr>
              <a:t>github.com/ShingiraiBhengesa/SceneIQ</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